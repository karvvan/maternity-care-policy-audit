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25400" dist="25400" dir="2700000" algn="tl" rotWithShape="0">
              <a:prstClr val="black">
                <a:alpha val="68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6475" y="579043"/>
            <a:ext cx="103784" cy="10378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5511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lang="ko-KR" altLang="en-US" sz="1350" b="1" dirty="0">
                <a:solidFill>
                  <a:srgbClr val="33393F"/>
                </a:solidFill>
                <a:latin typeface="맑은 고딕"/>
                <a:ea typeface="맑은 고딕"/>
              </a:rPr>
              <a:t>프로젝트 일정</a:t>
            </a:r>
            <a:endParaRPr lang="en-US" altLang="ko-KR"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기간별 일정표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/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다룸. 실제 발견과 결과는 결과보고서에서 보고함.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부족(㉠)과 배분(㉡)은 다른 문제이며 해법도 다름 — 본 계획은 ㉡을 맡음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매년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늘 같은 처방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적 공급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9332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있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음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예산·인력에 제한된 영역이라 데이터가 해답을 주기 어려움. ㉡은 배분 규칙의 문제이므로 데이터로 답할 수 있음 — 그리고 ㉡은 아직 제대로 된 검증이 이뤄지지 않았음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783080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정의됨 — 이 점이 이 프로젝트의 첫 번째 표적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349240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"주어진 자원이 체계적으로, 필요한 곳으로 배분되고 있는가" — 이를 데이터로 검증하고 개선하는 것이 본 계획의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Ⅰ-1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그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값을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(30/30)과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대조해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분만취약지를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부여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834640"/>
            <a:ext cx="5532120" cy="196596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2962656"/>
            <a:ext cx="5166359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판정 기준이 이동시간 파생 지표뿐임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관내 분만 인프라가 소멸해도 "옆 도시로 60분 내 이동 가능"이면 취약지가 아니게 되는 구조 아닌가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기준이 구조적으로 놓치는 지역이 있는지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834640"/>
            <a:ext cx="5532120" cy="196596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2962656"/>
            <a:ext cx="5166359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시·도 선별 기준은 "예산 규모, 의료 취약성 등 고려"가 전부임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지원 심사 배점 100점 중 취약도 항목 0점 — 누구를 먼저 지원할지의 합리적 규칙이 있는가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중요해짐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현행 배분이 무엇으로 설명되는지 진단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65192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93207"/>
            <a:ext cx="10927080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분만 인프라 공백은 언론·국회에서 반복 지적되어 왔으나, 전국 단위 공개 데이터로 정량 검증된 바 없음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분석 대상은 취약지라는 현상이 아니라 취약지를 판정하고 지원하는 제도 그 자체 (제도 감사 프레임)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기준·임계값은 정부 문서·데이터에서 차용해 실현 가능성을 확보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Ⅰ-2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의료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분만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ex.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lang="ko-KR" altLang="en-US" sz="1200" dirty="0">
                <a:solidFill>
                  <a:srgbClr val="1C1C1E"/>
                </a:solidFill>
                <a:latin typeface="맑은 고딕"/>
                <a:ea typeface="맑은 고딕"/>
              </a:rPr>
              <a:t>로만 보면 취약지가 아니지만</a:t>
            </a:r>
            <a:r>
              <a:rPr lang="en-US" altLang="ko-KR" sz="1200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취약지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A,B,C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Q4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처방과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대조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조합해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만들면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잘 부합하는가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 </a:t>
            </a:r>
            <a:r>
              <a:rPr lang="ko-KR" altLang="en-US" sz="1200" b="0" dirty="0">
                <a:solidFill>
                  <a:srgbClr val="1C1C1E"/>
                </a:solidFill>
                <a:latin typeface="맑은 고딕"/>
                <a:ea typeface="맑은 고딕"/>
              </a:rPr>
              <a:t>꼭 필요한 곳으로 자원이 </a:t>
            </a:r>
            <a:r>
              <a:rPr lang="ko-KR" altLang="en-US"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가고있는가</a:t>
            </a:r>
            <a:r>
              <a:rPr lang="en-US" altLang="ko-KR"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2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541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 dirty="0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봄. 앞에서 "규칙이 무엇을 보는가"를 확정해야 뒤에서 "그 규칙대로 나눠지는가"를 물을 수 있음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 dirty="0" err="1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 착수 전에 확정 — 결과를 보고 기준을 맞추지 않기 위함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Ⅰ-3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Ⅰ. 문제 정의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6459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164592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1389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단위에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대한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원칙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250곳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예측이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이미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내려진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판정·배분의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규명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이므로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일반화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논리와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구분해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결론을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개인에게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적용하지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생태학적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경계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310128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5181056"/>
              </p:ext>
            </p:extLst>
          </p:nvPr>
        </p:nvGraphicFramePr>
        <p:xfrm>
          <a:off x="502920" y="3721608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임계값만으로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구성한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재지정·우선순위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결정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시뮬레이션과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표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설계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군집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민감도까지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투명하게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등급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절차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의료이용률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중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이동시간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60분 내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비율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건보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청구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실측값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A·B·C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공고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A: 두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판정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(32곳) / B: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하나만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C: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배경인구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또는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기수령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C는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서열이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자격표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성격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지원받으면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C가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반영해야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2629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4단계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절차</a:t>
            </a:r>
            <a:endParaRPr lang="en-US" altLang="ko-KR"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복지부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=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20 +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80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반영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lang="en-US" altLang="ko-KR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신청하지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없음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올해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차례인가"를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부재가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쟁점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이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사실은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고시·공고·지침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에서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확인했으며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분석의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판단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기준으로만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사용함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Ⅱ-2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Ⅱ. 배경 이해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전량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승인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불요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108곳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등급표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기지원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표시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임계값·선정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절차·배점표·사업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지침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직접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구축할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파생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4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400" b="1" dirty="0">
                <a:solidFill>
                  <a:srgbClr val="33393F"/>
                </a:solidFill>
                <a:latin typeface="맑은 고딕"/>
                <a:ea typeface="맑은 고딕"/>
              </a:rPr>
              <a:t>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627632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D1 ·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취약지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등급-지원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데이터셋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PDF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코드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(assert)로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자동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차단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627632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D2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수행량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유출입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자료를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소재지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합산해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받은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분만"을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추정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627632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D3 ·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미충족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분만건수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× (1−TRI/100):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기준시간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밖에서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이뤄진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축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035040"/>
            <a:ext cx="11247120" cy="2837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전량 공개자료로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승인은 불요</a:t>
            </a:r>
            <a:r>
              <a:rPr lang="en-US" altLang="ko-KR" sz="1200" b="1" dirty="0">
                <a:solidFill>
                  <a:srgbClr val="1C1C1E"/>
                </a:solidFill>
                <a:latin typeface="맑은 고딕"/>
                <a:ea typeface="맑은 고딕"/>
              </a:rPr>
              <a:t>,</a:t>
            </a:r>
            <a:r>
              <a:rPr lang="ko-KR" altLang="en-US"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로그인이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필요하거나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불가능한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자료는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사용하지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누구나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같은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결과를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재현할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200" b="1" dirty="0" err="1">
                <a:solidFill>
                  <a:srgbClr val="1C1C1E"/>
                </a:solidFill>
                <a:latin typeface="맑은 고딕"/>
                <a:ea typeface="맑은 고딕"/>
              </a:rPr>
              <a:t>있어야</a:t>
            </a:r>
            <a:r>
              <a:rPr sz="1200" b="1" dirty="0">
                <a:solidFill>
                  <a:srgbClr val="1C1C1E"/>
                </a:solidFill>
                <a:latin typeface="맑은 고딕"/>
                <a:ea typeface="맑은 고딕"/>
              </a:rPr>
              <a:t> 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적절한 데이터 가공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8593107"/>
              </p:ext>
            </p:extLst>
          </p:nvPr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처리 후</a:t>
                      </a:r>
                      <a:endParaRPr sz="115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자료의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출발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도착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)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정의가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문서에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없음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주민이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낳은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수)와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공급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병원이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받은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수)의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혼동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군위군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대구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편입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시점을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정해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정규화하고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변동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이력을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기록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감사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후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배제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목록과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사유를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보고서에</a:t>
                      </a:r>
                      <a:r>
                        <a:rPr sz="1100" b="0" dirty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남김</a:t>
                      </a:r>
                      <a:endParaRPr sz="1100" b="0" dirty="0">
                        <a:solidFill>
                          <a:srgbClr val="1C1C1E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함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Ⅲ-2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Ⅲ. 데이터 계획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공표된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규칙을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그대로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재계산해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실제와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대조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192024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1단계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판정식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접근성·TRI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30/30 등)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재판정하고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일치율과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사례를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불일치는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오류가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행정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층의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증거로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해석할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192024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회귀(5겹 교차검증)로 판정을 예측하고, 공급 변수(전문의 수 등) 추가 시 판별력(AUC)이 개선되는지 확인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192024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3단계 ·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∧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0"의 3중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정의하고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해당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탐지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중증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이송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동급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분리로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원정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반론은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없음 사례로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977639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0927080" cy="5552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판단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기준의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명시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성공"으로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사각지대"로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볼지의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확정해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명시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 지원받으면 C가 되는 순환 구조 — 종속변수가 집단 정의에 새어 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집단의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차이를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Mann-Whitney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U로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다중비교는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BH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보정으로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통제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원칙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: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유의하지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않음"을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"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효과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없음"으로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쓰지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표본이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작아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식별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불가일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수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있음을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명시하고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개별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p값보다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방향의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안정성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부트스트랩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)과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모형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설명력을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함께</a:t>
            </a:r>
            <a:r>
              <a:rPr sz="11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767A7F"/>
                </a:solidFill>
                <a:latin typeface="맑은 고딕"/>
                <a:ea typeface="맑은 고딕"/>
              </a:rPr>
              <a:t>제시함</a:t>
            </a:r>
            <a:endParaRPr sz="11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않음 — 정부 문서의 임계값만 조합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우선순위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두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관점을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병렬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제시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깊은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객관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엔트로피·CRITIC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+ TOPSIS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종합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축: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영향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인원이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큰 곳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먼저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미충족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두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평균해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합성하지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선택을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가리는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병렬로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드러내는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목적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1463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2070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유형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배정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규칙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기반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머신러닝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아님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수행·인구·수요·접근성의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임계값만으로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4유형을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배정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학습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과적합·라벨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논쟁에서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자유롭고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문서의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숫자로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3474720"/>
            <a:ext cx="11292840" cy="141732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602736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모형을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스스로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공격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외부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공고의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순회진료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목록과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교차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일치·불일치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민감도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차용한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변화시켜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결과가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얼마나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흔들리는지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강건성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가중법을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바꿔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엔트로피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/CRITIC/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순위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유지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여부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실패한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(예: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군집분석이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부적합하면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은폐하지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않고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보고서에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Ⅳ-3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Ⅳ. 분석 설계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91640" y="402336"/>
            <a:ext cx="90068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기간별 일정표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5709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 dirty="0">
                <a:solidFill>
                  <a:srgbClr val="D8DADD"/>
                </a:solidFill>
                <a:latin typeface="맑은 고딕"/>
                <a:ea typeface="맑은 고딕"/>
              </a:rPr>
              <a:t>1</a:t>
            </a:r>
            <a:r>
              <a:rPr lang="en-US" sz="3000" b="1" dirty="0">
                <a:solidFill>
                  <a:srgbClr val="D8DADD"/>
                </a:solidFill>
                <a:latin typeface="맑은 고딕"/>
                <a:ea typeface="맑은 고딕"/>
              </a:rPr>
              <a:t>3</a:t>
            </a:r>
            <a:endParaRPr sz="3000" b="1" dirty="0">
              <a:solidFill>
                <a:srgbClr val="D8DADD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182880"/>
            <a:ext cx="1051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5A5E64"/>
                </a:solidFill>
                <a:latin typeface="맑은 고딕"/>
                <a:ea typeface="맑은 고딕"/>
              </a:rPr>
              <a:t>Ⅴ-1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182880"/>
            <a:ext cx="90068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1">
                <a:solidFill>
                  <a:srgbClr val="767A7F"/>
                </a:solidFill>
                <a:latin typeface="맑은 고딕"/>
                <a:ea typeface="맑은 고딕"/>
              </a:rPr>
              <a:t>Ⅴ. 프로젝트 일정</a:t>
            </a:r>
          </a:p>
        </p:txBody>
      </p:sp>
      <p:pic>
        <p:nvPicPr>
          <p:cNvPr id="15" name="Picture 14" descr="village.jpg"/>
          <p:cNvPicPr>
            <a:picLocks noChangeAspect="1"/>
          </p:cNvPicPr>
          <p:nvPr/>
        </p:nvPicPr>
        <p:blipFill>
          <a:blip r:embed="rId2"/>
          <a:srcRect t="27202" b="27202"/>
          <a:stretch>
            <a:fillRect/>
          </a:stretch>
        </p:blipFill>
        <p:spPr>
          <a:xfrm>
            <a:off x="502920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6" name="TextBox 15"/>
          <p:cNvSpPr txBox="1"/>
          <p:nvPr/>
        </p:nvSpPr>
        <p:spPr>
          <a:xfrm>
            <a:off x="502920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분만실이 사라진 농어촌</a:t>
            </a:r>
          </a:p>
        </p:txBody>
      </p:sp>
      <p:pic>
        <p:nvPicPr>
          <p:cNvPr id="17" name="Picture 16" descr="pregnant.jpg"/>
          <p:cNvPicPr>
            <a:picLocks noChangeAspect="1"/>
          </p:cNvPicPr>
          <p:nvPr/>
        </p:nvPicPr>
        <p:blipFill>
          <a:blip r:embed="rId3"/>
          <a:srcRect t="38601" b="38601"/>
          <a:stretch>
            <a:fillRect/>
          </a:stretch>
        </p:blipFill>
        <p:spPr>
          <a:xfrm>
            <a:off x="4306824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18" name="TextBox 17"/>
          <p:cNvSpPr txBox="1"/>
          <p:nvPr/>
        </p:nvSpPr>
        <p:spPr>
          <a:xfrm>
            <a:off x="4306824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60분 밖의 산전 관리</a:t>
            </a:r>
          </a:p>
        </p:txBody>
      </p:sp>
      <p:pic>
        <p:nvPicPr>
          <p:cNvPr id="19" name="Picture 18" descr="newborn.jpg"/>
          <p:cNvPicPr>
            <a:picLocks noChangeAspect="1"/>
          </p:cNvPicPr>
          <p:nvPr/>
        </p:nvPicPr>
        <p:blipFill>
          <a:blip r:embed="rId4"/>
          <a:srcRect t="24312" b="24312"/>
          <a:stretch>
            <a:fillRect/>
          </a:stretch>
        </p:blipFill>
        <p:spPr>
          <a:xfrm>
            <a:off x="8110728" y="4846320"/>
            <a:ext cx="3529584" cy="1207008"/>
          </a:xfrm>
          <a:prstGeom prst="roundRect">
            <a:avLst/>
          </a:prstGeom>
          <a:effectLst>
            <a:outerShdw blurRad="164592" dist="54864" dir="5400000" rotWithShape="0">
              <a:srgbClr val="000000">
                <a:alpha val="28000"/>
              </a:srgbClr>
            </a:outerShdw>
          </a:effectLst>
        </p:spPr>
      </p:pic>
      <p:sp>
        <p:nvSpPr>
          <p:cNvPr id="20" name="TextBox 19"/>
          <p:cNvSpPr txBox="1"/>
          <p:nvPr/>
        </p:nvSpPr>
        <p:spPr>
          <a:xfrm>
            <a:off x="8110728" y="6099048"/>
            <a:ext cx="35295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950" b="0">
                <a:solidFill>
                  <a:srgbClr val="767A7F"/>
                </a:solidFill>
                <a:latin typeface="맑은 고딕"/>
                <a:ea typeface="맑은 고딕"/>
              </a:rPr>
              <a:t>지역에서 태어날 권리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2371</Words>
  <Application>Microsoft Office PowerPoint</Application>
  <PresentationFormat>와이드스크린</PresentationFormat>
  <Paragraphs>254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7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23</cp:revision>
  <dcterms:created xsi:type="dcterms:W3CDTF">2013-01-27T09:14:16Z</dcterms:created>
  <dcterms:modified xsi:type="dcterms:W3CDTF">2026-08-12T15:23:25Z</dcterms:modified>
  <cp:category/>
</cp:coreProperties>
</file>