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25400" dist="25400" dir="2700000" algn="tl" rotWithShape="0">
              <a:prstClr val="black">
                <a:alpha val="68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188720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005840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005840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81143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188720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005840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54680"/>
            <a:ext cx="516636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lang="ko-KR" altLang="en-US" sz="1350" b="1" dirty="0">
                <a:solidFill>
                  <a:srgbClr val="33393F"/>
                </a:solidFill>
                <a:latin typeface="맑은 고딕"/>
                <a:ea typeface="맑은 고딕"/>
              </a:rPr>
              <a:t>프로젝트 일정</a:t>
            </a:r>
            <a:endParaRPr lang="en-US" altLang="ko-KR"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기간별 일정표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다룸. 실제 발견과 결과는 결과보고서에서 보고함.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48740" y="380129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453896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매년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적 공급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453896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음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453896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0876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"주어진 자원이 체계적으로, 필요한 곳으로 배분되고 있는가" — 이를 데이터로 검증하고 개선하는 것이 본 계획의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맑은 고딕"/>
                <a:ea typeface="맑은 고딕"/>
              </a:rPr>
              <a:t>Ⅰ-1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1499616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1499616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34640"/>
            <a:ext cx="5532120" cy="190195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962656"/>
            <a:ext cx="51663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834640"/>
            <a:ext cx="5532120" cy="190195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962656"/>
            <a:ext cx="51663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전부임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 0점 — 누구를 먼저 지원할지의 합리적 규칙이 있는가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65192"/>
            <a:ext cx="1129284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93207"/>
            <a:ext cx="10927080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기준·임계값은 정부 문서·데이터에서 차용해 실현 가능성을 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Ⅰ-2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9961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49961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46557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46557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봄. 앞에서 "규칙이 무엇을 보는가"를 확정해야 뒤에서 "그 규칙대로 나눠지는가"를 물을 수 있음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맑은 고딕"/>
                <a:ea typeface="맑은 고딕"/>
              </a:rPr>
              <a:t>Ⅰ-3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572768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1572768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원칙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1012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81056"/>
              </p:ext>
            </p:extLst>
          </p:nvPr>
        </p:nvGraphicFramePr>
        <p:xfrm>
          <a:off x="502920" y="3721608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임계값만으로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구성한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재지정·우선순위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결정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시뮬레이션과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표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군집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민감도까지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투명하게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절차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의료이용률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중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이동시간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60분 내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비율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건보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청구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실측값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6"/>
            <a:ext cx="5166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A·B·C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공고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제2026-144호, 108곳)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4단계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절차</a:t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복지부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=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20 +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80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반영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lang="en-US" altLang="ko-KR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올해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차례인가"를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부재가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쟁점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이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사실은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고시·공고·지침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에서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확인했으며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판단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기준으로만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사용함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133087"/>
          <a:ext cx="5166360" cy="1207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3520440"/>
                <a:gridCol w="960120"/>
              </a:tblGrid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판정 지표 모두 취약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취약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5358384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C는 취약도 서열이 아니라 자격표 — "지원받으면 C가 된다"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승인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불요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108곳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등급표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표시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임계값·선정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절차·배점표·사업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지침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직접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구축할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파생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D1 ·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취약지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등급-지원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데이터셋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PDF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코드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(assert)로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차단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D2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수행량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유출입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자료를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소재지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합산해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받은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분만"을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추정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D3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미충족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분만건수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× (1−TRI/100):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기준시간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밖에서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이뤄진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축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247120" cy="2837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전량 공개자료로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승인은 불요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로그인이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필요하거나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불가능한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자료는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사용하지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누구나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같은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재현할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있어야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적절한 데이터 가공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593107"/>
              </p:ext>
            </p:extLst>
          </p:nvPr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자료의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출발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도착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정의가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문서에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주민이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낳은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공급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병원이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받은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수)의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혼동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군위군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대구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편입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시점을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정규화하고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기록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감사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목록과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사유를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남김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207008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함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공표된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규칙을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그대로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재계산해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실제와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대조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1단계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판정식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접근성·TRI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30/30 등)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재판정하고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일치율과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사례를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행정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층의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증거로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해석할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3단계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0"의 3중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해당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탐지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중증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이송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동급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분리로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없음 사례로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11292840" cy="82296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5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판단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기준의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명시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성공"으로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사각지대"로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볼지의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확정해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명시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014984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59436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82696"/>
            <a:ext cx="1920239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82696"/>
            <a:ext cx="850392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59436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51376"/>
            <a:ext cx="1920239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151376"/>
            <a:ext cx="850392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집단의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차이를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Mann-Whitney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U로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다중비교는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BH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보정으로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7315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5020055"/>
            <a:ext cx="192023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5020055"/>
            <a:ext cx="8503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원칙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: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유의하지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않음"을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효과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없음"으로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쓰지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작아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식별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불가일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수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있음을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명시하고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개별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p값보다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방향의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안정성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부트스트랩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)과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모형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설명력을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함께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제시함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15453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우선순위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두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병렬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깊은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객관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엔트로피·CRITIC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+ TOPSIS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종합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큰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미충족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평균해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합성하지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가리는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병렬로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드러내는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15453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유형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규칙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머신러닝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아님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수행·인구·수요·접근성의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임계값만으로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4유형을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배정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학습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과적합·라벨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논쟁에서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자유롭고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문서의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숫자로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474720"/>
            <a:ext cx="11292840" cy="1399032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602736"/>
            <a:ext cx="10927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모형을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스스로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공격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순회진료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목록과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교차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일치·불일치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민감도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차용한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변화시켜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얼마나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흔들리는지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강건성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/CRITIC/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여부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실패한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(예: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군집분석이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부적합하면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은폐하지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기간별 일정표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17336"/>
            <a:ext cx="777240" cy="3749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 dirty="0">
                <a:solidFill>
                  <a:srgbClr val="D8DADD"/>
                </a:solidFill>
                <a:latin typeface="맑은 고딕"/>
                <a:ea typeface="맑은 고딕"/>
              </a:rPr>
              <a:t>1</a:t>
            </a:r>
            <a:r>
              <a:rPr lang="en-US" sz="3000" b="1" dirty="0">
                <a:solidFill>
                  <a:srgbClr val="D8DADD"/>
                </a:solidFill>
                <a:latin typeface="맑은 고딕"/>
                <a:ea typeface="맑은 고딕"/>
              </a:rPr>
              <a:t>3</a:t>
            </a:r>
            <a:endParaRPr sz="3000" b="1" dirty="0">
              <a:solidFill>
                <a:srgbClr val="D8DADD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356616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Ⅴ-1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5029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Ⅴ. 프로젝트 일정</a:t>
            </a:r>
          </a:p>
        </p:txBody>
      </p:sp>
      <p:pic>
        <p:nvPicPr>
          <p:cNvPr id="15" name="Picture 14" descr="village.jpg"/>
          <p:cNvPicPr>
            <a:picLocks noChangeAspect="1"/>
          </p:cNvPicPr>
          <p:nvPr/>
        </p:nvPicPr>
        <p:blipFill>
          <a:blip r:embed="rId2"/>
          <a:srcRect t="27202" b="27202"/>
          <a:stretch>
            <a:fillRect/>
          </a:stretch>
        </p:blipFill>
        <p:spPr>
          <a:xfrm>
            <a:off x="502920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분만실이 사라진 농어촌</a:t>
            </a:r>
          </a:p>
        </p:txBody>
      </p:sp>
      <p:pic>
        <p:nvPicPr>
          <p:cNvPr id="17" name="Picture 16" descr="pregnant.jpg"/>
          <p:cNvPicPr>
            <a:picLocks noChangeAspect="1"/>
          </p:cNvPicPr>
          <p:nvPr/>
        </p:nvPicPr>
        <p:blipFill>
          <a:blip r:embed="rId3"/>
          <a:srcRect t="38601" b="38601"/>
          <a:stretch>
            <a:fillRect/>
          </a:stretch>
        </p:blipFill>
        <p:spPr>
          <a:xfrm>
            <a:off x="4306824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4306824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60분 밖의 산전 관리</a:t>
            </a:r>
          </a:p>
        </p:txBody>
      </p:sp>
      <p:pic>
        <p:nvPicPr>
          <p:cNvPr id="19" name="Picture 18" descr="newborn.jpg"/>
          <p:cNvPicPr>
            <a:picLocks noChangeAspect="1"/>
          </p:cNvPicPr>
          <p:nvPr/>
        </p:nvPicPr>
        <p:blipFill>
          <a:blip r:embed="rId4"/>
          <a:srcRect t="24312" b="24312"/>
          <a:stretch>
            <a:fillRect/>
          </a:stretch>
        </p:blipFill>
        <p:spPr>
          <a:xfrm>
            <a:off x="8110728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20" name="TextBox 19"/>
          <p:cNvSpPr txBox="1"/>
          <p:nvPr/>
        </p:nvSpPr>
        <p:spPr>
          <a:xfrm>
            <a:off x="8110728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지역에서 태어날 권리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2406</Words>
  <Application>Microsoft Office PowerPoint</Application>
  <PresentationFormat>와이드스크린</PresentationFormat>
  <Paragraphs>267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24</cp:revision>
  <dcterms:created xsi:type="dcterms:W3CDTF">2013-01-27T09:14:16Z</dcterms:created>
  <dcterms:modified xsi:type="dcterms:W3CDTF">2026-08-12T15:36:32Z</dcterms:modified>
  <cp:category/>
</cp:coreProperties>
</file>