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8467344" cy="1764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맑은 고딕"/>
                <a:ea typeface="맑은 고딕"/>
              </a:rPr>
              <a:t>데이터 분석 계획서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맑은 고딕"/>
                <a:ea typeface="맑은 고딕"/>
              </a:rPr>
              <a:t>분만취약지 지원 제도의 모든 절차 속 데이터 감사와 개선된 분석 모형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4370832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>
                <a:solidFill>
                  <a:srgbClr val="1C1C1E"/>
                </a:solidFill>
                <a:latin typeface="맑은 고딕"/>
                <a:ea typeface="맑은 고딕"/>
              </a:rPr>
              <a:t>2026 제5회 명지대학교 창의적 SW프로그램 경진대회 · 빅데이터 분석 부문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5166360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Ⅰ. 문제 정의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왜 이 주제이고, 무엇을 물을 것인가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03   아이디어의 발단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04   문제 인식 — 세 단계 파이프라인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05   핵심 질문 (Q 4개)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145535"/>
            <a:ext cx="5166360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Ⅱ. 배경 이해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분석 전에 확정해야 할 이론과 제도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06   이론적 고찰 — 접근성의 두 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07   분석 대상 제도 — 지표·등급·배분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453127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571999"/>
            <a:ext cx="5166360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Ⅲ. 데이터 계획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무엇을 어떻게 모으고 검증할 것인가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08   데이터 수집 계획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09   전처리·품질 관리 계획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44752"/>
            <a:ext cx="5166360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Ⅳ. 분석 설계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Q별로 어떤 방법을 쓸 것인가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10   ① 지정 감사 (Q1·Q2)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11   ② 배분 진단 (Q3)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12   ③ 처방 모형 (Q4)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145535"/>
            <a:ext cx="5166360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Ⅴ. 산출물과 일정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무엇을 내놓고, 언제 할 것인가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13   기대 산출물과 활용 계획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14   추진 일정과 역할 분담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본 계획서는 "왜·어떻게 할 것인가"를 다룬다. 실제 발견과 결과는 결과보고서에서 보고한다.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아이디어의 발단 — 자원 부족은 실재한다. 그런데 원인이 그것뿐인가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부족(㉠)과 배분(㉡)은 다른 문제이고 해법도 다르다 — 이 계획은 ㉡을 맡는다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여전히 존재하는 분만취약지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"지방에 분만실이 없다" — 해마다 반복되는 기사. 처방도 늘 같다: 의사를 늘리고 병원을 지어라. 그리고 이 처방은 옳다 — 절대량이 모자란 것은 사실이다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그런데 원인이 그것뿐인가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자원이 모자란 것(㉠)과, 있는 자원이 체계적으로 배분되지 않는 것(㉡)은 다른 문제다. 그리고 둘은 동시에 성립할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③ 해결할 수 있는 문제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㉠은 예산·인력의 영역이라 데이터가 답할 수 없다. ㉡은 배분 규칙의 문제이므로 데이터로 답할 수 있다 — 그리고 ㉡은 아직 검증된 적이 없다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그리고 자원을 공백 지역으로 보내는 제도는 이미 있다 — 「분만취약지 지원사업」(15년째)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분만취약지 = 소득·인구가 적은 지역이 아니라, 그 지역 가임기 여성이 ① 분만 가능 기관까지 60분 안에 닿기 어렵고(접근성) ② 실제 출산도 60분 안에 하지 못하는(이용률) 시·군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즉 이 제도에서 "취약"은 처음부터 끝까지 거리와 시간으로 정의된다 — 이 점이 이 프로젝트의 첫 번째 표적이 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정부는 2년마다 전국을 재어 A·B·C 등급을 매기고, 지정 지역 병원에 분만실 설치비 약 10억 원 + 연 운영비 약 5억 원을 지원 (15년 누적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500" b="1">
                <a:solidFill>
                  <a:srgbClr val="1C1C1E"/>
                </a:solidFill>
                <a:latin typeface="맑은 고딕"/>
                <a:ea typeface="맑은 고딕"/>
              </a:rPr>
              <a:t>자원 부족은 여전히 문제다. 다만 그것과 별개로, 있는 자원이 체계적으로 배분되지 않는 문제가 함께 있다.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맑은 고딕"/>
                <a:ea typeface="맑은 고딕"/>
              </a:rPr>
              <a:t>"지금 있는 것은 체계적으로, 필요한 곳으로 배분되고 있는가" — 이를 데이터로 검증하는 것이 이 계획이다.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인식 — 제도는 세 단계로 자원을 흘려보낸다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새면, 앞 단계가 아무리 정확해도 자원은 엉뚱한 곳으로 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① 측정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2년마다 전국 시·군·구의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60분 접근성과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실제 분만 이동시간을 산출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304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1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그 값을 임계값(30/30)과 대조해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분만취약지를 판정하고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A·B·C 등급 부여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22792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지역의 병원 한 곳을 골라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설치비·운영비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(설치 약 10억 + 연 5억)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054096"/>
            <a:ext cx="5166359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의심 1 — 지정 단계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판정 기준은 이동시간 파생 지표뿐이다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분만 인프라가 소멸해도 "옆 도시로 60분 안에 갈 수 있으면" 취약지가 아니게 되는 구조 아닌가?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기준이 구조적으로 놓치는 지역이 있는지 검증한다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054096"/>
            <a:ext cx="5166359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의심 2 — 배분 단계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지원 심사 배점 100점 중 취약도 항목은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시·도 선별 기준은 "예산 규모, 의료 취약성 등 고려"가 전부 — 누구를 먼저 지원할지의 규칙이 있는가?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현행 배분이 무엇으로 설명되는지 진단한다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92040"/>
            <a:ext cx="11292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020055"/>
            <a:ext cx="1092708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왜 지금, 왜 데이터인가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분만 인프라 공백은 언론·국회에서 반복 지적되어 왔으나, 전국 단위 공개 데이터로 정량 검증된 적이 없다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분석 대상은 취약지라는 현상이 아니라, 취약지를 판정하고 지원하는 제도 그 자체다 (제도 감사 프레임)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지원은 시·군 1곳 → 시·도 원칙 1개소 → 복지부 심사를 거친다. 15년 누적 57개소, 2025년 분만 신규는 전국 1개소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나눠 줄 것이 적을수록 순서는 오히려 더 중요해진다 — 한 해에 한 곳뿐이면 순서가 곧 결과다. 그래서 선별 규칙을 따져야 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모든 판단 기준과 임계값은 정부 자신의 문서·데이터에서 가져와 실현 가능성을 확보할 계획이다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핵심 질문 (Q) — 감사의 네 가지 물음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53619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Q1 · 지정의 검증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현행 지정은 공표된 판정식대로 실제 작동하는가?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공급(관내 인프라) 변수는 판정에 반영되는가?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1927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79" y="153619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Q2 · 사각지대 탐지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판정식이 구조적으로 놓치는 지역이 실재하는가?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(거리 기준은 통과하지만 관내 공급이 소멸한 지역)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50215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Q3 · 배분의 진단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지정 이후의 지원 배분은 공개 지표로 설명되는가?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등급·취약도·수요 중 무엇이 선정을 갈랐는가?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81927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79" y="350215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Q4 · 처방과 대조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정부가 이미 정한 기준만 조합해 배분 규칙을 만들면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현행 배분과 어디가 어긋나는가?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4406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250" b="1">
                <a:solidFill>
                  <a:srgbClr val="1C1C1E"/>
                </a:solidFill>
                <a:latin typeface="맑은 고딕"/>
                <a:ea typeface="맑은 고딕"/>
              </a:rPr>
              <a:t>Q1·2는 지정을, Q3·4는 배분을 본다. 앞의 둘로 "규칙이 무엇을 보는가"를 확정해야 뒤의 둘에서 "그 규칙대로 나눠지고 있는가"를 물을 수 있다.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767A7F"/>
                </a:solidFill>
                <a:latin typeface="맑은 고딕"/>
                <a:ea typeface="맑은 고딕"/>
              </a:rPr>
              <a:t>무엇을 "재현 성공"으로 볼지, 무엇을 "사각지대"로 볼지는 분석을 시작하기 전에 정해 둔다 — 결과를 보고 기준을 맞추지 않기 위해서다.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이론적 고찰 — 접근성의 두 축과 이 프로젝트의 차별점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보건지리학의 표준 관점 (2SFCA 계열)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의료 접근성 = 공간 축 × 비공간 축의 결합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공간 축: 거리·이동시간 (얼마나 멀리 있는가)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비공간 축: 공급·수용력 (그곳에 의사가 있는가)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가설: 현행 판정식은 공간 축만 계측할 것이다 — 데이터로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분석 단위에 대한 원칙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분석 단위: 전국 시·군·구 250곳 (표본이 아닌 전수)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목적이 미지 표본 예측이 아니라 이미 내려진 판정·배분의 규칙 규명(감사)이므로 일반화 표집 논리와 구분해 설계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지역 단위 결론을 개인에게 적용하지 않는다(생태학적 오류 경계)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선행 논의 대비 차별점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4297680"/>
          <a:ext cx="112928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/>
                <a:gridCol w="653796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기존 접근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 프로젝트의 계획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"취약지가 어디인가"를 찾는 현상 분석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"판정·배분 기준이 무엇을 놓치는가" — 제도 자체의 감사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추상적 정책 제언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임계값만으로 구성한 재지정·우선순위 시뮬레이션과 표 산출물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성공한 분석만 보고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기각된 설계(군집 등)와 민감도까지 투명하게 공개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대상 제도 — 판정 지표, 등급, 배분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판정 지표 2개 (사전 조사 결과)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09928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6675120"/>
                <a:gridCol w="178308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분만가능기관에 도달 불가능한 가임인구 비율 (GIS 계산)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이동시간 60분 내 기관 이용 비율 (건보 청구 기반)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291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등급 체계와 배분 절차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A·B·C 등급 (공고 제2026-144호, 108곳)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A: 두 지표 모두 취약 (32곳) / B: 하나만 취약 (21곳)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C: 배경인구 미달 또는 분만 지원 기수령 (55곳)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C는 취약도 서열이 아니라 자격표 성격 — "지원받으면 C가 되는" 정의 구조를 분석 설계에 반영해야 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 신청 → 시·군 1곳 선정 → 시·도 선별 → 복지부 심사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심사 100점 = 정량 20 + 정성 80, 취약도 항목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병원이 신청하지 않으면 등급이 있어도 지원 없음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"올해 누구 차례인가"를 정하는 규칙의 부재가 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제도 사실들은 모두 공개 문서(고시·공고·지침)에서 확인했으며, 분석의 판단 기준으로만 사용한다.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 수집 계획 — 전량 공개 자료, 승인 불요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4709160"/>
                <a:gridCol w="3017520"/>
              </a:tblGrid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확보 방법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공공보건의료 데이터셋 9종 (국립중앙의료원, 2023)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판정지표·인구·분만건수·기관정보·환자 유출입 약 226만 행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공공데이터포털 15154171 (로그인·승인 불요)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108곳 등급표 + 기지원 표시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PDF 표를 직접 전사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지원사업 안내 (343쪽)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 임계값·선정 절차·배점표·사업 유형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공개 지침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직접 구축할 파생 데이터 3종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데이터셋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PDF 공고 표를 전사하고 합계 검증 코드(assert)로 전사 오류를 자동 차단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자료를 기관 소재지 기준으로 합산해 "그 지역 병원이 받은 분만"을 추정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(1−TRI/100): 기준시간 밖에서 이뤄진 출산 규모(부담 축 지표)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94360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원칙: 로그인이 필요하거나 재현 불가능한 자료는 쓰지 않는다 — 누구나 같은 결과를 재현할 수 있어야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전처리·품질 관리 계획 — 예상 함정과 대응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/>
                <a:gridCol w="626364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예상 함정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계획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유출입 자료의 방향(출발/도착) 정의가 문서에 없음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행·열 합계와 "병원 없는 지역" 교차 대조로 방향을 확정한 뒤 사용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수요(주민이 낳은 수)와 공급(병원이 받은 수)의 혼동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개념을 변수명부터 분리하고, 파생 지표 정의를 문서화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동명 시군구(강원/경남 고성군 등)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(시도, 시군구) 복합키를 전 구간에 강제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행정구역 변동(군위군 대구 편입 등)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 시점을 정해 정규화하고 변동 이력을 기록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결측·전면 누락 지표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전 지표 결측 감사 후 배제 목록과 사유를 보고서에 남김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48056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60857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게이트 (통과해야 분석 단계로 진행)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보고서의 모든 수치는 스크립트 재실행으로 재현되어야 한다 (수기 계산 금지)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구축 지표(D2 등)는 공식 통계와 상관·오차를 대조하는 이중 검증을 통과해야 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전사 데이터(D1)는 공고의 등급별 합계와 자동 대조(assert)한다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① 지정 감사 (Q1·Q2)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공표된 규칙을 그대로 재계산해 실제와 대조한다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1단계 · 판정식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공표 임계값(접근성·TRI 30/30 등)으로 전 지역을 재판정하고 실제 지정 결과와 대조한다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일치율과 불일치 사례를 모두 보고한다 — 불일치는 오류가 아니라 행정 층의 증거로 해석할 계획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2단계 · 공급 반영 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회귀(5-겹 교차검증)로 판정을 예측하고, 공급 변수(전문의 수 등)를 추가했을 때 판별력(AUC)이 개선되는지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개선이 없다면 판정이 공급을 보지 않는다는 증거다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3단계 · 사각지대 탐지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"거리 기준 통과 ∧ 관내 공급 공백 ∧ 관내 이용 0"의 3중 기준을 사전 정의하고 해당 지역을 탐지한다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 병원 유출 분리로, 선호 원정 반론은 관내 선택지 유무로 통제한다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66344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79145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판단 기준의 사전 명시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무엇을 "재현 성공"으로, 무엇을 "사각지대"로 볼지의 기준을 분석 전에 확정해 보고서에 명시한다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반대 해석(예: "옆 도시로 가면 되지 않는가")을 본문에서 정면으로 다루는 섹션을 계획에 포함한다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② 배분 진단 (Q3)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표본의 관행을 지키는 검정 사다리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112928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1092708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 원칙 — C등급 제외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C의 정의에 "지원 기수령"이 포함되어, 지원받으면 C가 되는 순환 구조가 있다 — 종속변수가 집단 정의에 새어드는 셈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이 누출을 막기 위해 실질 취약지 A·B만으로 배분을 분석한다 (제외 논리 자체를 보고서에 기록)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22783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①  분할표 검정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315468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322783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A·B 등급과 지원 여부의 연관을 Fisher 정확검정으로 확인 (작은 표에 적합)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2336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②  변수별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402336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0" y="409651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지원/미지원 집단의 지표 차이를 Mann-Whitney U로 검정하고, 다중비교는 BH 보정으로 통제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9204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96519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③  다변량 모형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89204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0" y="496519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사건 수 대비 변수 수 관행(EPV)을 지켜 소수 변수 로지스틱 + 우도비검정 + 부트스트랩 부호 일관성으로 판단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89788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보고 원칙: "유의하지 않음"을 "효과 없음"으로 쓰지 않는다 — 표본이 작아 식별 불가일 수 있음을 명시하고,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개별 p값보다 방향의 안정성(부트스트랩)과 모형 설명력을 함께 제시한다.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③ 처방 — 우선순위·유형 배정 모형 (Q4)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새 기준을 만들지 않는다: 정부 문서의 임계값만 조합한다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우선순위 — 두 관점을 병렬 제시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심도 축: 취약이 가장 깊은 곳 먼저 — 객관 가중(엔트로피·CRITIC)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부담 축: 영향 인원이 큰 곳 먼저 — 미충족 분만 규모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두 축을 평균해 합성하지 않는다 — 가치 선택을 가리는 대신 병렬로 드러내는 것이 목적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유형 배정 — 규칙 기반 (머신러닝 아님)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수행·인구·수요·접근성의 정부 임계값만으로 설치/운영지원/외래/순회 4유형을 규칙 배정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학습이 없어 과적합·라벨 누수 논쟁에서 자유롭고, 모든 판정이 문서의 숫자로 소급 가능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23360"/>
            <a:ext cx="112928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151376"/>
            <a:ext cx="1092708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검증 계획 — 모형을 스스로 공격한다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공고의 순회진료 대상 목록과 본 규칙의 판정을 교차 대조한다 (일치·불일치 모두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민감도 분석: 차용한 임계값을 변화시켜 결과가 얼마나 흔들리는지 공개한다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강건성 분석: 가중법을 바꿔(엔트로피/CRITIC/동일 가중) 순위가 유지되는지 확인한다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실패한 설계(예: 군집분석이 부적합하면 기각 사유)도 은폐하지 않고 보고서에 남긴다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기대 산출물과 활용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보고서·시각화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통합 결과보고서 (지정 감사 + 배분 진단·처방)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그림: 심도-부담 산점도, 등급별 지원율, 유형 배정 교차표, 전국 불일치 지도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표 산출물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우선순위표 (지역×순위×권고유형×근거)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시·도별 우선순위표 — 배분 심사가 시·도 단위이므로 실무에 바로 쓰이는 형태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정책 제언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지정: 공급 공백형 트랙 / 지표: 관내·관외 병기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배분: 부담 축 병기, 표준 우선순위표 제공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모두 예산 증액 없이 가능한 방향으로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611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평가 기준 대응 계획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02920" y="4023360"/>
          <a:ext cx="112928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800100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항목 (배점)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 계획의 대응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 수립·이론적 고찰 (30)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파이프라인 문제화, Q 4개, 접근성 2축 이론, 사전 명시된 판단 기준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수집·전처리·EDA (30)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공개 데이터 226만 행 + 정부 문서, 파생 3종 구축, 함정 대응·품질 게이트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분석 (20)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검증-진단-처방의 3단 설계, 작은 표본 관행 준수, 민감도·강건성·외부 검증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창의성·완성도 (20)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전 과정 감사 프레임, 두 관점 병렬 제시, 실패 설계 공개, 전 수치 재현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추진 일정과 역할 분담 (2인)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6812280"/>
                <a:gridCol w="256032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할 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7월 하순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탐색·후보 검증, 데이터 실물 확인(확보 가능성 전수 점검)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확정 기록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1주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수집·전처리, 파생 데이터 구축과 이중 검증, EDA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정제 데이터·EDA 노트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전반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감사(판정식 검증·사각지대) + 배분 진단(검정 사다리)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분석 스크립트·로그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후반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처방 모형(우선순위·유형 배정)과 검증, 통합 결과보고서·그림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결과보고서·그림·표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8/11 ~ 8/13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계획서·결과보고서 PPT, 시연 영상(5분), 소스·데이터 패키징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제출물 일체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8/14 (금)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최종 점검 후 17:00 전 USB 방문 제출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대표자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지정 감사 설계·수행, 지도 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통합 보고서 작성, 계획서·결과 PPT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배분 진단·처방 모형 설계·수행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그림 제작, 분석 재현성 검증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