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3" r:id="rId22"/>
    <p:sldId id="258" r:id="rId4"/>
    <p:sldId id="259" r:id="rId5"/>
    <p:sldId id="260" r:id="rId6"/>
    <p:sldId id="272" r:id="rId21"/>
    <p:sldId id="261" r:id="rId7"/>
    <p:sldId id="262" r:id="rId8"/>
    <p:sldId id="271" r:id="rId20"/>
    <p:sldId id="263" r:id="rId9"/>
    <p:sldId id="264" r:id="rId10"/>
    <p:sldId id="270" r:id="rId19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Pretendard"/>
          <a:ea typeface="Pretendard"/>
          <a:cs typeface="Pretendard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Pretendard"/>
        <a:buChar char="•"/>
        <a:defRPr sz="32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742950" indent="-285750" algn="l" defTabSz="457200" rtl="0" eaLnBrk="1" latinLnBrk="0" hangingPunct="1">
        <a:spcBef>
          <a:spcPct val="20000"/>
        </a:spcBef>
        <a:buFont typeface="Pretendard"/>
        <a:buChar char="–"/>
        <a:defRPr sz="2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1143000" indent="-228600" algn="l" defTabSz="457200" rtl="0" eaLnBrk="1" latinLnBrk="0" hangingPunct="1">
        <a:spcBef>
          <a:spcPct val="20000"/>
        </a:spcBef>
        <a:buFont typeface="Pretendard"/>
        <a:buChar char="•"/>
        <a:defRPr sz="24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600200" indent="-228600" algn="l" defTabSz="457200" rtl="0" eaLnBrk="1" latinLnBrk="0" hangingPunct="1">
        <a:spcBef>
          <a:spcPct val="20000"/>
        </a:spcBef>
        <a:buFont typeface="Pretendard"/>
        <a:buChar char="–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2057400" indent="-228600" algn="l" defTabSz="457200" rtl="0" eaLnBrk="1" latinLnBrk="0" hangingPunct="1">
        <a:spcBef>
          <a:spcPct val="20000"/>
        </a:spcBef>
        <a:buFont typeface="Pretendard"/>
        <a:buChar char="»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5146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90600" y="1284732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001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Pretendard"/>
                <a:ea typeface="Pretendard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Pretendard"/>
                <a:ea typeface="Pretendard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Pretendard"/>
                <a:ea typeface="Pretendard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743700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603630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부문</a:t>
            </a:r>
            <a:endParaRPr sz="13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144000" y="1289304"/>
            <a:ext cx="2606040" cy="4453128"/>
          </a:xfrm>
          <a:prstGeom prst="roundRect">
            <a:avLst>
              <a:gd name="adj" fmla="val 3508"/>
            </a:avLst>
          </a:prstGeom>
          <a:solidFill>
            <a:srgbClr val="ECEEEF"/>
          </a:solid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3369563"/>
            <a:ext cx="26060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A8ADB2"/>
                </a:solidFill>
                <a:latin typeface="Pretendard"/>
                <a:ea typeface="Pretendard"/>
              </a:rPr>
              <a:t>사진 자리 — 이 글상자는 지우세요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79"/>
            <a:ext cx="5532120" cy="1281249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정의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04   아이디어의 발단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05   문제 인식 — 세 단계 파이프라인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06   검증 질문 4가지</a:t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08413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이해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08   이론적 고찰 — 접근성의 두 축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09   분석 대상 제도 — 지표·등급·배분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08413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81143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계획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11   데이터 수집 계획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12   전처리·품질 관리 계획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79"/>
            <a:ext cx="5532120" cy="1281249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설계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14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15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16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08413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54680"/>
            <a:ext cx="516636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Ⅴ. </a:t>
            </a:r>
            <a:r>
              <a:rPr lang="ko-KR" altLang="en-US" sz="1350" b="1" dirty="0">
                <a:solidFill>
                  <a:srgbClr val="33393F"/>
                </a:solidFill>
                <a:latin typeface="Pretendard"/>
                <a:ea typeface="Pretendard"/>
              </a:rPr>
              <a:t>프로젝트 일정</a:t>
            </a:r>
            <a:endParaRPr lang="en-US" altLang="ko-KR"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17   기간별 일정표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48740" y="380129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Pretendard"/>
                <a:ea typeface="Pretendard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16736"/>
            <a:ext cx="3611880" cy="15087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분만취약지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"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사실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16736"/>
            <a:ext cx="3611880" cy="15087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그것뿐인가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음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16736"/>
            <a:ext cx="3611880" cy="150876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문제</a:t>
            </a:r>
            <a:endParaRPr sz="1300" b="1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0876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시·군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Pretendard"/>
                <a:ea typeface="Pretendard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Pretendard"/>
                <a:ea typeface="Pretendard"/>
              </a:rPr>
              <a:t>Ⅰ-1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Ⅰ. 문제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52728"/>
            <a:ext cx="3291840" cy="120700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380744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측정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시·군·구의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Pretendard"/>
                <a:ea typeface="Pretendard"/>
              </a:rPr>
              <a:t>와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Pretendard"/>
                <a:ea typeface="Pretendard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산출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664208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252728"/>
            <a:ext cx="3291840" cy="120700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1380744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지정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대조해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판정하고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부여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664208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252728"/>
            <a:ext cx="3291840" cy="120700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1380744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Pretendard"/>
                <a:ea typeface="Pretendard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Pretendard"/>
                <a:ea typeface="Pretendard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Pretendard"/>
                <a:ea typeface="Pretendard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Pretendard"/>
                <a:ea typeface="Pretendard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752344"/>
            <a:ext cx="5532120" cy="190195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880360"/>
            <a:ext cx="5166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Pretendard"/>
                <a:ea typeface="Pretendard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단계</a:t>
            </a:r>
            <a:endParaRPr sz="1300" b="1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752344"/>
            <a:ext cx="5532120" cy="190195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880360"/>
            <a:ext cx="5166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Pretendard"/>
                <a:ea typeface="Pretendard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단계</a:t>
            </a:r>
            <a:endParaRPr sz="1300" b="1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Pretendard"/>
                <a:ea typeface="Pretendard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65192"/>
            <a:ext cx="1129284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92708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Pretendard"/>
                <a:ea typeface="Pretendard"/>
              </a:rPr>
              <a:t>?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Ⅰ-2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Ⅰ. 문제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0239" y="160020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9961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60958" y="160020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49961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탐지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Pretendard"/>
                <a:ea typeface="Pretendard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Pretendard"/>
                <a:ea typeface="Pretendard"/>
              </a:rPr>
              <a:t>,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0239" y="356616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46557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Pretendard"/>
                <a:ea typeface="Pretendard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0958" y="356616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46557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대조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만들면</a:t>
            </a:r>
            <a:endParaRPr sz="12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Pretendard"/>
                <a:ea typeface="Pretendard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Pretendard"/>
                <a:ea typeface="Pretendard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  <a:endParaRPr sz="12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Pretendard"/>
                <a:ea typeface="Pretendard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Pretendard"/>
                <a:ea typeface="Pretendard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Pretendard"/>
                <a:ea typeface="Pretendard"/>
              </a:rPr>
              <a:t>Ⅰ-3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Ⅰ. 문제 정의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57276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Pretendard"/>
                <a:ea typeface="Pretendard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157276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원칙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설계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Pretendard"/>
                <a:ea typeface="Pretendard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3721608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Ⅱ-1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Ⅱ. 배경 이해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대상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제도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판정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등급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배분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절차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Pretendard"/>
                <a:ea typeface="Pretendard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기준시간내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의료이용률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실제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중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이동시간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60분 내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비율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건보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청구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행태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실측값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Pretendard"/>
                <a:ea typeface="Pretendard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6"/>
            <a:ext cx="5166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A·B·C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등급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공고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제2026-144호, 108곳)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배분의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4단계 </a:t>
            </a:r>
            <a:r>
              <a:rPr lang="ko-KR" alt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절차</a:t>
            </a:r>
            <a:endParaRPr lang="en-US" altLang="ko-KR"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병원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신청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시·군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1곳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선정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시·도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선별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복지부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심사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100점 =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20 +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80</a:t>
            </a:r>
            <a:r>
              <a:rPr 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Pretendard"/>
                <a:ea typeface="Pretendard"/>
              </a:rPr>
              <a:t>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항목</a:t>
            </a:r>
            <a:r>
              <a:rPr 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반영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없음</a:t>
            </a:r>
            <a:endParaRPr lang="en-US" altLang="ko-KR"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병원이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신청하지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않으면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등급이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있어도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없음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→ "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올해</a:t>
            </a:r>
            <a:r>
              <a:rPr lang="ko-KR" altLang="en-US" sz="1150" dirty="0">
                <a:solidFill>
                  <a:srgbClr val="1C1C1E"/>
                </a:solidFill>
                <a:latin typeface="Pretendard"/>
                <a:ea typeface="Pretendard"/>
              </a:rPr>
              <a:t>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누구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차례인가"를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정하는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부재가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쟁점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이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제도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사실은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모두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공개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문서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고시·공고·지침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)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에서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확인했으며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분석의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판단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기준으로만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사용함</a:t>
            </a:r>
            <a:endParaRPr sz="1150" b="0" dirty="0">
              <a:solidFill>
                <a:srgbClr val="767A7F"/>
              </a:solidFill>
              <a:latin typeface="Pretendard"/>
              <a:ea typeface="Pretendar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Ⅱ-2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Ⅱ. 배경 이해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133087"/>
          <a:ext cx="5166360" cy="1207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두 판정 지표 모두 취약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두 기준 중 하나만 취약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358384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C는 취약도 서열이 아니라 자격표 — "지원받으면 C가 된다"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데이터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수집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전량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공개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자료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승인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불요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분만취약지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108곳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등급표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기지원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표시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임계값·선정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절차·배점표·사업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유형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지침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직접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구축할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파생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데이터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D1 · </a:t>
            </a:r>
            <a:r>
              <a:rPr lang="ko-KR" alt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취약지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등급-지원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데이터셋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PDF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표를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전사하고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합계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검증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코드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(assert)로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전사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오류를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자동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차단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D2 ·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관내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수행량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유출입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자료를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소재지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기준으로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합산해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"그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받은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분만"을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추정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D3 ·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미충족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분만건수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× (1−TRI/100):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기준시간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밖에서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이뤄진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출산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규모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부담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축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247120" cy="2837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C1C1E"/>
                </a:solidFill>
                <a:latin typeface="Pretendard"/>
                <a:ea typeface="Pretendard"/>
              </a:rPr>
              <a:t>전량 공개자료로</a:t>
            </a:r>
            <a:r>
              <a:rPr lang="en-US" altLang="ko-KR"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200" b="1" dirty="0">
                <a:solidFill>
                  <a:srgbClr val="1C1C1E"/>
                </a:solidFill>
                <a:latin typeface="Pretendard"/>
                <a:ea typeface="Pretendard"/>
              </a:rPr>
              <a:t>승인은 불요</a:t>
            </a:r>
            <a:r>
              <a:rPr lang="en-US" altLang="ko-KR" sz="1200" b="1" dirty="0">
                <a:solidFill>
                  <a:srgbClr val="1C1C1E"/>
                </a:solidFill>
                <a:latin typeface="Pretendard"/>
                <a:ea typeface="Pretendard"/>
              </a:rPr>
              <a:t>,</a:t>
            </a:r>
            <a:r>
              <a:rPr lang="ko-KR" altLang="en-US"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로그인이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필요하거나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재현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불가능한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자료는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사용하지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않음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누구나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같은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결과를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재현할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수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있어야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Ⅲ-1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Ⅲ. 데이터 계획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전처리·품질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관리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적절한 데이터 가공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37578"/>
              </p:ext>
            </p:extLst>
          </p:nvPr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처리 전</a:t>
                      </a:r>
                      <a:endParaRPr sz="1150" b="1" dirty="0">
                        <a:solidFill>
                          <a:srgbClr val="FFFFFF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처리 후</a:t>
                      </a:r>
                      <a:endParaRPr sz="1150" b="1" dirty="0">
                        <a:solidFill>
                          <a:srgbClr val="FFFFFF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유출입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자료의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방향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출발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/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도착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)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정의가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문서에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없음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행·열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합계와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"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병원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없는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"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교차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대조로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방향을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확정한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뒤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사용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수요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주민이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낳은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수)와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공급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병원이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받은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수)의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혼동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행정구역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군위군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대구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편입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시점을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정규화하고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기록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결측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감사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배제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목록과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사유를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보고서에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남김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28016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품질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게이트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통과해야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단계로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진행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보고서의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수치는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스크립트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재실행으로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재현되어야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함 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수기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계산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금지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직접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구축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(D2 등)는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통계와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상관·오차를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대조하는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이중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검증을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통과해야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(D1)는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등급별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합계와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자동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Ⅲ-2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Ⅲ. 데이터 계획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설계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①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지정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감사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2748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40764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1단계 ·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판정식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임계값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접근성·TRI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30/30 등)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으로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재판정하고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결과와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대조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일치율과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불일치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사례를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모두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보고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불일치는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오류가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행정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층의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증거로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해석할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계획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412748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540764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Pretendard"/>
                <a:ea typeface="Pretendard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Pretendard"/>
                <a:ea typeface="Pretendard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Pretendard"/>
                <a:ea typeface="Pretendard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412748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540764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3단계 ·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사각지대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탐지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거리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통과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공급</a:t>
            </a:r>
            <a:r>
              <a:rPr lang="ko-KR" altLang="en-US" sz="1100" dirty="0">
                <a:solidFill>
                  <a:srgbClr val="1C1C1E"/>
                </a:solidFill>
                <a:latin typeface="Pretendard"/>
                <a:ea typeface="Pretendard"/>
              </a:rPr>
              <a:t>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공백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이용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0"의 3중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사전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정의하고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해당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탐지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중증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이송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동급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유출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분리로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선호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원정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선택지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없음 사례로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통제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11292840" cy="82296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02736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판단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기준의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사전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명시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성공"으로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사각지대"로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볼지의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기준을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확정해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명시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Ⅳ-1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Ⅳ. 분석 설계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21892"/>
            <a:ext cx="11292840" cy="101498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49908"/>
            <a:ext cx="1092708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Pretendard"/>
                <a:ea typeface="Pretendard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9212"/>
            <a:ext cx="2286000" cy="59436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967228"/>
            <a:ext cx="1920239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① 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분할표</a:t>
            </a: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검정</a:t>
            </a:r>
            <a:endParaRPr sz="13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926080" y="2839212"/>
            <a:ext cx="88696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2967228"/>
            <a:ext cx="85039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07892"/>
            <a:ext cx="2286000" cy="59436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835908"/>
            <a:ext cx="1920239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707892"/>
            <a:ext cx="88696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3835908"/>
            <a:ext cx="85039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미지원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집단의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차이를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Mann-Whitney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U로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검정하고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다중비교는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BH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보정으로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통제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576572"/>
            <a:ext cx="2286000" cy="603503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638401"/>
            <a:ext cx="192023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③ 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다변량</a:t>
            </a: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모형</a:t>
            </a:r>
            <a:endParaRPr sz="13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926080" y="4576572"/>
            <a:ext cx="8869680" cy="60350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640579"/>
            <a:ext cx="8503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사건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수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변수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수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관행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(EPV)을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소수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변수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로지스틱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+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우도비검정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+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부트스트랩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일관성으로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판단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53995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보고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원칙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: "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유의하지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않음"을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"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효과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없음"으로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쓰지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않음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표본이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작아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식별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불가일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수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있음을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명시하고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개별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p값보다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방향의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안정성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부트스트랩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)과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모형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설명력을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함께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제시함</a:t>
            </a:r>
            <a:endParaRPr sz="1150" b="0" dirty="0">
              <a:solidFill>
                <a:srgbClr val="767A7F"/>
              </a:solidFill>
              <a:latin typeface="Pretendard"/>
              <a:ea typeface="Pretendar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Ⅳ-2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Ⅳ. 분석 설계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Pretendard"/>
                <a:ea typeface="Pretendard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15453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우선순위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두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관점을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병렬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제시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심도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취약이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가장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깊은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곳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객관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엔트로피·CRITIC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 + TOPSIS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종합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인원이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큰 곳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미충족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규모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두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축을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평균해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합성하지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선택을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가리는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병렬로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드러내는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것이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목적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15453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유형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배정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규칙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기반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머신러닝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아님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수행·인구·수요·접근성의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임계값만으로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설치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운영지원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외래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순회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4유형을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배정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학습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과정이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없어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과적합·라벨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누수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논쟁에서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자유롭고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판정이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문서의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숫자로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소급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가능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739896"/>
            <a:ext cx="11292840" cy="155448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67912"/>
            <a:ext cx="10927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계획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모형을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스스로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공격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외부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검증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순회진료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목록과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본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판정을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교차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일치·불일치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민감도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차용한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임계값을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변화시켜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결과가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얼마나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흔들리는지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공개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강건성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가중법을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바꿔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엔트로피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/CRITIC/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동일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유지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여부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확인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실패한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설계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(예: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군집분석이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부적합하면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기각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사유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)도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은폐하지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기록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Ⅳ-3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Ⅳ. 분석 설계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기간별 일정표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 dirty="0">
                <a:solidFill>
                  <a:srgbClr val="D8DADD"/>
                </a:solidFill>
                <a:latin typeface="Pretendard"/>
                <a:ea typeface="Pretendard"/>
              </a:rPr>
              <a:t>17</a:t>
            </a:r>
            <a:r>
              <a:rPr lang="en-US" sz="2000" b="1" dirty="0">
                <a:solidFill>
                  <a:srgbClr val="D8DADD"/>
                </a:solidFill>
                <a:latin typeface="Pretendard"/>
                <a:ea typeface="Pretendard"/>
              </a:rPr>
              <a:t/>
            </a:r>
            <a:endParaRPr sz="3000" b="1" dirty="0">
              <a:solidFill>
                <a:srgbClr val="D8DADD"/>
              </a:solidFill>
              <a:latin typeface="Pretendard"/>
              <a:ea typeface="Pretendar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936555"/>
              </p:ext>
            </p:extLst>
          </p:nvPr>
        </p:nvGraphicFramePr>
        <p:xfrm>
          <a:off x="502920" y="1274717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Ⅴ-1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Ⅴ. 프로젝트 일정</a:t>
            </a:r>
          </a:p>
        </p:txBody>
      </p:sp>
      <p:pic>
        <p:nvPicPr>
          <p:cNvPr id="15" name="Picture 14" descr="village.jpg"/>
          <p:cNvPicPr>
            <a:picLocks noChangeAspect="1"/>
          </p:cNvPicPr>
          <p:nvPr/>
        </p:nvPicPr>
        <p:blipFill>
          <a:blip r:embed="rId2"/>
          <a:srcRect t="27202" b="27202"/>
          <a:stretch>
            <a:fillRect/>
          </a:stretch>
        </p:blipFill>
        <p:spPr>
          <a:xfrm>
            <a:off x="502920" y="4809744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02920" y="6062472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분만실이 사라진 농어촌</a:t>
            </a:r>
          </a:p>
        </p:txBody>
      </p:sp>
      <p:pic>
        <p:nvPicPr>
          <p:cNvPr id="17" name="Picture 16" descr="pregnant.jpg"/>
          <p:cNvPicPr>
            <a:picLocks noChangeAspect="1"/>
          </p:cNvPicPr>
          <p:nvPr/>
        </p:nvPicPr>
        <p:blipFill>
          <a:blip r:embed="rId3"/>
          <a:srcRect t="38601" b="38601"/>
          <a:stretch>
            <a:fillRect/>
          </a:stretch>
        </p:blipFill>
        <p:spPr>
          <a:xfrm>
            <a:off x="4306824" y="4809744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4306824" y="6062472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60분 밖의 산전 관리</a:t>
            </a:r>
          </a:p>
        </p:txBody>
      </p:sp>
      <p:pic>
        <p:nvPicPr>
          <p:cNvPr id="19" name="Picture 18" descr="newborn.jpg"/>
          <p:cNvPicPr>
            <a:picLocks noChangeAspect="1"/>
          </p:cNvPicPr>
          <p:nvPr/>
        </p:nvPicPr>
        <p:blipFill>
          <a:blip r:embed="rId4"/>
          <a:srcRect t="24312" b="24312"/>
          <a:stretch>
            <a:fillRect/>
          </a:stretch>
        </p:blipFill>
        <p:spPr>
          <a:xfrm>
            <a:off x="8110728" y="4809744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8110728" y="6062472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지역에서 태어날 권리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solidFill>
            <a:srgbClr val="ECEEEF"/>
          </a:solid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82696"/>
            <a:ext cx="5212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A8ADB2"/>
                </a:solidFill>
                <a:latin typeface="Pretendard"/>
                <a:ea typeface="Pretendard"/>
              </a:rPr>
              <a:t>사진 자리 — 이 글상자는 지우세요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분석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지정·배분·처방을 차례로 검정한다.
판단 기준은 결과를 보기 전에 확정한다.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① 지정 감사 (Q1·Q2)   ② 배분 진단 (Q3)   ③ 처방 모형 (Q4)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solidFill>
            <a:srgbClr val="ECEEEF"/>
          </a:solid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82696"/>
            <a:ext cx="5212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A8ADB2"/>
                </a:solidFill>
                <a:latin typeface="Pretendard"/>
                <a:ea typeface="Pretendard"/>
              </a:rPr>
              <a:t>사진 자리 — 이 글상자는 지우세요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데이터 계획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전량 공개 자료만 쓴다.
누구나 같은 절차로 같은 결과에 닿을 수 있어야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데이터 수집 계획   ·   전처리·품질 관리 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solidFill>
            <a:srgbClr val="ECEEEF"/>
          </a:solid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82696"/>
            <a:ext cx="5212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A8ADB2"/>
                </a:solidFill>
                <a:latin typeface="Pretendard"/>
                <a:ea typeface="Pretendard"/>
              </a:rPr>
              <a:t>사진 자리 — 이 글상자는 지우세요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배경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무엇을 고칠지 정하려면,
그 제도가 무엇을 보고 무엇을 보지 않는지부터 알아야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이론적 고찰 — 접근성의 두 축   ·   분석 대상 제도 — 지표·등급·배분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solidFill>
            <a:srgbClr val="ECEEEF"/>
          </a:solid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82696"/>
            <a:ext cx="5212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A8ADB2"/>
                </a:solidFill>
                <a:latin typeface="Pretendard"/>
                <a:ea typeface="Pretendard"/>
              </a:rPr>
              <a:t>사진 자리 — 이 글상자는 지우세요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문제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자원이 모자란 것과, 있는 자원이 제대로 배분되지 않는 것은 다른 문제다.
앞은 예산의 영역이고, 뒤는 데이터로 답할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아이디어의 발단   ·   문제 인식 — 세 단계 파이프라인   ·   검증 질문 4가지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etendard"/>
        <a:ea typeface="Pretendard"/>
        <a:cs typeface="Pretendard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Pretendard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2346</Words>
  <Application>Microsoft Office PowerPoint</Application>
  <PresentationFormat>와이드스크린</PresentationFormat>
  <Paragraphs>273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5" baseType="lpstr"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40</cp:revision>
  <dcterms:created xsi:type="dcterms:W3CDTF">2013-01-27T09:14:16Z</dcterms:created>
  <dcterms:modified xsi:type="dcterms:W3CDTF">2026-08-13T12:23:10Z</dcterms:modified>
  <cp:category/>
</cp:coreProperties>
</file>