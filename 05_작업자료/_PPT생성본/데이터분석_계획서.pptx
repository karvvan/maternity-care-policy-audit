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207008"/>
            <a:ext cx="502920" cy="12801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8467344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1500"/>
              </a:spcAft>
            </a:pPr>
            <a:r>
              <a:rPr sz="1450" b="0">
                <a:solidFill>
                  <a:srgbClr val="767A7F"/>
                </a:solidFill>
                <a:latin typeface="맑은 고딕"/>
                <a:ea typeface="맑은 고딕"/>
              </a:rPr>
              <a:t>데이터 분석 계획서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4700" b="1">
                <a:solidFill>
                  <a:srgbClr val="1C1C1E"/>
                </a:solidFill>
                <a:latin typeface="맑은 고딕"/>
                <a:ea typeface="맑은 고딕"/>
              </a:rPr>
              <a:t>분만취약지 지원제도 개선안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900" b="0">
                <a:solidFill>
                  <a:srgbClr val="33393F"/>
                </a:solidFill>
                <a:latin typeface="맑은 고딕"/>
                <a:ea typeface="맑은 고딕"/>
              </a:rPr>
              <a:t>분만취약지 지원 제도의 모든 절차 속 데이터 감사와 개선된 분석 모형 제안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4370832"/>
            <a:ext cx="585216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69494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50" b="1">
                <a:solidFill>
                  <a:srgbClr val="1C1C1E"/>
                </a:solidFill>
                <a:latin typeface="맑은 고딕"/>
                <a:ea typeface="맑은 고딕"/>
              </a:rPr>
              <a:t>2026 제5회 명지대학교 창의적 SW프로그램 경진대회 · 빅데이터 분석 부문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0">
                <a:solidFill>
                  <a:srgbClr val="767A7F"/>
                </a:solidFill>
                <a:latin typeface="맑은 고딕"/>
                <a:ea typeface="맑은 고딕"/>
              </a:rPr>
              <a:t>정부는 취약지를 정밀하게 측정한다. 지정 규칙과 배분 규칙은 그 측정을 따르는가 —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>
                <a:solidFill>
                  <a:srgbClr val="767A7F"/>
                </a:solidFill>
                <a:latin typeface="맑은 고딕"/>
                <a:ea typeface="맑은 고딕"/>
              </a:rPr>
              <a:t>정부 자신의 공개 데이터와 기준만으로 제도의 전 과정을 감사한다.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아이디어의 발단 — 자원 부족은 실재한다. 그런데 원인이 그것뿐인가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>
                <a:solidFill>
                  <a:srgbClr val="767A7F"/>
                </a:solidFill>
                <a:latin typeface="맑은 고딕"/>
                <a:ea typeface="맑은 고딕"/>
              </a:rPr>
              <a:t>부족(㉠)과 배분(㉡)은 다른 문제이고 해법도 다르다 — 본 계획은 ㉡을 맡는다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계획서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99616"/>
            <a:ext cx="3246120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① 여전히 존재하는 분만취약지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"지방에 분만실이 없다" — 해마다 반복되는 기사. 처방도 늘 같다: 의사를 늘리고 병원을 지어라. 그리고 이 처방은 옳다 — 절대량이 모자란 것은 사실이다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499616"/>
            <a:ext cx="3246120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② 그런데 원인이 그것뿐인가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자원이 모자란 것(㉠)과, 있는 자원이 체계적으로 배분되지 않는 것(㉡)은 다른 문제다. 그리고 둘은 동시에 성립할 수 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3716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499616"/>
            <a:ext cx="3246120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000000"/>
                </a:solidFill>
                <a:latin typeface="맑은 고딕"/>
                <a:ea typeface="맑은 고딕"/>
              </a:rPr>
              <a:t>③ 해결할 수 있는 문제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㉠은 예산·인력의 영역이라 데이터가 답할 수 없다. ㉡은 배분 규칙의 문제이므로 데이터로 답할 수 있다 — 그리고 ㉡은 아직 검증된 적이 없다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01568"/>
            <a:ext cx="11292840" cy="1572768"/>
          </a:xfrm>
          <a:prstGeom prst="roundRect">
            <a:avLst>
              <a:gd name="adj" fmla="val 5232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29584"/>
            <a:ext cx="1092708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그리고 자원을 공백 지역으로 보내는 제도는 이미 있다 — 「분만취약지 지원사업」(15년째)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분만취약지 = 소득·인구가 적은 지역이 아니라, 그 지역 가임기 여성이 ① 분만 가능 기관까지 60분 안에 닿기 어렵고(접근성) ② 실제 출산도 60분 안에 하지 못하는(이용률) 시·군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즉 이 제도에서 "취약"은 처음부터 끝까지 거리와 시간으로 정의된다 — 이 점이 본 연구의 첫 번째 표적이 된다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정부는 2년마다 전국을 재어 A·B·C 등급을 매기고, 지정 지역 병원에 분만실 설치비 약 10억 원 + 연 운영비 약 5억 원을 지원 (15년 누적 57개소)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230368"/>
            <a:ext cx="11247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</a:pPr>
            <a:r>
              <a:rPr sz="1500" b="1">
                <a:solidFill>
                  <a:srgbClr val="1C1C1E"/>
                </a:solidFill>
                <a:latin typeface="맑은 고딕"/>
                <a:ea typeface="맑은 고딕"/>
              </a:rPr>
              <a:t>자원 부족은 여전히 문제다. 다만 그것과 별개로, 있는 자원이 체계적으로 배분되지 않는 문제가 함께 있다.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맑은 고딕"/>
                <a:ea typeface="맑은 고딕"/>
              </a:rPr>
              <a:t>"지금 있는 것은 체계적으로, 필요한 곳으로 배분되고 있는가" — 이를 데이터로 검증하는 것이 본 계획이다.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문제 인식 — 제도는 세 단계로 자원을 흘려보낸다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>
                <a:solidFill>
                  <a:srgbClr val="767A7F"/>
                </a:solidFill>
                <a:latin typeface="맑은 고딕"/>
                <a:ea typeface="맑은 고딕"/>
              </a:rPr>
              <a:t>한 단계라도 막히거나 새면, 앞 단계가 아무리 정확해도 자원은 엉뚱한 곳으로 간다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계획서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32918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444752"/>
            <a:ext cx="3017520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500" b="1">
                <a:solidFill>
                  <a:srgbClr val="33393F"/>
                </a:solidFill>
                <a:latin typeface="맑은 고딕"/>
                <a:ea typeface="맑은 고딕"/>
              </a:rPr>
              <a:t>① 측정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2년마다 전국 시·군·구의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분만실 60분 접근성과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실제 분만 이동시간을 산출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048" y="1783080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200" b="1">
                <a:solidFill>
                  <a:srgbClr val="767A7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371600"/>
            <a:ext cx="32918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1" y="1444752"/>
            <a:ext cx="3017520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500" b="1">
                <a:solidFill>
                  <a:srgbClr val="33393F"/>
                </a:solidFill>
                <a:latin typeface="맑은 고딕"/>
                <a:ea typeface="맑은 고딕"/>
              </a:rPr>
              <a:t>② 지정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그 값을 임계값(30/30)과 대조해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분만취약지를 판정하고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A·B·C 등급 부여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1783080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200" b="1">
                <a:solidFill>
                  <a:srgbClr val="767A7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1371600"/>
            <a:ext cx="32918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22792" y="1444752"/>
            <a:ext cx="3017520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500" b="1">
                <a:solidFill>
                  <a:srgbClr val="33393F"/>
                </a:solidFill>
                <a:latin typeface="맑은 고딕"/>
                <a:ea typeface="맑은 고딕"/>
              </a:rPr>
              <a:t>③ 배분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지정 지역의 병원 한 곳을 골라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분만실 설치비·운영비 지급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(설치 약 10억 + 연 5억)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26080"/>
            <a:ext cx="5532120" cy="1783080"/>
          </a:xfrm>
          <a:prstGeom prst="roundRect">
            <a:avLst>
              <a:gd name="adj" fmla="val 4615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054096"/>
            <a:ext cx="5166359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000000"/>
                </a:solidFill>
                <a:latin typeface="맑은 고딕"/>
                <a:ea typeface="맑은 고딕"/>
              </a:rPr>
              <a:t>의심 1 — 지정 단계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판정 기준은 이동시간 파생 지표뿐이다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관내 분만 인프라가 소멸해도 "옆 도시로 60분 안에 갈 수 있으면" 취약지가 아니게 되는 구조 아닌가?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→ 기준이 구조적으로 놓치는 지역이 있는지 검증한다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926080"/>
            <a:ext cx="5532120" cy="1783080"/>
          </a:xfrm>
          <a:prstGeom prst="roundRect">
            <a:avLst>
              <a:gd name="adj" fmla="val 4615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054096"/>
            <a:ext cx="5166359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000000"/>
                </a:solidFill>
                <a:latin typeface="맑은 고딕"/>
                <a:ea typeface="맑은 고딕"/>
              </a:rPr>
              <a:t>의심 2 — 배분 단계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지원 심사 배점 100점 중 취약도 항목은 0점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시·도 선별 기준은 "예산 규모, 의료 취약성 등 고려"가 전부 — 누구를 먼저 지원할지의 규칙이 있는가?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→ 현행 배분이 무엇으로 설명되는지 진단한다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92040"/>
            <a:ext cx="112928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020055"/>
            <a:ext cx="1092708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왜 지금, 왜 데이터인가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분만 인프라 공백은 언론·국회에서 반복 지적되어 왔으나, 전국 단위 공개 데이터로 정량 검증된 적이 없다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분석 대상은 취약지라는 현상이 아니라, 취약지를 판정하고 지원하는 제도 그 자체다 (제도 감사 프레임)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모든 판단 기준과 임계값은 정부 자신의 문서·데이터에서 가져와 실현 가능성을 확보할 계획이다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연구 질문 (RQ) — 감사의 네 가지 물음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계획서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532120" cy="1737360"/>
          </a:xfrm>
          <a:prstGeom prst="roundRect">
            <a:avLst>
              <a:gd name="adj" fmla="val 473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1208" y="1600200"/>
            <a:ext cx="82296" cy="1280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36192"/>
            <a:ext cx="5074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33393F"/>
                </a:solidFill>
                <a:latin typeface="맑은 고딕"/>
                <a:ea typeface="맑은 고딕"/>
              </a:rPr>
              <a:t>RQ1 · 지정의 검증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00" b="0">
                <a:solidFill>
                  <a:srgbClr val="1C1C1E"/>
                </a:solidFill>
                <a:latin typeface="맑은 고딕"/>
                <a:ea typeface="맑은 고딕"/>
              </a:rPr>
              <a:t>현행 지정은 공표된 판정식대로 실제 작동하는가?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00" b="0">
                <a:solidFill>
                  <a:srgbClr val="1C1C1E"/>
                </a:solidFill>
                <a:latin typeface="맑은 고딕"/>
                <a:ea typeface="맑은 고딕"/>
              </a:rPr>
              <a:t>공급(관내 인프라) 변수는 판정에 반영되는가?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532120" cy="1737360"/>
          </a:xfrm>
          <a:prstGeom prst="roundRect">
            <a:avLst>
              <a:gd name="adj" fmla="val 473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1927" y="1600200"/>
            <a:ext cx="82296" cy="1280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1536192"/>
            <a:ext cx="5074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33393F"/>
                </a:solidFill>
                <a:latin typeface="맑은 고딕"/>
                <a:ea typeface="맑은 고딕"/>
              </a:rPr>
              <a:t>RQ2 · 사각지대 탐지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00" b="0">
                <a:solidFill>
                  <a:srgbClr val="1C1C1E"/>
                </a:solidFill>
                <a:latin typeface="맑은 고딕"/>
                <a:ea typeface="맑은 고딕"/>
              </a:rPr>
              <a:t>판정식이 구조적으로 놓치는 지역이 실재하는가?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00" b="0">
                <a:solidFill>
                  <a:srgbClr val="1C1C1E"/>
                </a:solidFill>
                <a:latin typeface="맑은 고딕"/>
                <a:ea typeface="맑은 고딕"/>
              </a:rPr>
              <a:t>(거리 기준은 통과하지만 관내 공급이 소멸한 지역)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37560"/>
            <a:ext cx="5532120" cy="1737360"/>
          </a:xfrm>
          <a:prstGeom prst="roundRect">
            <a:avLst>
              <a:gd name="adj" fmla="val 473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1208" y="3566160"/>
            <a:ext cx="82296" cy="1280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502152"/>
            <a:ext cx="5074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33393F"/>
                </a:solidFill>
                <a:latin typeface="맑은 고딕"/>
                <a:ea typeface="맑은 고딕"/>
              </a:rPr>
              <a:t>RQ3 · 배분의 진단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00" b="0">
                <a:solidFill>
                  <a:srgbClr val="1C1C1E"/>
                </a:solidFill>
                <a:latin typeface="맑은 고딕"/>
                <a:ea typeface="맑은 고딕"/>
              </a:rPr>
              <a:t>지정 이후의 지원 배분은 공개 지표로 설명되는가?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00" b="0">
                <a:solidFill>
                  <a:srgbClr val="1C1C1E"/>
                </a:solidFill>
                <a:latin typeface="맑은 고딕"/>
                <a:ea typeface="맑은 고딕"/>
              </a:rPr>
              <a:t>등급·취약도·수요 중 무엇이 선정을 갈랐는가?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337560"/>
            <a:ext cx="5532120" cy="1737360"/>
          </a:xfrm>
          <a:prstGeom prst="roundRect">
            <a:avLst>
              <a:gd name="adj" fmla="val 473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1927" y="3566160"/>
            <a:ext cx="82296" cy="1280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3502152"/>
            <a:ext cx="5074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33393F"/>
                </a:solidFill>
                <a:latin typeface="맑은 고딕"/>
                <a:ea typeface="맑은 고딕"/>
              </a:rPr>
              <a:t>RQ4 · 처방과 대조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00" b="0">
                <a:solidFill>
                  <a:srgbClr val="1C1C1E"/>
                </a:solidFill>
                <a:latin typeface="맑은 고딕"/>
                <a:ea typeface="맑은 고딕"/>
              </a:rPr>
              <a:t>정부가 이미 정한 기준만 조합해 배분 규칙을 만들면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00" b="0">
                <a:solidFill>
                  <a:srgbClr val="1C1C1E"/>
                </a:solidFill>
                <a:latin typeface="맑은 고딕"/>
                <a:ea typeface="맑은 고딕"/>
              </a:rPr>
              <a:t>현행 배분과 어디가 어긋나는가?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4406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250" b="1">
                <a:solidFill>
                  <a:srgbClr val="1C1C1E"/>
                </a:solidFill>
                <a:latin typeface="맑은 고딕"/>
                <a:ea typeface="맑은 고딕"/>
              </a:rPr>
              <a:t>RQ1·2는 "지정 감사", RQ3·4는 "배분 감사·처방"으로 묶여 제도 파이프라인 전체를 관통한다.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00" b="0">
                <a:solidFill>
                  <a:srgbClr val="767A7F"/>
                </a:solidFill>
                <a:latin typeface="맑은 고딕"/>
                <a:ea typeface="맑은 고딕"/>
              </a:rPr>
              <a:t>각 질문은 판단 기준을 분석 전에 명시해(사전 등록 성격) 사후 해석 시비를 차단한다.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이론적 고찰 — 접근성의 두 축과 연구의 차별점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계획서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532120" cy="2286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99616"/>
            <a:ext cx="5166359" cy="2029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보건지리학의 표준 관점 (2SFCA 계열)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의료 접근성 = 공간 축 × 비공간 축의 결합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공간 축: 거리·이동시간 (얼마나 멀리 있는가)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비공간 축: 공급·수용력 (그곳에 의사가 있는가)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→ 가설: 현행 판정식은 공간 축만 계측할 것이다 — 데이터로 검증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532120" cy="2286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99616"/>
            <a:ext cx="5166359" cy="2029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분석 단위에 대한 원칙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분석 단위: 전국 시·군·구 250곳 (표본이 아닌 전수)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목적이 미지 표본 예측이 아니라 이미 내려진 판정·배분의 규칙 규명(감사)이므로 일반화 표집 논리와 구분해 설계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지역 단위 결론을 개인에게 적용하지 않는다(생태학적 오류 경계)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862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400" b="1">
                <a:solidFill>
                  <a:srgbClr val="33393F"/>
                </a:solidFill>
                <a:latin typeface="맑은 고딕"/>
                <a:ea typeface="맑은 고딕"/>
              </a:rPr>
              <a:t>선행 논의 대비 차별점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4297680"/>
          <a:ext cx="11292840" cy="190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/>
                <a:gridCol w="6537960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기존 접근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본 연구의 계획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"취약지가 어디인가"를 찾는 현상 분석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"판정·배분 기준이 무엇을 놓치는가" — 제도 자체의 감사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추상적 정책 제언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정부 임계값만으로 구성한 재지정·우선순위 시뮬레이션과 표 산출물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성공한 분석만 보고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기각된 설계(군집 등)와 민감도까지 투명하게 공개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분석 대상 제도 — 판정 지표, 등급, 배분 관문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계획서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400" b="1">
                <a:solidFill>
                  <a:srgbClr val="33393F"/>
                </a:solidFill>
                <a:latin typeface="맑은 고딕"/>
                <a:ea typeface="맑은 고딕"/>
              </a:rPr>
              <a:t>판정 지표 2개 (사전 조사 결과)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09928"/>
          <a:ext cx="1129284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6675120"/>
                <a:gridCol w="178308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정의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성격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접근성취약인구비율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60분 내 분만가능기관에 도달 불가능한 가임인구 비율 (GIS 계산)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이론값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기준시간내 의료이용률(TRI)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실제 분만 중 이동시간 60분 내 기관 이용 비율 (건보 청구 기반)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행태 실측값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32918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400" b="1">
                <a:solidFill>
                  <a:srgbClr val="33393F"/>
                </a:solidFill>
                <a:latin typeface="맑은 고딕"/>
                <a:ea typeface="맑은 고딕"/>
              </a:rPr>
              <a:t>등급 체계와 배분 절차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03320"/>
            <a:ext cx="5532120" cy="192024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831335"/>
            <a:ext cx="5166359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A·B·C 등급 (공고 제2026-144호, 108곳)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A: 두 지표 모두 취약 (32곳) / B: 하나만 취약 (21곳)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C: 배경인구 미달 또는 분만 지원 기수령 (55곳)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C는 취약도 서열이 아니라 자격표 성격 — "지원받으면 C가 되는" 정의 구조를 분석 설계에 반영해야 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703320"/>
            <a:ext cx="5532120" cy="192024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831335"/>
            <a:ext cx="5166359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배분의 4단계 관문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병원 신청 → 시·군 1곳 선정 → 시·도 선별 → 복지부 심사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심사 100점 = 정량 20 + 정성 80, 취약도 항목 0점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병원이 신청하지 않으면 등급이 있어도 지원 없음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→ "올해 누구 차례인가"를 정하는 규칙의 부재가 쟁점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8521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0">
                <a:solidFill>
                  <a:srgbClr val="767A7F"/>
                </a:solidFill>
                <a:latin typeface="맑은 고딕"/>
                <a:ea typeface="맑은 고딕"/>
              </a:rPr>
              <a:t>이 제도 사실들은 모두 공개 문서(고시·공고·지침)에서 확인했으며, 분석의 판단 기준으로만 사용한다.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데이터 수집 계획 — 전량 공개 자료, 승인 불요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계획서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292840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4709160"/>
                <a:gridCol w="3017520"/>
              </a:tblGrid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원천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확보 방법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헬스맵 공공보건의료 데이터셋 9종 (국립중앙의료원, 2023)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판정지표·인구·분만건수·기관정보·환자 유출입 약 226만 행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공공데이터포털 15154171 (로그인·승인 불요)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복지부 공고 제2026-144호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분만취약지 108곳 등급표 + 기지원 표시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PDF 표를 직접 전사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분만취약지 지원사업 안내 (343쪽)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판정 임계값·선정 절차·배점표·사업 유형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정부 공개 지침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8862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400" b="1">
                <a:solidFill>
                  <a:srgbClr val="33393F"/>
                </a:solidFill>
                <a:latin typeface="맑은 고딕"/>
                <a:ea typeface="맑은 고딕"/>
              </a:rPr>
              <a:t>직접 구축할 파생 데이터 3종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2976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425696"/>
            <a:ext cx="3246120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D1 · 등급-지원 데이터셋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PDF 공고 표를 전사하고 합계 검증 코드(assert)로 전사 오류를 자동 차단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42976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425696"/>
            <a:ext cx="3246120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D2 · 관내 분만 수행량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유출입 자료를 기관 소재지 기준으로 합산해 "그 지역 병원이 받은 분만"을 추정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42976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4425696"/>
            <a:ext cx="3246120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D3 · 미충족 분만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분만건수 × (1−TRI/100): 기준시간 밖에서 이뤄진 출산 규모(부담 축 지표)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4360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00" b="1">
                <a:solidFill>
                  <a:srgbClr val="1C1C1E"/>
                </a:solidFill>
                <a:latin typeface="맑은 고딕"/>
                <a:ea typeface="맑은 고딕"/>
              </a:rPr>
              <a:t>원칙: 로그인이 필요하거나 재현 불가능한 자료는 쓰지 않는다 — 누구나 같은 결과를 재현할 수 있어야 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전처리·품질 관리 계획 — 예상 함정과 대응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계획서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29284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0"/>
                <a:gridCol w="6263640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예상 함정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대응 계획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유출입 자료의 방향(출발/도착) 정의가 문서에 없음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행·열 합계와 "병원 없는 지역" 교차 대조로 방향을 확정한 뒤 사용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수요(주민이 낳은 수)와 공급(병원이 받은 수)의 혼동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두 개념을 변수명부터 분리하고, 파생 지표 정의를 문서화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동명 시군구(강원/경남 고성군 등)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(시도, 시군구) 복합키를 전 구간에 강제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행정구역 변동(군위군 대구 편입 등)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기준 시점을 정해 정규화하고 변동 이력을 기록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결측·전면 누락 지표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전 지표 결측 감사 후 배제 목록과 사유를 보고서에 남김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480560"/>
            <a:ext cx="11292840" cy="1600200"/>
          </a:xfrm>
          <a:prstGeom prst="roundRect">
            <a:avLst>
              <a:gd name="adj" fmla="val 5142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608576"/>
            <a:ext cx="1092708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품질 게이트 (통과해야 분석 단계로 진행)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보고서의 모든 수치는 스크립트 재실행으로 재현되어야 한다 (수기 계산 금지)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직접 구축 지표(D2 등)는 공식 통계와 상관·오차를 대조하는 이중 검증을 통과해야 한다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전사 데이터(D1)는 공고의 등급별 합계와 자동 대조(assert)한다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분석 설계 ① 지정 감사 (RQ1·RQ2)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>
                <a:solidFill>
                  <a:srgbClr val="767A7F"/>
                </a:solidFill>
                <a:latin typeface="맑은 고딕"/>
                <a:ea typeface="맑은 고딕"/>
              </a:rPr>
              <a:t>공표된 규칙을 그대로 재계산해 실제와 대조한다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계획서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65376"/>
            <a:ext cx="3246120" cy="2395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50" b="1">
                <a:solidFill>
                  <a:srgbClr val="33393F"/>
                </a:solidFill>
                <a:latin typeface="맑은 고딕"/>
                <a:ea typeface="맑은 고딕"/>
              </a:rPr>
              <a:t>1단계 · 판정식 검증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공표 임계값(접근성·TRI 30/30 등)으로 전 지역을 재판정하고 실제 지정 결과와 대조한다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일치율과 불일치 사례를 모두 보고한다 — 불일치는 오류가 아니라 행정 층의 증거로 해석할 계획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3736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865376"/>
            <a:ext cx="3246120" cy="2395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50" b="1">
                <a:solidFill>
                  <a:srgbClr val="33393F"/>
                </a:solidFill>
                <a:latin typeface="맑은 고딕"/>
                <a:ea typeface="맑은 고딕"/>
              </a:rPr>
              <a:t>2단계 · 공급 반영 검정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로지스틱 회귀(5-겹 교차검증)로 판정을 예측하고, 공급 변수(전문의 수 등)를 추가했을 때 판별력(AUC)이 개선되는지 본다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개선이 없다면 판정이 공급을 보지 않는다는 증거다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73736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865376"/>
            <a:ext cx="3246120" cy="2395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50" b="1">
                <a:solidFill>
                  <a:srgbClr val="33393F"/>
                </a:solidFill>
                <a:latin typeface="맑은 고딕"/>
                <a:ea typeface="맑은 고딕"/>
              </a:rPr>
              <a:t>3단계 · 사각지대 탐지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"거리 기준 통과 ∧ 관내 공급 공백 ∧ 관내 이용 0"의 3중 기준을 사전 정의하고 해당 지역을 탐지한다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중증 이송 반론은 동급 병원 유출 분리로, 선호 원정 반론은 관내 선택지 유무로 통제한다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663440"/>
            <a:ext cx="112928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791455"/>
            <a:ext cx="10927080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판단 기준의 사전 명시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무엇을 "재현 성공"으로, 무엇을 "사각지대"로 볼지의 기준을 분석 전에 확정해 보고서에 명시한다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반대 해석(예: "옆 도시로 가면 되지 않는가")을 본문에서 정면으로 다루는 섹션을 계획에 포함한다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분석 설계 ② 배분 진단 (RQ3)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>
                <a:solidFill>
                  <a:srgbClr val="767A7F"/>
                </a:solidFill>
                <a:latin typeface="맑은 고딕"/>
                <a:ea typeface="맑은 고딕"/>
              </a:rPr>
              <a:t>작은 표본의 관행을 지키는 검정 사다리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계획서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112928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65376"/>
            <a:ext cx="1092708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설계 원칙 — C등급 제외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C의 정의에 "지원 기수령"이 포함되어, 지원받으면 C가 되는 순환 구조가 있다 — 종속변수가 집단 정의에 새어드는 셈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이 누출을 막기 위해 실질 취약지 A·B만으로 배분을 분석한다 (제외 논리 자체를 보고서에 기록)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54680"/>
            <a:ext cx="2286000" cy="6858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2A2E33"/>
              </a:gs>
              <a:gs pos="100000">
                <a:srgbClr val="4A4F55"/>
              </a:gs>
            </a:gsLst>
            <a:lin scaled="0" ang="14700000"/>
          </a:gradFill>
          <a:ln>
            <a:noFill/>
          </a:ln>
          <a:effectLst>
            <a:outerShdw blurRad="182880" dist="64008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27832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①  분할표 검정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3154680"/>
            <a:ext cx="88696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3227832"/>
            <a:ext cx="8549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A·B 등급과 지원 여부의 연관을 Fisher 정확검정으로 확인 (작은 표에 적합)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23360"/>
            <a:ext cx="2286000" cy="6858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2A2E33"/>
              </a:gs>
              <a:gs pos="100000">
                <a:srgbClr val="4A4F55"/>
              </a:gs>
            </a:gsLst>
            <a:lin scaled="0" ang="14700000"/>
          </a:gradFill>
          <a:ln>
            <a:noFill/>
          </a:ln>
          <a:effectLst>
            <a:outerShdw blurRad="182880" dist="64008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96512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②  변수별 비교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4023360"/>
            <a:ext cx="88696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4096512"/>
            <a:ext cx="8549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지원/미지원 집단의 지표 차이를 Mann-Whitney U로 검정하고, 다중비교는 BH 보정으로 통제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892040"/>
            <a:ext cx="2286000" cy="6858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2A2E33"/>
              </a:gs>
              <a:gs pos="100000">
                <a:srgbClr val="4A4F55"/>
              </a:gs>
            </a:gsLst>
            <a:lin scaled="0" ang="14700000"/>
          </a:gradFill>
          <a:ln>
            <a:noFill/>
          </a:ln>
          <a:effectLst>
            <a:outerShdw blurRad="182880" dist="64008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65192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③  다변량 모형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4892040"/>
            <a:ext cx="88696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4965192"/>
            <a:ext cx="8549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사건 수 대비 변수 수 관행(EPV)을 지켜 소수 변수 로지스틱 + 우도비검정 + 부트스트랩 부호 일관성으로 판단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9788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767A7F"/>
                </a:solidFill>
                <a:latin typeface="맑은 고딕"/>
                <a:ea typeface="맑은 고딕"/>
              </a:rPr>
              <a:t>보고 원칙: "유의하지 않음"을 "효과 없음"으로 쓰지 않는다 — 표본이 작아 식별 불가일 수 있음을 명시하고,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0">
                <a:solidFill>
                  <a:srgbClr val="767A7F"/>
                </a:solidFill>
                <a:latin typeface="맑은 고딕"/>
                <a:ea typeface="맑은 고딕"/>
              </a:rPr>
              <a:t>개별 p값보다 방향의 안정성(부트스트랩)과 모형 설명력을 함께 제시한다.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분석 설계 ③ 처방 — 우선순위·유형 배정 모형 (RQ4)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>
                <a:solidFill>
                  <a:srgbClr val="767A7F"/>
                </a:solidFill>
                <a:latin typeface="맑은 고딕"/>
                <a:ea typeface="맑은 고딕"/>
              </a:rPr>
              <a:t>새 기준을 만들지 않는다: 정부 문서의 임계값만 조합한다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계획서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553212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65376"/>
            <a:ext cx="5166359" cy="1801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우선순위 — 두 관점을 병렬 제시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심도 축: 취약이 가장 깊은 곳 먼저 — 객관 가중(엔트로피·CRITIC) + TOPSIS 종합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부담 축: 영향 인원이 큰 곳 먼저 — 미충족 분만 규모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두 축을 평균해 합성하지 않는다 — 가치 선택을 가리는 대신 병렬로 드러내는 것이 목적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37360"/>
            <a:ext cx="553212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65376"/>
            <a:ext cx="5166359" cy="1801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유형 배정 — 규칙 기반 (머신러닝 아님)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관내 수행·인구·수요·접근성의 정부 임계값만으로 설치/운영지원/외래/순회 4유형을 규칙 배정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학습이 없어 과적합·라벨 누수 논쟁에서 자유롭고, 모든 판정이 문서의 숫자로 소급 가능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023360"/>
            <a:ext cx="112928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151376"/>
            <a:ext cx="10927080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검증 계획 — 모형을 스스로 공격한다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외부 검증: 공고의 순회진료 대상 목록과 본 규칙의 판정을 교차 대조한다 (일치·불일치 모두 보고)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민감도 분석: 차용한 임계값을 변화시켜 결과가 얼마나 흔들리는지 공개한다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강건성 분석: 가중법을 바꿔(엔트로피/CRITIC/동일 가중) 순위가 유지되는지 확인한다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실패한 설계(예: 군집분석이 부적합하면 기각 사유)도 은폐하지 않고 보고서에 남긴다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기대 산출물과 활용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계획서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99616"/>
            <a:ext cx="3246120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보고서·시각화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통합 결과보고서 (지정 감사 + 배분 진단·처방)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그림: 심도-부담 산점도, 등급별 지원율, 유형 배정 교차표, 전국 불일치 지도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99616"/>
            <a:ext cx="3246120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표 산출물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전국 우선순위표 (지역×순위×권고유형×근거)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시·도별 우선순위표 — 배분 심사가 시·도 단위이므로 실무에 바로 쓰이는 형태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3716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499616"/>
            <a:ext cx="3246120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정책 제언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지정: 공급 공백형 트랙 / 지표: 관내·관외 병기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배분: 부담 축 병기, 표준 우선순위표 제공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— 모두 예산 증액 없이 가능한 방향으로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118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400" b="1">
                <a:solidFill>
                  <a:srgbClr val="33393F"/>
                </a:solidFill>
                <a:latin typeface="맑은 고딕"/>
                <a:ea typeface="맑은 고딕"/>
              </a:rPr>
              <a:t>평가 기준 대응 계획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4023360"/>
          <a:ext cx="1129284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800100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평가 항목 (배점)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본 계획의 대응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계획 수립·이론적 고찰 (30)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제도 파이프라인 문제화, RQ 4개, 접근성 2축 이론, 사전 명시된 판단 기준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수집·전처리·EDA (30)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공개 데이터 226만 행 + 정부 문서, 파생 3종 구축, 함정 대응·품질 게이트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데이터 분석 (20)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검증-진단-처방의 3단 설계, 작은 표본 관행 준수, 민감도·강건성·외부 검증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창의성·완성도 (20)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제도 전 과정 감사 프레임, 두 관점 병렬 제시, 실패 설계 공개, 전 수치 재현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추진 일정과 역할 분담 (2인)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계획서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29284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6812280"/>
                <a:gridCol w="2560320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기간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할 일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산출물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7월 하순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주제 탐색·후보 검증, 데이터 실물 확인(확보 가능성 전수 점검)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주제 확정 기록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8월 1주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데이터 수집·전처리, 파생 데이터 구축과 이중 검증, EDA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정제 데이터·EDA 노트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8월 2주 전반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지정 감사(판정식 검증·사각지대) + 배분 진단(검정 사다리)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분석 스크립트·로그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8월 2주 후반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처방 모형(우선순위·유형 배정)과 검증, 통합 결과보고서·그림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결과보고서·그림·표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8/11 ~ 8/13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계획서·결과보고서 PPT, 시연 영상(5분), 소스·데이터 패키징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제출물 일체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8/14 (금)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최종 점검 후 17:00 전 USB 방문 제출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892040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020055"/>
            <a:ext cx="5166359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대표자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지정 감사 설계·수행, 지도 시각화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통합 보고서 작성, 계획서·결과 PPT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892040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5020055"/>
            <a:ext cx="5166359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팀원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배분 진단·처방 모형 설계·수행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그림 제작, 분석 재현성 검증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