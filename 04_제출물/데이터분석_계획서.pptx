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48" y="3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The image depicts a serene landscape with a lone tree amidst a snowy, clear sky.&#10;&#10;AI 생성 콘텐츠는 정확하지 않을 수 있습니다.">
            <a:extLst>
              <a:ext uri="{FF2B5EF4-FFF2-40B4-BE49-F238E27FC236}">
                <a16:creationId xmlns:a16="http://schemas.microsoft.com/office/drawing/2014/main" id="{40744C8F-A648-34F1-B8FF-B02F03987F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0204" y="444829"/>
            <a:ext cx="2055579" cy="207299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Rounded Rectangle 2"/>
          <p:cNvSpPr/>
          <p:nvPr/>
        </p:nvSpPr>
        <p:spPr>
          <a:xfrm>
            <a:off x="914400" y="1207008"/>
            <a:ext cx="502920" cy="12801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A3F45"/>
              </a:gs>
              <a:gs pos="100000">
                <a:srgbClr val="73787E"/>
              </a:gs>
            </a:gsLst>
            <a:lin ang="18900000" scaled="0"/>
          </a:gradFill>
          <a:ln>
            <a:noFill/>
          </a:ln>
          <a:effectLst>
            <a:outerShdw blurRad="109728" dist="36576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481328"/>
            <a:ext cx="8467344" cy="1764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1500"/>
              </a:spcAft>
            </a:pPr>
            <a:r>
              <a:rPr sz="1450" b="0">
                <a:solidFill>
                  <a:srgbClr val="767A7F"/>
                </a:solidFill>
                <a:latin typeface="맑은 고딕"/>
                <a:ea typeface="맑은 고딕"/>
              </a:rPr>
              <a:t>데이터 분석 계획서</a:t>
            </a:r>
          </a:p>
          <a:p>
            <a:pPr>
              <a:lnSpc>
                <a:spcPct val="114000"/>
              </a:lnSpc>
              <a:spcAft>
                <a:spcPts val="800"/>
              </a:spcAft>
            </a:pPr>
            <a:r>
              <a:rPr sz="4700" b="1">
                <a:solidFill>
                  <a:srgbClr val="1C1C1E"/>
                </a:solidFill>
                <a:latin typeface="맑은 고딕"/>
                <a:ea typeface="맑은 고딕"/>
              </a:rPr>
              <a:t>분만취약지 지원제도 개선안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900" b="0">
                <a:solidFill>
                  <a:srgbClr val="33393F"/>
                </a:solidFill>
                <a:latin typeface="맑은 고딕"/>
                <a:ea typeface="맑은 고딕"/>
              </a:rPr>
              <a:t>분만취약지 지원 제도의 모든 절차 속 데이터 감사와 개선된 분석 모형 제안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5362956"/>
            <a:ext cx="5852160" cy="27432"/>
          </a:xfrm>
          <a:prstGeom prst="rect">
            <a:avLst/>
          </a:prstGeom>
          <a:gradFill rotWithShape="1">
            <a:gsLst>
              <a:gs pos="0">
                <a:srgbClr val="2A2E33"/>
              </a:gs>
              <a:gs pos="100000">
                <a:srgbClr val="FFFFFF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5655564"/>
            <a:ext cx="6949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350" b="1" dirty="0">
                <a:solidFill>
                  <a:srgbClr val="1C1C1E"/>
                </a:solidFill>
                <a:latin typeface="맑은 고딕"/>
                <a:ea typeface="맑은 고딕"/>
              </a:rPr>
              <a:t>2026 제5회 </a:t>
            </a:r>
            <a:r>
              <a:rPr sz="1350" b="1" dirty="0" err="1">
                <a:solidFill>
                  <a:srgbClr val="1C1C1E"/>
                </a:solidFill>
                <a:latin typeface="맑은 고딕"/>
                <a:ea typeface="맑은 고딕"/>
              </a:rPr>
              <a:t>명지대학교</a:t>
            </a:r>
            <a:r>
              <a:rPr sz="1350" b="1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350" b="1" dirty="0" err="1">
                <a:solidFill>
                  <a:srgbClr val="1C1C1E"/>
                </a:solidFill>
                <a:latin typeface="맑은 고딕"/>
                <a:ea typeface="맑은 고딕"/>
              </a:rPr>
              <a:t>창의적</a:t>
            </a:r>
            <a:r>
              <a:rPr sz="1350" b="1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350" b="1" dirty="0" err="1">
                <a:solidFill>
                  <a:srgbClr val="1C1C1E"/>
                </a:solidFill>
                <a:latin typeface="맑은 고딕"/>
                <a:ea typeface="맑은 고딕"/>
              </a:rPr>
              <a:t>SW프로그램</a:t>
            </a:r>
            <a:r>
              <a:rPr sz="1350" b="1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350" b="1" dirty="0" err="1">
                <a:solidFill>
                  <a:srgbClr val="1C1C1E"/>
                </a:solidFill>
                <a:latin typeface="맑은 고딕"/>
                <a:ea typeface="맑은 고딕"/>
              </a:rPr>
              <a:t>경진대회</a:t>
            </a:r>
            <a:r>
              <a:rPr sz="1350" b="1" dirty="0">
                <a:solidFill>
                  <a:srgbClr val="1C1C1E"/>
                </a:solidFill>
                <a:latin typeface="맑은 고딕"/>
                <a:ea typeface="맑은 고딕"/>
              </a:rPr>
              <a:t> · </a:t>
            </a:r>
            <a:r>
              <a:rPr sz="1350" b="1" dirty="0" err="1">
                <a:solidFill>
                  <a:srgbClr val="1C1C1E"/>
                </a:solidFill>
                <a:latin typeface="맑은 고딕"/>
                <a:ea typeface="맑은 고딕"/>
              </a:rPr>
              <a:t>빅데이터</a:t>
            </a:r>
            <a:r>
              <a:rPr sz="1350" b="1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350" b="1" dirty="0" err="1">
                <a:solidFill>
                  <a:srgbClr val="1C1C1E"/>
                </a:solidFill>
                <a:latin typeface="맑은 고딕"/>
                <a:ea typeface="맑은 고딕"/>
              </a:rPr>
              <a:t>분석</a:t>
            </a:r>
            <a:r>
              <a:rPr sz="1350" b="1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350" b="1" dirty="0" err="1">
                <a:solidFill>
                  <a:srgbClr val="1C1C1E"/>
                </a:solidFill>
                <a:latin typeface="맑은 고딕"/>
                <a:ea typeface="맑은 고딕"/>
              </a:rPr>
              <a:t>부문</a:t>
            </a:r>
            <a:endParaRPr sz="1350" b="1" dirty="0">
              <a:solidFill>
                <a:srgbClr val="1C1C1E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310896" cy="31089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A3F45"/>
              </a:gs>
              <a:gs pos="100000">
                <a:srgbClr val="73787E"/>
              </a:gs>
            </a:gsLst>
            <a:lin ang="18900000" scaled="0"/>
          </a:gradFill>
          <a:ln>
            <a:noFill/>
          </a:ln>
          <a:effectLst>
            <a:outerShdw blurRad="109728" dist="36576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96926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2150" b="1">
                <a:solidFill>
                  <a:srgbClr val="1C1C1E"/>
                </a:solidFill>
                <a:latin typeface="맑은 고딕"/>
                <a:ea typeface="맑은 고딕"/>
              </a:rPr>
              <a:t>목차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969264"/>
            <a:ext cx="4206240" cy="27432"/>
          </a:xfrm>
          <a:prstGeom prst="rect">
            <a:avLst/>
          </a:prstGeom>
          <a:gradFill rotWithShape="1">
            <a:gsLst>
              <a:gs pos="0">
                <a:srgbClr val="2A2E33"/>
              </a:gs>
              <a:gs pos="100000">
                <a:srgbClr val="FFFFFF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850" b="0">
                <a:solidFill>
                  <a:srgbClr val="B2B5B9"/>
                </a:solidFill>
                <a:latin typeface="맑은 고딕"/>
                <a:ea typeface="맑은 고딕"/>
              </a:rPr>
              <a:t>2026 명지대학교 창의적 SW프로그램 경진대회 · 빅데이터 분석 — 데이터 분석 계획서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5532120" cy="1499616"/>
          </a:xfrm>
          <a:prstGeom prst="roundRect">
            <a:avLst>
              <a:gd name="adj" fmla="val 5487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444752"/>
            <a:ext cx="5166360" cy="1005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1350" b="1" dirty="0">
                <a:solidFill>
                  <a:srgbClr val="33393F"/>
                </a:solidFill>
                <a:latin typeface="맑은 고딕"/>
                <a:ea typeface="맑은 고딕"/>
              </a:rPr>
              <a:t>Ⅰ. </a:t>
            </a:r>
            <a:r>
              <a:rPr sz="1350" b="1" dirty="0" err="1">
                <a:solidFill>
                  <a:srgbClr val="33393F"/>
                </a:solidFill>
                <a:latin typeface="맑은 고딕"/>
                <a:ea typeface="맑은 고딕"/>
              </a:rPr>
              <a:t>문제</a:t>
            </a:r>
            <a:r>
              <a:rPr sz="1350" b="1" dirty="0">
                <a:solidFill>
                  <a:srgbClr val="33393F"/>
                </a:solidFill>
                <a:latin typeface="맑은 고딕"/>
                <a:ea typeface="맑은 고딕"/>
              </a:rPr>
              <a:t> </a:t>
            </a:r>
            <a:r>
              <a:rPr sz="1350" b="1" dirty="0" err="1">
                <a:solidFill>
                  <a:srgbClr val="33393F"/>
                </a:solidFill>
                <a:latin typeface="맑은 고딕"/>
                <a:ea typeface="맑은 고딕"/>
              </a:rPr>
              <a:t>정의</a:t>
            </a:r>
            <a:endParaRPr sz="1350" b="1" dirty="0">
              <a:solidFill>
                <a:srgbClr val="33393F"/>
              </a:solidFill>
              <a:latin typeface="맑은 고딕"/>
              <a:ea typeface="맑은 고딕"/>
            </a:endParaRPr>
          </a:p>
          <a:p>
            <a:pPr>
              <a:lnSpc>
                <a:spcPct val="114000"/>
              </a:lnSpc>
              <a:spcAft>
                <a:spcPts val="150"/>
              </a:spcAft>
            </a:pP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03  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아이디어의</a:t>
            </a: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발단</a:t>
            </a:r>
            <a:endParaRPr sz="1150" b="0" dirty="0">
              <a:solidFill>
                <a:srgbClr val="1C1C1E"/>
              </a:solidFill>
              <a:latin typeface="맑은 고딕"/>
              <a:ea typeface="맑은 고딕"/>
            </a:endParaRPr>
          </a:p>
          <a:p>
            <a:pPr>
              <a:lnSpc>
                <a:spcPct val="114000"/>
              </a:lnSpc>
              <a:spcAft>
                <a:spcPts val="150"/>
              </a:spcAft>
            </a:pP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04  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문제</a:t>
            </a: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인식</a:t>
            </a: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 — 세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단계</a:t>
            </a: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파이프라인</a:t>
            </a:r>
            <a:endParaRPr sz="1150" b="0" dirty="0">
              <a:solidFill>
                <a:srgbClr val="1C1C1E"/>
              </a:solidFill>
              <a:latin typeface="맑은 고딕"/>
              <a:ea typeface="맑은 고딕"/>
            </a:endParaRPr>
          </a:p>
          <a:p>
            <a:pPr>
              <a:lnSpc>
                <a:spcPct val="114000"/>
              </a:lnSpc>
              <a:spcAft>
                <a:spcPts val="150"/>
              </a:spcAft>
            </a:pP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05   </a:t>
            </a:r>
            <a:r>
              <a:rPr lang="ko-KR" altLang="en-US" sz="1150" b="0" dirty="0">
                <a:solidFill>
                  <a:srgbClr val="1C1C1E"/>
                </a:solidFill>
                <a:latin typeface="맑은 고딕"/>
                <a:ea typeface="맑은 고딕"/>
              </a:rPr>
              <a:t>검증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질문</a:t>
            </a:r>
            <a:r>
              <a:rPr lang="en-US" sz="1150" b="0" dirty="0">
                <a:solidFill>
                  <a:srgbClr val="1C1C1E"/>
                </a:solidFill>
                <a:latin typeface="맑은 고딕"/>
                <a:ea typeface="맑은 고딕"/>
              </a:rPr>
              <a:t> 4</a:t>
            </a:r>
            <a:r>
              <a:rPr lang="ko-KR" altLang="en-US" sz="1150" b="0" dirty="0">
                <a:solidFill>
                  <a:srgbClr val="1C1C1E"/>
                </a:solidFill>
                <a:latin typeface="맑은 고딕"/>
                <a:ea typeface="맑은 고딕"/>
              </a:rPr>
              <a:t>가지</a:t>
            </a:r>
            <a:endParaRPr sz="1150" b="0" dirty="0">
              <a:solidFill>
                <a:srgbClr val="1C1C1E"/>
              </a:solidFill>
              <a:latin typeface="맑은 고딕"/>
              <a:ea typeface="맑은 고딕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2920" y="3026663"/>
            <a:ext cx="5532120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3145535"/>
            <a:ext cx="5166360" cy="77854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1350" b="1" dirty="0">
                <a:solidFill>
                  <a:srgbClr val="33393F"/>
                </a:solidFill>
                <a:latin typeface="맑은 고딕"/>
                <a:ea typeface="맑은 고딕"/>
              </a:rPr>
              <a:t>Ⅱ. </a:t>
            </a:r>
            <a:r>
              <a:rPr sz="1350" b="1" dirty="0" err="1">
                <a:solidFill>
                  <a:srgbClr val="33393F"/>
                </a:solidFill>
                <a:latin typeface="맑은 고딕"/>
                <a:ea typeface="맑은 고딕"/>
              </a:rPr>
              <a:t>배경</a:t>
            </a:r>
            <a:r>
              <a:rPr sz="1350" b="1" dirty="0">
                <a:solidFill>
                  <a:srgbClr val="33393F"/>
                </a:solidFill>
                <a:latin typeface="맑은 고딕"/>
                <a:ea typeface="맑은 고딕"/>
              </a:rPr>
              <a:t> </a:t>
            </a:r>
            <a:r>
              <a:rPr sz="1350" b="1" dirty="0" err="1">
                <a:solidFill>
                  <a:srgbClr val="33393F"/>
                </a:solidFill>
                <a:latin typeface="맑은 고딕"/>
                <a:ea typeface="맑은 고딕"/>
              </a:rPr>
              <a:t>이해</a:t>
            </a:r>
            <a:endParaRPr sz="1350" b="1" dirty="0">
              <a:solidFill>
                <a:srgbClr val="33393F"/>
              </a:solidFill>
              <a:latin typeface="맑은 고딕"/>
              <a:ea typeface="맑은 고딕"/>
            </a:endParaRPr>
          </a:p>
          <a:p>
            <a:pPr>
              <a:lnSpc>
                <a:spcPct val="114000"/>
              </a:lnSpc>
              <a:spcAft>
                <a:spcPts val="150"/>
              </a:spcAft>
            </a:pP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06  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이론적</a:t>
            </a: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고찰</a:t>
            </a: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 —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접근성의</a:t>
            </a: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 두 축</a:t>
            </a:r>
          </a:p>
          <a:p>
            <a:pPr>
              <a:lnSpc>
                <a:spcPct val="114000"/>
              </a:lnSpc>
              <a:spcAft>
                <a:spcPts val="150"/>
              </a:spcAft>
            </a:pP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07  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분석</a:t>
            </a: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대상</a:t>
            </a: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제도</a:t>
            </a: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 —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지표·등급·배분</a:t>
            </a:r>
            <a:endParaRPr sz="1150" b="0" dirty="0">
              <a:solidFill>
                <a:srgbClr val="1C1C1E"/>
              </a:solidFill>
              <a:latin typeface="맑은 고딕"/>
              <a:ea typeface="맑은 고딕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02920" y="4453127"/>
            <a:ext cx="5532120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4571999"/>
            <a:ext cx="5166360" cy="77854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1350" b="1" dirty="0">
                <a:solidFill>
                  <a:srgbClr val="33393F"/>
                </a:solidFill>
                <a:latin typeface="맑은 고딕"/>
                <a:ea typeface="맑은 고딕"/>
              </a:rPr>
              <a:t>Ⅲ. </a:t>
            </a:r>
            <a:r>
              <a:rPr sz="1350" b="1" dirty="0" err="1">
                <a:solidFill>
                  <a:srgbClr val="33393F"/>
                </a:solidFill>
                <a:latin typeface="맑은 고딕"/>
                <a:ea typeface="맑은 고딕"/>
              </a:rPr>
              <a:t>데이터</a:t>
            </a:r>
            <a:r>
              <a:rPr sz="1350" b="1" dirty="0">
                <a:solidFill>
                  <a:srgbClr val="33393F"/>
                </a:solidFill>
                <a:latin typeface="맑은 고딕"/>
                <a:ea typeface="맑은 고딕"/>
              </a:rPr>
              <a:t> </a:t>
            </a:r>
            <a:r>
              <a:rPr sz="1350" b="1" dirty="0" err="1">
                <a:solidFill>
                  <a:srgbClr val="33393F"/>
                </a:solidFill>
                <a:latin typeface="맑은 고딕"/>
                <a:ea typeface="맑은 고딕"/>
              </a:rPr>
              <a:t>계획</a:t>
            </a:r>
            <a:endParaRPr sz="1350" b="1" dirty="0">
              <a:solidFill>
                <a:srgbClr val="33393F"/>
              </a:solidFill>
              <a:latin typeface="맑은 고딕"/>
              <a:ea typeface="맑은 고딕"/>
            </a:endParaRPr>
          </a:p>
          <a:p>
            <a:pPr>
              <a:lnSpc>
                <a:spcPct val="114000"/>
              </a:lnSpc>
              <a:spcAft>
                <a:spcPts val="150"/>
              </a:spcAft>
            </a:pP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08  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데이터</a:t>
            </a: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수집</a:t>
            </a: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계획</a:t>
            </a:r>
            <a:endParaRPr sz="1150" b="0" dirty="0">
              <a:solidFill>
                <a:srgbClr val="1C1C1E"/>
              </a:solidFill>
              <a:latin typeface="맑은 고딕"/>
              <a:ea typeface="맑은 고딕"/>
            </a:endParaRPr>
          </a:p>
          <a:p>
            <a:pPr>
              <a:lnSpc>
                <a:spcPct val="114000"/>
              </a:lnSpc>
              <a:spcAft>
                <a:spcPts val="150"/>
              </a:spcAft>
            </a:pP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09  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전처리·품질</a:t>
            </a: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관리</a:t>
            </a: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계획</a:t>
            </a:r>
            <a:endParaRPr sz="1150" b="0" dirty="0">
              <a:solidFill>
                <a:srgbClr val="1C1C1E"/>
              </a:solidFill>
              <a:latin typeface="맑은 고딕"/>
              <a:ea typeface="맑은 고딕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263640" y="1325880"/>
            <a:ext cx="5532120" cy="1499616"/>
          </a:xfrm>
          <a:prstGeom prst="roundRect">
            <a:avLst>
              <a:gd name="adj" fmla="val 5487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1444752"/>
            <a:ext cx="5166360" cy="1005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1350" b="1" dirty="0">
                <a:solidFill>
                  <a:srgbClr val="33393F"/>
                </a:solidFill>
                <a:latin typeface="맑은 고딕"/>
                <a:ea typeface="맑은 고딕"/>
              </a:rPr>
              <a:t>Ⅳ. </a:t>
            </a:r>
            <a:r>
              <a:rPr sz="1350" b="1" dirty="0" err="1">
                <a:solidFill>
                  <a:srgbClr val="33393F"/>
                </a:solidFill>
                <a:latin typeface="맑은 고딕"/>
                <a:ea typeface="맑은 고딕"/>
              </a:rPr>
              <a:t>분석</a:t>
            </a:r>
            <a:r>
              <a:rPr sz="1350" b="1" dirty="0">
                <a:solidFill>
                  <a:srgbClr val="33393F"/>
                </a:solidFill>
                <a:latin typeface="맑은 고딕"/>
                <a:ea typeface="맑은 고딕"/>
              </a:rPr>
              <a:t> </a:t>
            </a:r>
            <a:r>
              <a:rPr sz="1350" b="1" dirty="0" err="1">
                <a:solidFill>
                  <a:srgbClr val="33393F"/>
                </a:solidFill>
                <a:latin typeface="맑은 고딕"/>
                <a:ea typeface="맑은 고딕"/>
              </a:rPr>
              <a:t>설계</a:t>
            </a:r>
            <a:endParaRPr sz="1350" b="1" dirty="0">
              <a:solidFill>
                <a:srgbClr val="33393F"/>
              </a:solidFill>
              <a:latin typeface="맑은 고딕"/>
              <a:ea typeface="맑은 고딕"/>
            </a:endParaRPr>
          </a:p>
          <a:p>
            <a:pPr>
              <a:lnSpc>
                <a:spcPct val="114000"/>
              </a:lnSpc>
              <a:spcAft>
                <a:spcPts val="150"/>
              </a:spcAft>
            </a:pP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10   ①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지정</a:t>
            </a: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감사</a:t>
            </a: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 (RQ1·RQ2)</a:t>
            </a:r>
          </a:p>
          <a:p>
            <a:pPr>
              <a:lnSpc>
                <a:spcPct val="114000"/>
              </a:lnSpc>
              <a:spcAft>
                <a:spcPts val="150"/>
              </a:spcAft>
            </a:pP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11   ②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배분</a:t>
            </a: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진단</a:t>
            </a: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 (RQ3)</a:t>
            </a:r>
          </a:p>
          <a:p>
            <a:pPr>
              <a:lnSpc>
                <a:spcPct val="114000"/>
              </a:lnSpc>
              <a:spcAft>
                <a:spcPts val="150"/>
              </a:spcAft>
            </a:pP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12   ③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처방</a:t>
            </a: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모형</a:t>
            </a: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 (RQ4)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026663"/>
            <a:ext cx="5532120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3145535"/>
            <a:ext cx="5166360" cy="77854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1350" b="1" dirty="0">
                <a:solidFill>
                  <a:srgbClr val="33393F"/>
                </a:solidFill>
                <a:latin typeface="맑은 고딕"/>
                <a:ea typeface="맑은 고딕"/>
              </a:rPr>
              <a:t>Ⅴ. </a:t>
            </a:r>
            <a:r>
              <a:rPr sz="1350" b="1" dirty="0" err="1">
                <a:solidFill>
                  <a:srgbClr val="33393F"/>
                </a:solidFill>
                <a:latin typeface="맑은 고딕"/>
                <a:ea typeface="맑은 고딕"/>
              </a:rPr>
              <a:t>산출물과</a:t>
            </a:r>
            <a:r>
              <a:rPr sz="1350" b="1" dirty="0">
                <a:solidFill>
                  <a:srgbClr val="33393F"/>
                </a:solidFill>
                <a:latin typeface="맑은 고딕"/>
                <a:ea typeface="맑은 고딕"/>
              </a:rPr>
              <a:t> </a:t>
            </a:r>
            <a:r>
              <a:rPr sz="1350" b="1" dirty="0" err="1">
                <a:solidFill>
                  <a:srgbClr val="33393F"/>
                </a:solidFill>
                <a:latin typeface="맑은 고딕"/>
                <a:ea typeface="맑은 고딕"/>
              </a:rPr>
              <a:t>일정</a:t>
            </a:r>
            <a:endParaRPr sz="1350" b="1" dirty="0">
              <a:solidFill>
                <a:srgbClr val="33393F"/>
              </a:solidFill>
              <a:latin typeface="맑은 고딕"/>
              <a:ea typeface="맑은 고딕"/>
            </a:endParaRPr>
          </a:p>
          <a:p>
            <a:pPr>
              <a:lnSpc>
                <a:spcPct val="114000"/>
              </a:lnSpc>
              <a:spcAft>
                <a:spcPts val="150"/>
              </a:spcAft>
            </a:pP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13  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기대</a:t>
            </a: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산출물과</a:t>
            </a: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활용</a:t>
            </a: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계획</a:t>
            </a:r>
            <a:endParaRPr sz="1150" b="0" dirty="0">
              <a:solidFill>
                <a:srgbClr val="1C1C1E"/>
              </a:solidFill>
              <a:latin typeface="맑은 고딕"/>
              <a:ea typeface="맑은 고딕"/>
            </a:endParaRPr>
          </a:p>
          <a:p>
            <a:pPr>
              <a:lnSpc>
                <a:spcPct val="114000"/>
              </a:lnSpc>
              <a:spcAft>
                <a:spcPts val="150"/>
              </a:spcAft>
            </a:pP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14  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추진</a:t>
            </a: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일정과</a:t>
            </a: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역할</a:t>
            </a: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분담</a:t>
            </a:r>
            <a:endParaRPr sz="1150" b="0" dirty="0">
              <a:solidFill>
                <a:srgbClr val="1C1C1E"/>
              </a:solidFill>
              <a:latin typeface="맑은 고딕"/>
              <a:ea typeface="맑은 고딕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2920" y="6053328"/>
            <a:ext cx="11247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 b="1">
                <a:solidFill>
                  <a:srgbClr val="1C1C1E"/>
                </a:solidFill>
                <a:latin typeface="맑은 고딕"/>
                <a:ea typeface="맑은 고딕"/>
              </a:rPr>
              <a:t>본 계획서는 "왜·어떻게 할 것인가"를 다룬다. 실제 발견과 결과는 결과보고서에서 보고한다.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310896" cy="31089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A3F45"/>
              </a:gs>
              <a:gs pos="100000">
                <a:srgbClr val="73787E"/>
              </a:gs>
            </a:gsLst>
            <a:lin ang="18900000" scaled="0"/>
          </a:gradFill>
          <a:ln>
            <a:noFill/>
          </a:ln>
          <a:effectLst>
            <a:outerShdw blurRad="109728" dist="36576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399564"/>
            <a:ext cx="9692640" cy="435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2150" b="1" dirty="0" err="1">
                <a:solidFill>
                  <a:srgbClr val="1C1C1E"/>
                </a:solidFill>
                <a:latin typeface="맑은 고딕"/>
                <a:ea typeface="맑은 고딕"/>
              </a:rPr>
              <a:t>아이디어의</a:t>
            </a:r>
            <a:r>
              <a:rPr sz="2150" b="1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2150" b="1" dirty="0" err="1">
                <a:solidFill>
                  <a:srgbClr val="1C1C1E"/>
                </a:solidFill>
                <a:latin typeface="맑은 고딕"/>
                <a:ea typeface="맑은 고딕"/>
              </a:rPr>
              <a:t>발단</a:t>
            </a:r>
            <a:r>
              <a:rPr lang="ko-KR" altLang="en-US" sz="2150" b="1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lang="en-US" altLang="ko-KR" sz="2150" b="1" dirty="0">
                <a:solidFill>
                  <a:srgbClr val="1C1C1E"/>
                </a:solidFill>
                <a:latin typeface="맑은 고딕"/>
                <a:ea typeface="맑은 고딕"/>
              </a:rPr>
              <a:t>— </a:t>
            </a:r>
            <a:r>
              <a:rPr lang="ko-KR" altLang="en-US" sz="2150" b="1" dirty="0">
                <a:solidFill>
                  <a:srgbClr val="1C1C1E"/>
                </a:solidFill>
                <a:latin typeface="맑은 고딕"/>
                <a:ea typeface="맑은 고딕"/>
              </a:rPr>
              <a:t>의료 공급 부족의 원인은 오직 자원부족 때문인가</a:t>
            </a:r>
            <a:r>
              <a:rPr lang="en-US" altLang="ko-KR" sz="2150" b="1" dirty="0">
                <a:solidFill>
                  <a:srgbClr val="1C1C1E"/>
                </a:solidFill>
                <a:latin typeface="맑은 고딕"/>
                <a:ea typeface="맑은 고딕"/>
              </a:rPr>
              <a:t>?</a:t>
            </a:r>
            <a:endParaRPr sz="2150" b="1" dirty="0">
              <a:solidFill>
                <a:srgbClr val="1C1C1E"/>
              </a:solidFill>
              <a:latin typeface="맑은 고딕"/>
              <a:ea typeface="맑은 고딕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21207" y="969264"/>
            <a:ext cx="4206240" cy="27432"/>
          </a:xfrm>
          <a:prstGeom prst="rect">
            <a:avLst/>
          </a:prstGeom>
          <a:gradFill rotWithShape="1">
            <a:gsLst>
              <a:gs pos="0">
                <a:srgbClr val="2A2E33"/>
              </a:gs>
              <a:gs pos="100000">
                <a:srgbClr val="FFFFFF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35640" y="164592"/>
            <a:ext cx="1188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3000" b="1">
                <a:solidFill>
                  <a:srgbClr val="D8DADD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11155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250" b="0" dirty="0" err="1">
                <a:solidFill>
                  <a:srgbClr val="767A7F"/>
                </a:solidFill>
                <a:latin typeface="맑은 고딕"/>
                <a:ea typeface="맑은 고딕"/>
              </a:rPr>
              <a:t>부족</a:t>
            </a:r>
            <a:r>
              <a:rPr sz="1250" b="0" dirty="0">
                <a:solidFill>
                  <a:srgbClr val="767A7F"/>
                </a:solidFill>
                <a:latin typeface="맑은 고딕"/>
                <a:ea typeface="맑은 고딕"/>
              </a:rPr>
              <a:t>(㉠)과 </a:t>
            </a:r>
            <a:r>
              <a:rPr sz="1250" b="0" dirty="0" err="1">
                <a:solidFill>
                  <a:srgbClr val="767A7F"/>
                </a:solidFill>
                <a:latin typeface="맑은 고딕"/>
                <a:ea typeface="맑은 고딕"/>
              </a:rPr>
              <a:t>배분</a:t>
            </a:r>
            <a:r>
              <a:rPr sz="1250" b="0" dirty="0">
                <a:solidFill>
                  <a:srgbClr val="767A7F"/>
                </a:solidFill>
                <a:latin typeface="맑은 고딕"/>
                <a:ea typeface="맑은 고딕"/>
              </a:rPr>
              <a:t>(㉡)은 </a:t>
            </a:r>
            <a:r>
              <a:rPr sz="1250" b="0" dirty="0" err="1">
                <a:solidFill>
                  <a:srgbClr val="767A7F"/>
                </a:solidFill>
                <a:latin typeface="맑은 고딕"/>
                <a:ea typeface="맑은 고딕"/>
              </a:rPr>
              <a:t>다른</a:t>
            </a:r>
            <a:r>
              <a:rPr sz="1250" b="0" dirty="0">
                <a:solidFill>
                  <a:srgbClr val="767A7F"/>
                </a:solidFill>
                <a:latin typeface="맑은 고딕"/>
                <a:ea typeface="맑은 고딕"/>
              </a:rPr>
              <a:t> </a:t>
            </a:r>
            <a:r>
              <a:rPr sz="1250" b="0" dirty="0" err="1">
                <a:solidFill>
                  <a:srgbClr val="767A7F"/>
                </a:solidFill>
                <a:latin typeface="맑은 고딕"/>
                <a:ea typeface="맑은 고딕"/>
              </a:rPr>
              <a:t>문제이고</a:t>
            </a:r>
            <a:r>
              <a:rPr sz="1250" b="0" dirty="0">
                <a:solidFill>
                  <a:srgbClr val="767A7F"/>
                </a:solidFill>
                <a:latin typeface="맑은 고딕"/>
                <a:ea typeface="맑은 고딕"/>
              </a:rPr>
              <a:t> </a:t>
            </a:r>
            <a:r>
              <a:rPr sz="1250" b="0" dirty="0" err="1">
                <a:solidFill>
                  <a:srgbClr val="767A7F"/>
                </a:solidFill>
                <a:latin typeface="맑은 고딕"/>
                <a:ea typeface="맑은 고딕"/>
              </a:rPr>
              <a:t>해법도</a:t>
            </a:r>
            <a:r>
              <a:rPr sz="1250" b="0" dirty="0">
                <a:solidFill>
                  <a:srgbClr val="767A7F"/>
                </a:solidFill>
                <a:latin typeface="맑은 고딕"/>
                <a:ea typeface="맑은 고딕"/>
              </a:rPr>
              <a:t> </a:t>
            </a:r>
            <a:r>
              <a:rPr sz="1250" b="0" dirty="0" err="1">
                <a:solidFill>
                  <a:srgbClr val="767A7F"/>
                </a:solidFill>
                <a:latin typeface="맑은 고딕"/>
                <a:ea typeface="맑은 고딕"/>
              </a:rPr>
              <a:t>다르다</a:t>
            </a:r>
            <a:r>
              <a:rPr sz="1250" b="0" dirty="0">
                <a:solidFill>
                  <a:srgbClr val="767A7F"/>
                </a:solidFill>
                <a:latin typeface="맑은 고딕"/>
                <a:ea typeface="맑은 고딕"/>
              </a:rPr>
              <a:t> — 본 </a:t>
            </a:r>
            <a:r>
              <a:rPr sz="1250" b="0" dirty="0" err="1">
                <a:solidFill>
                  <a:srgbClr val="767A7F"/>
                </a:solidFill>
                <a:latin typeface="맑은 고딕"/>
                <a:ea typeface="맑은 고딕"/>
              </a:rPr>
              <a:t>계획은</a:t>
            </a:r>
            <a:r>
              <a:rPr sz="1250" b="0" dirty="0">
                <a:solidFill>
                  <a:srgbClr val="767A7F"/>
                </a:solidFill>
                <a:latin typeface="맑은 고딕"/>
                <a:ea typeface="맑은 고딕"/>
              </a:rPr>
              <a:t> ㉡을 </a:t>
            </a:r>
            <a:r>
              <a:rPr sz="1250" b="0" dirty="0" err="1">
                <a:solidFill>
                  <a:srgbClr val="767A7F"/>
                </a:solidFill>
                <a:latin typeface="맑은 고딕"/>
                <a:ea typeface="맑은 고딕"/>
              </a:rPr>
              <a:t>맡는다</a:t>
            </a:r>
            <a:endParaRPr sz="1250" b="0" dirty="0">
              <a:solidFill>
                <a:srgbClr val="767A7F"/>
              </a:solidFill>
              <a:latin typeface="맑은 고딕"/>
              <a:ea typeface="맑은 고딕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850" b="0">
                <a:solidFill>
                  <a:srgbClr val="B2B5B9"/>
                </a:solidFill>
                <a:latin typeface="맑은 고딕"/>
                <a:ea typeface="맑은 고딕"/>
              </a:rPr>
              <a:t>2026 명지대학교 창의적 SW프로그램 경진대회 · 빅데이터 분석 — 데이터 분석 계획서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499616"/>
            <a:ext cx="3246120" cy="1527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 dirty="0">
                <a:solidFill>
                  <a:srgbClr val="33393F"/>
                </a:solidFill>
                <a:latin typeface="맑은 고딕"/>
                <a:ea typeface="맑은 고딕"/>
              </a:rPr>
              <a:t>① </a:t>
            </a:r>
            <a:r>
              <a:rPr sz="1300" b="1" dirty="0" err="1">
                <a:solidFill>
                  <a:srgbClr val="33393F"/>
                </a:solidFill>
                <a:latin typeface="맑은 고딕"/>
                <a:ea typeface="맑은 고딕"/>
              </a:rPr>
              <a:t>여전히</a:t>
            </a:r>
            <a:r>
              <a:rPr sz="1300" b="1" dirty="0">
                <a:solidFill>
                  <a:srgbClr val="33393F"/>
                </a:solidFill>
                <a:latin typeface="맑은 고딕"/>
                <a:ea typeface="맑은 고딕"/>
              </a:rPr>
              <a:t> </a:t>
            </a:r>
            <a:r>
              <a:rPr sz="1300" b="1" dirty="0" err="1">
                <a:solidFill>
                  <a:srgbClr val="33393F"/>
                </a:solidFill>
                <a:latin typeface="맑은 고딕"/>
                <a:ea typeface="맑은 고딕"/>
              </a:rPr>
              <a:t>존재하는</a:t>
            </a:r>
            <a:r>
              <a:rPr sz="1300" b="1" dirty="0">
                <a:solidFill>
                  <a:srgbClr val="33393F"/>
                </a:solidFill>
                <a:latin typeface="맑은 고딕"/>
                <a:ea typeface="맑은 고딕"/>
              </a:rPr>
              <a:t> </a:t>
            </a:r>
            <a:r>
              <a:rPr sz="1300" b="1" dirty="0" err="1">
                <a:solidFill>
                  <a:srgbClr val="33393F"/>
                </a:solidFill>
                <a:latin typeface="맑은 고딕"/>
                <a:ea typeface="맑은 고딕"/>
              </a:rPr>
              <a:t>분만취약지</a:t>
            </a:r>
            <a:endParaRPr sz="1300" b="1" dirty="0">
              <a:solidFill>
                <a:srgbClr val="33393F"/>
              </a:solidFill>
              <a:latin typeface="맑은 고딕"/>
              <a:ea typeface="맑은 고딕"/>
            </a:endParaRP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• "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지방에</a:t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분만실이</a:t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없다</a:t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" — 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해마다</a:t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반복되는</a:t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기사</a:t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. 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처방도</a:t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 늘 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같다</a:t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: 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의사를</a:t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늘리고</a:t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병원을</a:t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지어라</a:t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. 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그리고</a:t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 이 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처방은</a:t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옳다</a:t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 — 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절대량이</a:t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모자란</a:t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것은</a:t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사실이다</a:t>
            </a:r>
            <a:endParaRPr sz="1100" b="0" dirty="0">
              <a:solidFill>
                <a:srgbClr val="1C1C1E"/>
              </a:solidFill>
              <a:latin typeface="맑은 고딕"/>
              <a:ea typeface="맑은 고딕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343400" y="1371600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1499616"/>
            <a:ext cx="3246120" cy="1527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 dirty="0">
                <a:solidFill>
                  <a:srgbClr val="33393F"/>
                </a:solidFill>
                <a:latin typeface="맑은 고딕"/>
                <a:ea typeface="맑은 고딕"/>
              </a:rPr>
              <a:t>② </a:t>
            </a:r>
            <a:r>
              <a:rPr sz="1300" b="1" dirty="0" err="1">
                <a:solidFill>
                  <a:srgbClr val="33393F"/>
                </a:solidFill>
                <a:latin typeface="맑은 고딕"/>
                <a:ea typeface="맑은 고딕"/>
              </a:rPr>
              <a:t>그런데</a:t>
            </a:r>
            <a:r>
              <a:rPr sz="1300" b="1" dirty="0">
                <a:solidFill>
                  <a:srgbClr val="33393F"/>
                </a:solidFill>
                <a:latin typeface="맑은 고딕"/>
                <a:ea typeface="맑은 고딕"/>
              </a:rPr>
              <a:t> </a:t>
            </a:r>
            <a:r>
              <a:rPr sz="1300" b="1" dirty="0" err="1">
                <a:solidFill>
                  <a:srgbClr val="33393F"/>
                </a:solidFill>
                <a:latin typeface="맑은 고딕"/>
                <a:ea typeface="맑은 고딕"/>
              </a:rPr>
              <a:t>원인이</a:t>
            </a:r>
            <a:r>
              <a:rPr sz="1300" b="1" dirty="0">
                <a:solidFill>
                  <a:srgbClr val="33393F"/>
                </a:solidFill>
                <a:latin typeface="맑은 고딕"/>
                <a:ea typeface="맑은 고딕"/>
              </a:rPr>
              <a:t> </a:t>
            </a:r>
            <a:r>
              <a:rPr sz="1300" b="1" dirty="0" err="1">
                <a:solidFill>
                  <a:srgbClr val="33393F"/>
                </a:solidFill>
                <a:latin typeface="맑은 고딕"/>
                <a:ea typeface="맑은 고딕"/>
              </a:rPr>
              <a:t>그것뿐인가</a:t>
            </a:r>
            <a:endParaRPr sz="1300" b="1" dirty="0">
              <a:solidFill>
                <a:srgbClr val="33393F"/>
              </a:solidFill>
              <a:latin typeface="맑은 고딕"/>
              <a:ea typeface="맑은 고딕"/>
            </a:endParaRP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• 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자원이</a:t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모자란</a:t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 것(㉠)과, 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있는</a:t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자원이</a:t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체계적으로</a:t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배분되지</a:t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않는</a:t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 것(㉡)은 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다른</a:t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문제다</a:t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. 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그리고</a:t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둘은</a:t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동시에</a:t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성립할</a:t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 수 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있다</a:t>
            </a:r>
            <a:endParaRPr sz="1100" b="0" dirty="0">
              <a:solidFill>
                <a:srgbClr val="1C1C1E"/>
              </a:solidFill>
              <a:latin typeface="맑은 고딕"/>
              <a:ea typeface="맑은 고딕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183880" y="1371600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F1F2F3"/>
          </a:solidFill>
          <a:ln w="15875">
            <a:solidFill>
              <a:srgbClr val="9AA0A6"/>
            </a:solidFill>
          </a:ln>
          <a:effectLst>
            <a:outerShdw blurRad="182880" dist="64008" dir="5400000" rotWithShape="0">
              <a:srgbClr val="000000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60" y="1499616"/>
            <a:ext cx="3246120" cy="11262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 dirty="0">
                <a:solidFill>
                  <a:srgbClr val="000000"/>
                </a:solidFill>
                <a:latin typeface="맑은 고딕"/>
                <a:ea typeface="맑은 고딕"/>
              </a:rPr>
              <a:t>③ </a:t>
            </a:r>
            <a:r>
              <a:rPr sz="1300" b="1" dirty="0" err="1">
                <a:solidFill>
                  <a:srgbClr val="000000"/>
                </a:solidFill>
                <a:latin typeface="맑은 고딕"/>
                <a:ea typeface="맑은 고딕"/>
              </a:rPr>
              <a:t>해결할</a:t>
            </a:r>
            <a:r>
              <a:rPr sz="1300" b="1" dirty="0">
                <a:solidFill>
                  <a:srgbClr val="000000"/>
                </a:solidFill>
                <a:latin typeface="맑은 고딕"/>
                <a:ea typeface="맑은 고딕"/>
              </a:rPr>
              <a:t> 수 </a:t>
            </a:r>
            <a:r>
              <a:rPr sz="1300" b="1" dirty="0" err="1">
                <a:solidFill>
                  <a:srgbClr val="000000"/>
                </a:solidFill>
                <a:latin typeface="맑은 고딕"/>
                <a:ea typeface="맑은 고딕"/>
              </a:rPr>
              <a:t>있는</a:t>
            </a:r>
            <a:r>
              <a:rPr sz="1300" b="1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300" b="1" dirty="0" err="1">
                <a:solidFill>
                  <a:srgbClr val="000000"/>
                </a:solidFill>
                <a:latin typeface="맑은 고딕"/>
                <a:ea typeface="맑은 고딕"/>
              </a:rPr>
              <a:t>문제</a:t>
            </a:r>
            <a:endParaRPr sz="1300" b="1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• ㉠은 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예산·인력</a:t>
            </a:r>
            <a:r>
              <a:rPr lang="ko-KR" altLang="en-US" sz="1100" b="0" dirty="0">
                <a:solidFill>
                  <a:srgbClr val="1C1C1E"/>
                </a:solidFill>
                <a:latin typeface="맑은 고딕"/>
                <a:ea typeface="맑은 고딕"/>
              </a:rPr>
              <a:t>에 따라 </a:t>
            </a:r>
            <a:r>
              <a:rPr lang="ko-KR" altLang="en-US"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재한된</a:t>
            </a:r>
            <a:r>
              <a:rPr lang="ko-KR" altLang="en-US" sz="110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영역이라</a:t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데이터가</a:t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lang="ko-KR" altLang="en-US" sz="1100" dirty="0">
                <a:solidFill>
                  <a:srgbClr val="1C1C1E"/>
                </a:solidFill>
                <a:latin typeface="맑은 고딕"/>
                <a:ea typeface="맑은 고딕"/>
              </a:rPr>
              <a:t>해답을 주기 힘들</a:t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다. ㉡은 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배분</a:t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규칙의</a:t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문제이므로</a:t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데이터로</a:t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답할</a:t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 수 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있다</a:t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 — 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그리고</a:t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 ㉡은 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아직</a:t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lang="ko-KR" altLang="en-US"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제대로된</a:t>
            </a:r>
            <a:r>
              <a:rPr lang="ko-KR" altLang="en-US" sz="1100" b="0" dirty="0">
                <a:solidFill>
                  <a:srgbClr val="1C1C1E"/>
                </a:solidFill>
                <a:latin typeface="맑은 고딕"/>
                <a:ea typeface="맑은 고딕"/>
              </a:rPr>
              <a:t> 검증이 되지 않았다</a:t>
            </a:r>
            <a:r>
              <a:rPr lang="en-US" altLang="ko-KR" sz="1100" b="0" dirty="0">
                <a:solidFill>
                  <a:srgbClr val="1C1C1E"/>
                </a:solidFill>
                <a:latin typeface="맑은 고딕"/>
                <a:ea typeface="맑은 고딕"/>
              </a:rPr>
              <a:t>.</a:t>
            </a:r>
            <a:endParaRPr sz="1100" b="0" dirty="0">
              <a:solidFill>
                <a:srgbClr val="1C1C1E"/>
              </a:solidFill>
              <a:latin typeface="맑은 고딕"/>
              <a:ea typeface="맑은 고딕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02920" y="3401568"/>
            <a:ext cx="11292840" cy="1572768"/>
          </a:xfrm>
          <a:prstGeom prst="roundRect">
            <a:avLst>
              <a:gd name="adj" fmla="val 5232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3529584"/>
            <a:ext cx="10927080" cy="117756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 dirty="0" err="1">
                <a:solidFill>
                  <a:srgbClr val="33393F"/>
                </a:solidFill>
                <a:latin typeface="맑은 고딕"/>
                <a:ea typeface="맑은 고딕"/>
              </a:rPr>
              <a:t>자원을</a:t>
            </a:r>
            <a:r>
              <a:rPr sz="1300" b="1" dirty="0">
                <a:solidFill>
                  <a:srgbClr val="33393F"/>
                </a:solidFill>
                <a:latin typeface="맑은 고딕"/>
                <a:ea typeface="맑은 고딕"/>
              </a:rPr>
              <a:t> </a:t>
            </a:r>
            <a:r>
              <a:rPr sz="1300" b="1" dirty="0" err="1">
                <a:solidFill>
                  <a:srgbClr val="33393F"/>
                </a:solidFill>
                <a:latin typeface="맑은 고딕"/>
                <a:ea typeface="맑은 고딕"/>
              </a:rPr>
              <a:t>공백</a:t>
            </a:r>
            <a:r>
              <a:rPr sz="1300" b="1" dirty="0">
                <a:solidFill>
                  <a:srgbClr val="33393F"/>
                </a:solidFill>
                <a:latin typeface="맑은 고딕"/>
                <a:ea typeface="맑은 고딕"/>
              </a:rPr>
              <a:t> </a:t>
            </a:r>
            <a:r>
              <a:rPr sz="1300" b="1" dirty="0" err="1">
                <a:solidFill>
                  <a:srgbClr val="33393F"/>
                </a:solidFill>
                <a:latin typeface="맑은 고딕"/>
                <a:ea typeface="맑은 고딕"/>
              </a:rPr>
              <a:t>지역으로</a:t>
            </a:r>
            <a:r>
              <a:rPr sz="1300" b="1" dirty="0">
                <a:solidFill>
                  <a:srgbClr val="33393F"/>
                </a:solidFill>
                <a:latin typeface="맑은 고딕"/>
                <a:ea typeface="맑은 고딕"/>
              </a:rPr>
              <a:t> </a:t>
            </a:r>
            <a:r>
              <a:rPr sz="1300" b="1" dirty="0" err="1">
                <a:solidFill>
                  <a:srgbClr val="33393F"/>
                </a:solidFill>
                <a:latin typeface="맑은 고딕"/>
                <a:ea typeface="맑은 고딕"/>
              </a:rPr>
              <a:t>보내는</a:t>
            </a:r>
            <a:r>
              <a:rPr sz="1300" b="1" dirty="0">
                <a:solidFill>
                  <a:srgbClr val="33393F"/>
                </a:solidFill>
                <a:latin typeface="맑은 고딕"/>
                <a:ea typeface="맑은 고딕"/>
              </a:rPr>
              <a:t> </a:t>
            </a:r>
            <a:r>
              <a:rPr sz="1300" b="1" dirty="0" err="1">
                <a:solidFill>
                  <a:srgbClr val="33393F"/>
                </a:solidFill>
                <a:latin typeface="맑은 고딕"/>
                <a:ea typeface="맑은 고딕"/>
              </a:rPr>
              <a:t>제도는</a:t>
            </a:r>
            <a:r>
              <a:rPr sz="1300" b="1" dirty="0">
                <a:solidFill>
                  <a:srgbClr val="33393F"/>
                </a:solidFill>
                <a:latin typeface="맑은 고딕"/>
                <a:ea typeface="맑은 고딕"/>
              </a:rPr>
              <a:t> </a:t>
            </a:r>
            <a:r>
              <a:rPr sz="1300" b="1" dirty="0" err="1">
                <a:solidFill>
                  <a:srgbClr val="33393F"/>
                </a:solidFill>
                <a:latin typeface="맑은 고딕"/>
                <a:ea typeface="맑은 고딕"/>
              </a:rPr>
              <a:t>이미</a:t>
            </a:r>
            <a:r>
              <a:rPr sz="1300" b="1" dirty="0">
                <a:solidFill>
                  <a:srgbClr val="33393F"/>
                </a:solidFill>
                <a:latin typeface="맑은 고딕"/>
                <a:ea typeface="맑은 고딕"/>
              </a:rPr>
              <a:t> </a:t>
            </a:r>
            <a:r>
              <a:rPr sz="1300" b="1" dirty="0" err="1">
                <a:solidFill>
                  <a:srgbClr val="33393F"/>
                </a:solidFill>
                <a:latin typeface="맑은 고딕"/>
                <a:ea typeface="맑은 고딕"/>
              </a:rPr>
              <a:t>있다</a:t>
            </a:r>
            <a:r>
              <a:rPr sz="1300" b="1" dirty="0">
                <a:solidFill>
                  <a:srgbClr val="33393F"/>
                </a:solidFill>
                <a:latin typeface="맑은 고딕"/>
                <a:ea typeface="맑은 고딕"/>
              </a:rPr>
              <a:t> — 「</a:t>
            </a:r>
            <a:r>
              <a:rPr sz="1300" b="1" dirty="0" err="1">
                <a:solidFill>
                  <a:srgbClr val="33393F"/>
                </a:solidFill>
                <a:latin typeface="맑은 고딕"/>
                <a:ea typeface="맑은 고딕"/>
              </a:rPr>
              <a:t>분만취약지</a:t>
            </a:r>
            <a:r>
              <a:rPr sz="1300" b="1" dirty="0">
                <a:solidFill>
                  <a:srgbClr val="33393F"/>
                </a:solidFill>
                <a:latin typeface="맑은 고딕"/>
                <a:ea typeface="맑은 고딕"/>
              </a:rPr>
              <a:t> </a:t>
            </a:r>
            <a:r>
              <a:rPr sz="1300" b="1" dirty="0" err="1">
                <a:solidFill>
                  <a:srgbClr val="33393F"/>
                </a:solidFill>
                <a:latin typeface="맑은 고딕"/>
                <a:ea typeface="맑은 고딕"/>
              </a:rPr>
              <a:t>지원사업</a:t>
            </a:r>
            <a:r>
              <a:rPr sz="1300" b="1" dirty="0">
                <a:solidFill>
                  <a:srgbClr val="33393F"/>
                </a:solidFill>
                <a:latin typeface="맑은 고딕"/>
                <a:ea typeface="맑은 고딕"/>
              </a:rPr>
              <a:t>」(15년째)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• 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분만취약지</a:t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 = 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소득·인구가</a:t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적은</a:t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지역이</a:t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아니라</a:t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, 그 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지역</a:t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가임기</a:t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여성이</a:t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 ① 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분만</a:t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가능</a:t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기관까지</a:t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 60분 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안에</a:t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닿기</a:t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어렵고</a:t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(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접근성</a:t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) ② 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실제</a:t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출산도</a:t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 60분 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안에</a:t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하지</a:t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못하는</a:t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(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이용률</a:t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) 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시·군</a:t>
            </a:r>
            <a:endParaRPr sz="1100" b="0" dirty="0">
              <a:solidFill>
                <a:srgbClr val="1C1C1E"/>
              </a:solidFill>
              <a:latin typeface="맑은 고딕"/>
              <a:ea typeface="맑은 고딕"/>
            </a:endParaRP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• 즉 이 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제도에서</a:t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 "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취약"은</a:t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처음부터</a:t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끝까지</a:t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lang="ko-KR" altLang="en-US" sz="1100" b="0" dirty="0">
                <a:solidFill>
                  <a:srgbClr val="1C1C1E"/>
                </a:solidFill>
                <a:latin typeface="맑은 고딕"/>
                <a:ea typeface="맑은 고딕"/>
              </a:rPr>
              <a:t>오직 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거리와</a:t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시간으로</a:t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정의된다</a:t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 — 이 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점이</a:t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 본 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연구의</a:t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 첫 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번째</a:t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표적이</a:t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된다</a:t>
            </a:r>
            <a:endParaRPr sz="1100" b="0" dirty="0">
              <a:solidFill>
                <a:srgbClr val="1C1C1E"/>
              </a:solidFill>
              <a:latin typeface="맑은 고딕"/>
              <a:ea typeface="맑은 고딕"/>
            </a:endParaRP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• 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정부는</a:t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 2년마다 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전국</a:t>
            </a:r>
            <a:r>
              <a:rPr lang="en-US" sz="110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lang="ko-KR" altLang="en-US" sz="1100" b="0" dirty="0">
                <a:solidFill>
                  <a:srgbClr val="1C1C1E"/>
                </a:solidFill>
                <a:latin typeface="맑은 고딕"/>
                <a:ea typeface="맑은 고딕"/>
              </a:rPr>
              <a:t>단위로 조사하여 </a:t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A·B·C 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등급을</a:t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매기고</a:t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, </a:t>
            </a:r>
            <a:r>
              <a:rPr lang="ko-KR" altLang="en-US" sz="1100" b="0" dirty="0">
                <a:solidFill>
                  <a:srgbClr val="1C1C1E"/>
                </a:solidFill>
                <a:latin typeface="맑은 고딕"/>
                <a:ea typeface="맑은 고딕"/>
              </a:rPr>
              <a:t>선정 지역의 일부 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병원에</a:t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분만실</a:t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설치비</a:t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 약 10억 원 + 연 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운영비</a:t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 약 5억 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원을</a:t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지원</a:t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 (15년 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>누적</a:t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 57개소)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230368"/>
            <a:ext cx="11247120" cy="3316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500" b="1" dirty="0">
                <a:solidFill>
                  <a:srgbClr val="000000"/>
                </a:solidFill>
                <a:latin typeface="맑은 고딕"/>
                <a:ea typeface="맑은 고딕"/>
              </a:rPr>
              <a:t>"</a:t>
            </a:r>
            <a:r>
              <a:rPr lang="ko-KR" altLang="en-US" sz="1500" b="1" dirty="0">
                <a:solidFill>
                  <a:srgbClr val="000000"/>
                </a:solidFill>
                <a:latin typeface="맑은 고딕"/>
                <a:ea typeface="맑은 고딕"/>
              </a:rPr>
              <a:t>주어진 자원이</a:t>
            </a:r>
            <a:r>
              <a:rPr sz="1500" b="1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500" b="1" dirty="0" err="1">
                <a:solidFill>
                  <a:srgbClr val="000000"/>
                </a:solidFill>
                <a:latin typeface="맑은 고딕"/>
                <a:ea typeface="맑은 고딕"/>
              </a:rPr>
              <a:t>체계적으로</a:t>
            </a:r>
            <a:r>
              <a:rPr sz="1500" b="1" dirty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500" b="1" dirty="0" err="1">
                <a:solidFill>
                  <a:srgbClr val="000000"/>
                </a:solidFill>
                <a:latin typeface="맑은 고딕"/>
                <a:ea typeface="맑은 고딕"/>
              </a:rPr>
              <a:t>필요한</a:t>
            </a:r>
            <a:r>
              <a:rPr sz="1500" b="1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500" b="1" dirty="0" err="1">
                <a:solidFill>
                  <a:srgbClr val="000000"/>
                </a:solidFill>
                <a:latin typeface="맑은 고딕"/>
                <a:ea typeface="맑은 고딕"/>
              </a:rPr>
              <a:t>곳으로</a:t>
            </a:r>
            <a:r>
              <a:rPr sz="1500" b="1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500" b="1" dirty="0" err="1">
                <a:solidFill>
                  <a:srgbClr val="000000"/>
                </a:solidFill>
                <a:latin typeface="맑은 고딕"/>
                <a:ea typeface="맑은 고딕"/>
              </a:rPr>
              <a:t>배분되고</a:t>
            </a:r>
            <a:r>
              <a:rPr sz="1500" b="1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500" b="1" dirty="0" err="1">
                <a:solidFill>
                  <a:srgbClr val="000000"/>
                </a:solidFill>
                <a:latin typeface="맑은 고딕"/>
                <a:ea typeface="맑은 고딕"/>
              </a:rPr>
              <a:t>있는가</a:t>
            </a:r>
            <a:r>
              <a:rPr sz="1500" b="1" dirty="0">
                <a:solidFill>
                  <a:srgbClr val="000000"/>
                </a:solidFill>
                <a:latin typeface="맑은 고딕"/>
                <a:ea typeface="맑은 고딕"/>
              </a:rPr>
              <a:t>" — </a:t>
            </a:r>
            <a:r>
              <a:rPr sz="1500" b="1" dirty="0" err="1">
                <a:solidFill>
                  <a:srgbClr val="000000"/>
                </a:solidFill>
                <a:latin typeface="맑은 고딕"/>
                <a:ea typeface="맑은 고딕"/>
              </a:rPr>
              <a:t>이를</a:t>
            </a:r>
            <a:r>
              <a:rPr sz="1500" b="1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500" b="1" dirty="0" err="1">
                <a:solidFill>
                  <a:srgbClr val="000000"/>
                </a:solidFill>
                <a:latin typeface="맑은 고딕"/>
                <a:ea typeface="맑은 고딕"/>
              </a:rPr>
              <a:t>데이터로</a:t>
            </a:r>
            <a:r>
              <a:rPr sz="1500" b="1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500" b="1" dirty="0" err="1">
                <a:solidFill>
                  <a:srgbClr val="000000"/>
                </a:solidFill>
                <a:latin typeface="맑은 고딕"/>
                <a:ea typeface="맑은 고딕"/>
              </a:rPr>
              <a:t>검증하</a:t>
            </a:r>
            <a:r>
              <a:rPr lang="ko-KR" altLang="en-US" sz="1500" b="1" dirty="0">
                <a:solidFill>
                  <a:srgbClr val="000000"/>
                </a:solidFill>
                <a:latin typeface="맑은 고딕"/>
                <a:ea typeface="맑은 고딕"/>
              </a:rPr>
              <a:t>고</a:t>
            </a:r>
            <a:r>
              <a:rPr lang="en-US" altLang="ko-KR" sz="1500" b="1" dirty="0">
                <a:solidFill>
                  <a:srgbClr val="000000"/>
                </a:solidFill>
                <a:latin typeface="맑은 고딕"/>
                <a:ea typeface="맑은 고딕"/>
              </a:rPr>
              <a:t>,</a:t>
            </a:r>
            <a:r>
              <a:rPr lang="ko-KR" altLang="en-US" sz="1500" b="1" dirty="0">
                <a:solidFill>
                  <a:srgbClr val="000000"/>
                </a:solidFill>
                <a:latin typeface="맑은 고딕"/>
                <a:ea typeface="맑은 고딕"/>
              </a:rPr>
              <a:t> 개선하는</a:t>
            </a:r>
            <a:r>
              <a:rPr sz="1500" b="1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500" b="1" dirty="0" err="1">
                <a:solidFill>
                  <a:srgbClr val="000000"/>
                </a:solidFill>
                <a:latin typeface="맑은 고딕"/>
                <a:ea typeface="맑은 고딕"/>
              </a:rPr>
              <a:t>것이</a:t>
            </a:r>
            <a:r>
              <a:rPr sz="1500" b="1" dirty="0">
                <a:solidFill>
                  <a:srgbClr val="000000"/>
                </a:solidFill>
                <a:latin typeface="맑은 고딕"/>
                <a:ea typeface="맑은 고딕"/>
              </a:rPr>
              <a:t> 본 </a:t>
            </a:r>
            <a:r>
              <a:rPr lang="ko-KR" altLang="en-US" sz="1500" b="1" dirty="0">
                <a:solidFill>
                  <a:srgbClr val="000000"/>
                </a:solidFill>
                <a:latin typeface="맑은 고딕"/>
                <a:ea typeface="맑은 고딕"/>
              </a:rPr>
              <a:t>프로젝트의 </a:t>
            </a:r>
            <a:r>
              <a:rPr sz="1500" b="1" dirty="0" err="1">
                <a:solidFill>
                  <a:srgbClr val="000000"/>
                </a:solidFill>
                <a:latin typeface="맑은 고딕"/>
                <a:ea typeface="맑은 고딕"/>
              </a:rPr>
              <a:t>계획이다</a:t>
            </a:r>
            <a:r>
              <a:rPr sz="1500" b="1" dirty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310896" cy="31089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A3F45"/>
              </a:gs>
              <a:gs pos="100000">
                <a:srgbClr val="73787E"/>
              </a:gs>
            </a:gsLst>
            <a:lin ang="18900000" scaled="0"/>
          </a:gradFill>
          <a:ln>
            <a:noFill/>
          </a:ln>
          <a:effectLst>
            <a:outerShdw blurRad="109728" dist="36576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96926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2150" b="1">
                <a:solidFill>
                  <a:srgbClr val="1C1C1E"/>
                </a:solidFill>
                <a:latin typeface="맑은 고딕"/>
                <a:ea typeface="맑은 고딕"/>
              </a:rPr>
              <a:t>문제 인식 — 제도는 세 단계로 자원을 흘려보낸다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969264"/>
            <a:ext cx="4206240" cy="27432"/>
          </a:xfrm>
          <a:prstGeom prst="rect">
            <a:avLst/>
          </a:prstGeom>
          <a:gradFill rotWithShape="1">
            <a:gsLst>
              <a:gs pos="0">
                <a:srgbClr val="2A2E33"/>
              </a:gs>
              <a:gs pos="100000">
                <a:srgbClr val="FFFFFF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35640" y="164592"/>
            <a:ext cx="1188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3000" b="1">
                <a:solidFill>
                  <a:srgbClr val="D8DADD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11155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250" b="0">
                <a:solidFill>
                  <a:srgbClr val="767A7F"/>
                </a:solidFill>
                <a:latin typeface="맑은 고딕"/>
                <a:ea typeface="맑은 고딕"/>
              </a:rPr>
              <a:t>한 단계라도 막히거나 새면, 앞 단계가 아무리 정확해도 자원은 엉뚱한 곳으로 간다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850" b="0">
                <a:solidFill>
                  <a:srgbClr val="B2B5B9"/>
                </a:solidFill>
                <a:latin typeface="맑은 고딕"/>
                <a:ea typeface="맑은 고딕"/>
              </a:rPr>
              <a:t>2026 명지대학교 창의적 SW프로그램 경진대회 · 빅데이터 분석 — 데이터 분석 계획서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329184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" y="1444752"/>
            <a:ext cx="3017520" cy="11521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1500" b="1">
                <a:solidFill>
                  <a:srgbClr val="33393F"/>
                </a:solidFill>
                <a:latin typeface="맑은 고딕"/>
                <a:ea typeface="맑은 고딕"/>
              </a:rPr>
              <a:t>① 측정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050" b="0">
                <a:solidFill>
                  <a:srgbClr val="1C1C1E"/>
                </a:solidFill>
                <a:latin typeface="맑은 고딕"/>
                <a:ea typeface="맑은 고딕"/>
              </a:rPr>
              <a:t>2년마다 전국 시·군·구의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050" b="0">
                <a:solidFill>
                  <a:srgbClr val="1C1C1E"/>
                </a:solidFill>
                <a:latin typeface="맑은 고딕"/>
                <a:ea typeface="맑은 고딕"/>
              </a:rPr>
              <a:t>분만실 60분 접근성과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050" b="0">
                <a:solidFill>
                  <a:srgbClr val="1C1C1E"/>
                </a:solidFill>
                <a:latin typeface="맑은 고딕"/>
                <a:ea typeface="맑은 고딕"/>
              </a:rPr>
              <a:t>실제 분만 이동시간을 산출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3048" y="1783080"/>
            <a:ext cx="685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2200" b="1">
                <a:solidFill>
                  <a:srgbClr val="767A7F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1371600"/>
            <a:ext cx="329184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45151" y="1444752"/>
            <a:ext cx="3017520" cy="11521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1500" b="1">
                <a:solidFill>
                  <a:srgbClr val="33393F"/>
                </a:solidFill>
                <a:latin typeface="맑은 고딕"/>
                <a:ea typeface="맑은 고딕"/>
              </a:rPr>
              <a:t>② 지정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050" b="0">
                <a:solidFill>
                  <a:srgbClr val="1C1C1E"/>
                </a:solidFill>
                <a:latin typeface="맑은 고딕"/>
                <a:ea typeface="맑은 고딕"/>
              </a:rPr>
              <a:t>그 값을 임계값(30/30)과 대조해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050" b="0">
                <a:solidFill>
                  <a:srgbClr val="1C1C1E"/>
                </a:solidFill>
                <a:latin typeface="맑은 고딕"/>
                <a:ea typeface="맑은 고딕"/>
              </a:rPr>
              <a:t>분만취약지를 판정하고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050" b="0">
                <a:solidFill>
                  <a:srgbClr val="1C1C1E"/>
                </a:solidFill>
                <a:latin typeface="맑은 고딕"/>
                <a:ea typeface="맑은 고딕"/>
              </a:rPr>
              <a:t>A·B·C 등급 부여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0688" y="1783080"/>
            <a:ext cx="685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2200" b="1">
                <a:solidFill>
                  <a:srgbClr val="767A7F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58200" y="1371600"/>
            <a:ext cx="329184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22792" y="1444752"/>
            <a:ext cx="3017520" cy="11521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1500" b="1">
                <a:solidFill>
                  <a:srgbClr val="33393F"/>
                </a:solidFill>
                <a:latin typeface="맑은 고딕"/>
                <a:ea typeface="맑은 고딕"/>
              </a:rPr>
              <a:t>③ 배분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050" b="0">
                <a:solidFill>
                  <a:srgbClr val="1C1C1E"/>
                </a:solidFill>
                <a:latin typeface="맑은 고딕"/>
                <a:ea typeface="맑은 고딕"/>
              </a:rPr>
              <a:t>지정 지역의 병원 한 곳을 골라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050" b="0">
                <a:solidFill>
                  <a:srgbClr val="1C1C1E"/>
                </a:solidFill>
                <a:latin typeface="맑은 고딕"/>
                <a:ea typeface="맑은 고딕"/>
              </a:rPr>
              <a:t>분만실 설치비·운영비 지급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050" b="0">
                <a:solidFill>
                  <a:srgbClr val="1C1C1E"/>
                </a:solidFill>
                <a:latin typeface="맑은 고딕"/>
                <a:ea typeface="맑은 고딕"/>
              </a:rPr>
              <a:t>(설치 약 10억 + 연 5억)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926080"/>
            <a:ext cx="5532120" cy="1783080"/>
          </a:xfrm>
          <a:prstGeom prst="roundRect">
            <a:avLst>
              <a:gd name="adj" fmla="val 4615"/>
            </a:avLst>
          </a:prstGeom>
          <a:solidFill>
            <a:srgbClr val="F1F2F3"/>
          </a:solidFill>
          <a:ln w="15875">
            <a:solidFill>
              <a:srgbClr val="9AA0A6"/>
            </a:solidFill>
          </a:ln>
          <a:effectLst>
            <a:outerShdw blurRad="182880" dist="64008" dir="5400000" rotWithShape="0">
              <a:srgbClr val="000000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3054096"/>
            <a:ext cx="5166359" cy="1527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000000"/>
                </a:solidFill>
                <a:latin typeface="맑은 고딕"/>
                <a:ea typeface="맑은 고딕"/>
              </a:rPr>
              <a:t>의심 1 — 지정 단계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판정 기준은 이동시간 파생 지표뿐이다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관내 분만 인프라가 소멸해도 "옆 도시로 60분 안에 갈 수 있으면" 취약지가 아니게 되는 구조 아닌가?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→ 기준이 구조적으로 놓치는 지역이 있는지 검증한다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926080"/>
            <a:ext cx="5532120" cy="1783080"/>
          </a:xfrm>
          <a:prstGeom prst="roundRect">
            <a:avLst>
              <a:gd name="adj" fmla="val 4615"/>
            </a:avLst>
          </a:prstGeom>
          <a:solidFill>
            <a:srgbClr val="F1F2F3"/>
          </a:solidFill>
          <a:ln w="15875">
            <a:solidFill>
              <a:srgbClr val="9AA0A6"/>
            </a:solidFill>
          </a:ln>
          <a:effectLst>
            <a:outerShdw blurRad="182880" dist="64008" dir="5400000" rotWithShape="0">
              <a:srgbClr val="000000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46520" y="3054096"/>
            <a:ext cx="5166359" cy="1527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000000"/>
                </a:solidFill>
                <a:latin typeface="맑은 고딕"/>
                <a:ea typeface="맑은 고딕"/>
              </a:rPr>
              <a:t>의심 2 — 배분 단계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지원 심사 배점 100점 중 취약도 항목은 0점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시·도 선별 기준은 "예산 규모, 의료 취약성 등 고려"가 전부 — 누구를 먼저 지원할지의 규칙이 있는가?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→ 현행 배분이 무엇으로 설명되는지 진단한다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892040"/>
            <a:ext cx="112928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5020055"/>
            <a:ext cx="10927080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왜 지금, 왜 데이터인가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분만 인프라 공백은 언론·국회에서 반복 지적되어 왔으나, 전국 단위 공개 데이터로 정량 검증된 적이 없다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분석 대상은 취약지라는 현상이 아니라, 취약지를 판정하고 지원하는 제도 그 자체다 (제도 감사 프레임)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모든 판단 기준과 임계값은 정부 자신의 문서·데이터에서 가져와 실현 가능성을 확보할 계획이다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310896" cy="31089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A3F45"/>
              </a:gs>
              <a:gs pos="100000">
                <a:srgbClr val="73787E"/>
              </a:gs>
            </a:gsLst>
            <a:lin ang="18900000" scaled="0"/>
          </a:gradFill>
          <a:ln>
            <a:noFill/>
          </a:ln>
          <a:effectLst>
            <a:outerShdw blurRad="109728" dist="36576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96926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2150" b="1">
                <a:solidFill>
                  <a:srgbClr val="1C1C1E"/>
                </a:solidFill>
                <a:latin typeface="맑은 고딕"/>
                <a:ea typeface="맑은 고딕"/>
              </a:rPr>
              <a:t>연구 질문 (RQ) — 감사의 네 가지 물음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969264"/>
            <a:ext cx="4206240" cy="27432"/>
          </a:xfrm>
          <a:prstGeom prst="rect">
            <a:avLst/>
          </a:prstGeom>
          <a:gradFill rotWithShape="1">
            <a:gsLst>
              <a:gs pos="0">
                <a:srgbClr val="2A2E33"/>
              </a:gs>
              <a:gs pos="100000">
                <a:srgbClr val="FFFFFF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35640" y="164592"/>
            <a:ext cx="1188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3000" b="1">
                <a:solidFill>
                  <a:srgbClr val="D8DADD"/>
                </a:solidFill>
                <a:latin typeface="맑은 고딕"/>
                <a:ea typeface="맑은 고딕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850" b="0">
                <a:solidFill>
                  <a:srgbClr val="B2B5B9"/>
                </a:solidFill>
                <a:latin typeface="맑은 고딕"/>
                <a:ea typeface="맑은 고딕"/>
              </a:rPr>
              <a:t>2026 명지대학교 창의적 SW프로그램 경진대회 · 빅데이터 분석 — 데이터 분석 계획서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5532120" cy="1737360"/>
          </a:xfrm>
          <a:prstGeom prst="roundRect">
            <a:avLst>
              <a:gd name="adj" fmla="val 4736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21208" y="1600200"/>
            <a:ext cx="82296" cy="12801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A3F45"/>
              </a:gs>
              <a:gs pos="100000">
                <a:srgbClr val="73787E"/>
              </a:gs>
            </a:gsLst>
            <a:lin ang="18900000" scaled="0"/>
          </a:gradFill>
          <a:ln>
            <a:noFill/>
          </a:ln>
          <a:effectLst>
            <a:outerShdw blurRad="109728" dist="36576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536192"/>
            <a:ext cx="50749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500"/>
              </a:spcAft>
            </a:pPr>
            <a:r>
              <a:rPr sz="1500" b="1">
                <a:solidFill>
                  <a:srgbClr val="33393F"/>
                </a:solidFill>
                <a:latin typeface="맑은 고딕"/>
                <a:ea typeface="맑은 고딕"/>
              </a:rPr>
              <a:t>RQ1 · 지정의 검증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200" b="0">
                <a:solidFill>
                  <a:srgbClr val="1C1C1E"/>
                </a:solidFill>
                <a:latin typeface="맑은 고딕"/>
                <a:ea typeface="맑은 고딕"/>
              </a:rPr>
              <a:t>현행 지정은 공표된 판정식대로 실제 작동하는가?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200" b="0">
                <a:solidFill>
                  <a:srgbClr val="1C1C1E"/>
                </a:solidFill>
                <a:latin typeface="맑은 고딕"/>
                <a:ea typeface="맑은 고딕"/>
              </a:rPr>
              <a:t>공급(관내 인프라) 변수는 판정에 반영되는가?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371600"/>
            <a:ext cx="5532120" cy="1737360"/>
          </a:xfrm>
          <a:prstGeom prst="roundRect">
            <a:avLst>
              <a:gd name="adj" fmla="val 4736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81927" y="1600200"/>
            <a:ext cx="82296" cy="12801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A3F45"/>
              </a:gs>
              <a:gs pos="100000">
                <a:srgbClr val="73787E"/>
              </a:gs>
            </a:gsLst>
            <a:lin ang="18900000" scaled="0"/>
          </a:gradFill>
          <a:ln>
            <a:noFill/>
          </a:ln>
          <a:effectLst>
            <a:outerShdw blurRad="109728" dist="36576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79" y="1536192"/>
            <a:ext cx="50749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500"/>
              </a:spcAft>
            </a:pPr>
            <a:r>
              <a:rPr sz="1500" b="1">
                <a:solidFill>
                  <a:srgbClr val="33393F"/>
                </a:solidFill>
                <a:latin typeface="맑은 고딕"/>
                <a:ea typeface="맑은 고딕"/>
              </a:rPr>
              <a:t>RQ2 · 사각지대 탐지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200" b="0">
                <a:solidFill>
                  <a:srgbClr val="1C1C1E"/>
                </a:solidFill>
                <a:latin typeface="맑은 고딕"/>
                <a:ea typeface="맑은 고딕"/>
              </a:rPr>
              <a:t>판정식이 구조적으로 놓치는 지역이 실재하는가?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200" b="0">
                <a:solidFill>
                  <a:srgbClr val="1C1C1E"/>
                </a:solidFill>
                <a:latin typeface="맑은 고딕"/>
                <a:ea typeface="맑은 고딕"/>
              </a:rPr>
              <a:t>(거리 기준은 통과하지만 관내 공급이 소멸한 지역)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337560"/>
            <a:ext cx="5532120" cy="1737360"/>
          </a:xfrm>
          <a:prstGeom prst="roundRect">
            <a:avLst>
              <a:gd name="adj" fmla="val 4736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21208" y="3566160"/>
            <a:ext cx="82296" cy="12801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A3F45"/>
              </a:gs>
              <a:gs pos="100000">
                <a:srgbClr val="73787E"/>
              </a:gs>
            </a:gsLst>
            <a:lin ang="18900000" scaled="0"/>
          </a:gradFill>
          <a:ln>
            <a:noFill/>
          </a:ln>
          <a:effectLst>
            <a:outerShdw blurRad="109728" dist="36576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3502152"/>
            <a:ext cx="50749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500"/>
              </a:spcAft>
            </a:pPr>
            <a:r>
              <a:rPr sz="1500" b="1">
                <a:solidFill>
                  <a:srgbClr val="33393F"/>
                </a:solidFill>
                <a:latin typeface="맑은 고딕"/>
                <a:ea typeface="맑은 고딕"/>
              </a:rPr>
              <a:t>RQ3 · 배분의 진단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200" b="0">
                <a:solidFill>
                  <a:srgbClr val="1C1C1E"/>
                </a:solidFill>
                <a:latin typeface="맑은 고딕"/>
                <a:ea typeface="맑은 고딕"/>
              </a:rPr>
              <a:t>지정 이후의 지원 배분은 공개 지표로 설명되는가?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200" b="0">
                <a:solidFill>
                  <a:srgbClr val="1C1C1E"/>
                </a:solidFill>
                <a:latin typeface="맑은 고딕"/>
                <a:ea typeface="맑은 고딕"/>
              </a:rPr>
              <a:t>등급·취약도·수요 중 무엇이 선정을 갈랐는가?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337560"/>
            <a:ext cx="5532120" cy="1737360"/>
          </a:xfrm>
          <a:prstGeom prst="roundRect">
            <a:avLst>
              <a:gd name="adj" fmla="val 4736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281927" y="3566160"/>
            <a:ext cx="82296" cy="12801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A3F45"/>
              </a:gs>
              <a:gs pos="100000">
                <a:srgbClr val="73787E"/>
              </a:gs>
            </a:gsLst>
            <a:lin ang="18900000" scaled="0"/>
          </a:gradFill>
          <a:ln>
            <a:noFill/>
          </a:ln>
          <a:effectLst>
            <a:outerShdw blurRad="109728" dist="36576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79" y="3502152"/>
            <a:ext cx="50749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500"/>
              </a:spcAft>
            </a:pPr>
            <a:r>
              <a:rPr sz="1500" b="1">
                <a:solidFill>
                  <a:srgbClr val="33393F"/>
                </a:solidFill>
                <a:latin typeface="맑은 고딕"/>
                <a:ea typeface="맑은 고딕"/>
              </a:rPr>
              <a:t>RQ4 · 처방과 대조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200" b="0">
                <a:solidFill>
                  <a:srgbClr val="1C1C1E"/>
                </a:solidFill>
                <a:latin typeface="맑은 고딕"/>
                <a:ea typeface="맑은 고딕"/>
              </a:rPr>
              <a:t>정부가 이미 정한 기준만 조합해 배분 규칙을 만들면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200" b="0">
                <a:solidFill>
                  <a:srgbClr val="1C1C1E"/>
                </a:solidFill>
                <a:latin typeface="맑은 고딕"/>
                <a:ea typeface="맑은 고딕"/>
              </a:rPr>
              <a:t>현행 배분과 어디가 어긋나는가?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44068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1250" b="1">
                <a:solidFill>
                  <a:srgbClr val="1C1C1E"/>
                </a:solidFill>
                <a:latin typeface="맑은 고딕"/>
                <a:ea typeface="맑은 고딕"/>
              </a:rPr>
              <a:t>RQ1·2는 지정을, RQ3·4는 배분을 본다. 앞의 둘로 "규칙이 무엇을 보는가"를 확정해야 뒤의 둘에서 "그 규칙대로 나눠지고 있는가"를 물을 수 있다.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200" b="0">
                <a:solidFill>
                  <a:srgbClr val="767A7F"/>
                </a:solidFill>
                <a:latin typeface="맑은 고딕"/>
                <a:ea typeface="맑은 고딕"/>
              </a:rPr>
              <a:t>무엇을 "재현 성공"으로 볼지, 무엇을 "사각지대"로 볼지는 분석을 시작하기 전에 정해 둔다 — 결과를 보고 기준을 맞추지 않기 위해서다.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310896" cy="31089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A3F45"/>
              </a:gs>
              <a:gs pos="100000">
                <a:srgbClr val="73787E"/>
              </a:gs>
            </a:gsLst>
            <a:lin ang="18900000" scaled="0"/>
          </a:gradFill>
          <a:ln>
            <a:noFill/>
          </a:ln>
          <a:effectLst>
            <a:outerShdw blurRad="109728" dist="36576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96926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2150" b="1">
                <a:solidFill>
                  <a:srgbClr val="1C1C1E"/>
                </a:solidFill>
                <a:latin typeface="맑은 고딕"/>
                <a:ea typeface="맑은 고딕"/>
              </a:rPr>
              <a:t>이론적 고찰 — 접근성의 두 축과 연구의 차별점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969264"/>
            <a:ext cx="4206240" cy="27432"/>
          </a:xfrm>
          <a:prstGeom prst="rect">
            <a:avLst/>
          </a:prstGeom>
          <a:gradFill rotWithShape="1">
            <a:gsLst>
              <a:gs pos="0">
                <a:srgbClr val="2A2E33"/>
              </a:gs>
              <a:gs pos="100000">
                <a:srgbClr val="FFFFFF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35640" y="164592"/>
            <a:ext cx="1188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3000" b="1">
                <a:solidFill>
                  <a:srgbClr val="D8DADD"/>
                </a:solidFill>
                <a:latin typeface="맑은 고딕"/>
                <a:ea typeface="맑은 고딕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850" b="0">
                <a:solidFill>
                  <a:srgbClr val="B2B5B9"/>
                </a:solidFill>
                <a:latin typeface="맑은 고딕"/>
                <a:ea typeface="맑은 고딕"/>
              </a:rPr>
              <a:t>2026 명지대학교 창의적 SW프로그램 경진대회 · 빅데이터 분석 — 데이터 분석 계획서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5532120" cy="2286000"/>
          </a:xfrm>
          <a:prstGeom prst="roundRect">
            <a:avLst>
              <a:gd name="adj" fmla="val 3599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499616"/>
            <a:ext cx="5166359" cy="20299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보건지리학의 표준 관점 (2SFCA 계열)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의료 접근성 = 공간 축 × 비공간 축의 결합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공간 축: 거리·이동시간 (얼마나 멀리 있는가)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비공간 축: 공급·수용력 (그곳에 의사가 있는가)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→ 가설: 현행 판정식은 공간 축만 계측할 것이다 — 데이터로 검증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71600"/>
            <a:ext cx="5532120" cy="2286000"/>
          </a:xfrm>
          <a:prstGeom prst="roundRect">
            <a:avLst>
              <a:gd name="adj" fmla="val 3599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499616"/>
            <a:ext cx="5166359" cy="20299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분석 단위에 대한 원칙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분석 단위: 전국 시·군·구 250곳 (표본이 아닌 전수)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목적이 미지 표본 예측이 아니라 이미 내려진 판정·배분의 규칙 규명(감사)이므로 일반화 표집 논리와 구분해 설계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지역 단위 결론을 개인에게 적용하지 않는다(생태학적 오류 경계)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8862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400" b="1">
                <a:solidFill>
                  <a:srgbClr val="33393F"/>
                </a:solidFill>
                <a:latin typeface="맑은 고딕"/>
                <a:ea typeface="맑은 고딕"/>
              </a:rPr>
              <a:t>선행 논의 대비 차별점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02920" y="4297680"/>
          <a:ext cx="11292840" cy="19019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54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37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기존 접근</a:t>
                      </a:r>
                    </a:p>
                  </a:txBody>
                  <a:tcPr marL="73152" marR="73152" marT="27432" marB="27432" anchor="ctr">
                    <a:solidFill>
                      <a:srgbClr val="3339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본 연구의 계획</a:t>
                      </a:r>
                    </a:p>
                  </a:txBody>
                  <a:tcPr marL="73152" marR="73152" marT="27432" marB="27432" anchor="ctr">
                    <a:solidFill>
                      <a:srgbClr val="3339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"취약지가 어디인가"를 찾는 현상 분석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"판정·배분 기준이 무엇을 놓치는가" — 제도 자체의 감사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추상적 정책 제언</a:t>
                      </a:r>
                    </a:p>
                  </a:txBody>
                  <a:tcPr marL="73152" marR="73152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정부 임계값만으로 구성한 재지정·우선순위 시뮬레이션과 표 산출물</a:t>
                      </a:r>
                    </a:p>
                  </a:txBody>
                  <a:tcPr marL="73152" marR="73152" marT="27432" marB="27432" anchor="ctr"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성공한 분석만 보고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기각된 설계(군집 등)와 민감도까지 투명하게 공개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310896" cy="31089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A3F45"/>
              </a:gs>
              <a:gs pos="100000">
                <a:srgbClr val="73787E"/>
              </a:gs>
            </a:gsLst>
            <a:lin ang="18900000" scaled="0"/>
          </a:gradFill>
          <a:ln>
            <a:noFill/>
          </a:ln>
          <a:effectLst>
            <a:outerShdw blurRad="109728" dist="36576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96926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2150" b="1">
                <a:solidFill>
                  <a:srgbClr val="1C1C1E"/>
                </a:solidFill>
                <a:latin typeface="맑은 고딕"/>
                <a:ea typeface="맑은 고딕"/>
              </a:rPr>
              <a:t>분석 대상 제도 — 판정 지표, 등급, 배분 관문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969264"/>
            <a:ext cx="4206240" cy="27432"/>
          </a:xfrm>
          <a:prstGeom prst="rect">
            <a:avLst/>
          </a:prstGeom>
          <a:gradFill rotWithShape="1">
            <a:gsLst>
              <a:gs pos="0">
                <a:srgbClr val="2A2E33"/>
              </a:gs>
              <a:gs pos="100000">
                <a:srgbClr val="FFFFFF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35640" y="164592"/>
            <a:ext cx="1188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3000" b="1">
                <a:solidFill>
                  <a:srgbClr val="D8DADD"/>
                </a:solidFill>
                <a:latin typeface="맑은 고딕"/>
                <a:ea typeface="맑은 고딕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850" b="0">
                <a:solidFill>
                  <a:srgbClr val="B2B5B9"/>
                </a:solidFill>
                <a:latin typeface="맑은 고딕"/>
                <a:ea typeface="맑은 고딕"/>
              </a:rPr>
              <a:t>2026 명지대학교 창의적 SW프로그램 경진대회 · 빅데이터 분석 — 데이터 분석 계획서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400" b="1">
                <a:solidFill>
                  <a:srgbClr val="33393F"/>
                </a:solidFill>
                <a:latin typeface="맑은 고딕"/>
                <a:ea typeface="맑은 고딕"/>
              </a:rPr>
              <a:t>판정 지표 2개 (사전 조사 결과)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709928"/>
          <a:ext cx="1129284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75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지표</a:t>
                      </a:r>
                    </a:p>
                  </a:txBody>
                  <a:tcPr marL="73152" marR="73152" marT="27432" marB="27432" anchor="ctr">
                    <a:solidFill>
                      <a:srgbClr val="3339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정의</a:t>
                      </a:r>
                    </a:p>
                  </a:txBody>
                  <a:tcPr marL="73152" marR="73152" marT="27432" marB="27432" anchor="ctr">
                    <a:solidFill>
                      <a:srgbClr val="3339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성격</a:t>
                      </a:r>
                    </a:p>
                  </a:txBody>
                  <a:tcPr marL="73152" marR="73152" marT="27432" marB="27432" anchor="ctr">
                    <a:solidFill>
                      <a:srgbClr val="3339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접근성취약인구비율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60분 내 분만가능기관에 도달 불가능한 가임인구 비율 (GIS 계산)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이론값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기준시간내 의료이용률(TRI)</a:t>
                      </a:r>
                    </a:p>
                  </a:txBody>
                  <a:tcPr marL="73152" marR="73152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실제 분만 중 이동시간 60분 내 기관 이용 비율 (건보 청구 기반)</a:t>
                      </a:r>
                    </a:p>
                  </a:txBody>
                  <a:tcPr marL="73152" marR="73152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행태 실측값</a:t>
                      </a:r>
                    </a:p>
                  </a:txBody>
                  <a:tcPr marL="73152" marR="73152" marT="27432" marB="27432" anchor="ctr"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329184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400" b="1">
                <a:solidFill>
                  <a:srgbClr val="33393F"/>
                </a:solidFill>
                <a:latin typeface="맑은 고딕"/>
                <a:ea typeface="맑은 고딕"/>
              </a:rPr>
              <a:t>등급 체계와 배분 절차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703320"/>
            <a:ext cx="5532120" cy="1920240"/>
          </a:xfrm>
          <a:prstGeom prst="roundRect">
            <a:avLst>
              <a:gd name="adj" fmla="val 4285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3831335"/>
            <a:ext cx="5166359" cy="1664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A·B·C 등급 (공고 제2026-144호, 108곳)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A: 두 지표 모두 취약 (32곳) / B: 하나만 취약 (21곳)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C: 배경인구 미달 또는 분만 지원 기수령 (55곳)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C는 취약도 서열이 아니라 자격표 성격 — "지원받으면 C가 되는" 정의 구조를 분석 설계에 반영해야 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3703320"/>
            <a:ext cx="5532120" cy="1920240"/>
          </a:xfrm>
          <a:prstGeom prst="roundRect">
            <a:avLst>
              <a:gd name="adj" fmla="val 4285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3831335"/>
            <a:ext cx="5166359" cy="1664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배분의 4단계 관문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병원 신청 → 시·군 1곳 선정 → 시·도 선별 → 복지부 심사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심사 100점 = 정량 20 + 정성 80, 취약도 항목 0점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병원이 신청하지 않으면 등급이 있어도 지원 없음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→ "올해 누구 차례인가"를 정하는 규칙의 부재가 쟁점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85216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 b="0">
                <a:solidFill>
                  <a:srgbClr val="767A7F"/>
                </a:solidFill>
                <a:latin typeface="맑은 고딕"/>
                <a:ea typeface="맑은 고딕"/>
              </a:rPr>
              <a:t>이 제도 사실들은 모두 공개 문서(고시·공고·지침)에서 확인했으며, 분석의 판단 기준으로만 사용한다.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310896" cy="31089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A3F45"/>
              </a:gs>
              <a:gs pos="100000">
                <a:srgbClr val="73787E"/>
              </a:gs>
            </a:gsLst>
            <a:lin ang="18900000" scaled="0"/>
          </a:gradFill>
          <a:ln>
            <a:noFill/>
          </a:ln>
          <a:effectLst>
            <a:outerShdw blurRad="109728" dist="36576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96926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2150" b="1">
                <a:solidFill>
                  <a:srgbClr val="1C1C1E"/>
                </a:solidFill>
                <a:latin typeface="맑은 고딕"/>
                <a:ea typeface="맑은 고딕"/>
              </a:rPr>
              <a:t>데이터 수집 계획 — 전량 공개 자료, 승인 불요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969264"/>
            <a:ext cx="4206240" cy="27432"/>
          </a:xfrm>
          <a:prstGeom prst="rect">
            <a:avLst/>
          </a:prstGeom>
          <a:gradFill rotWithShape="1">
            <a:gsLst>
              <a:gs pos="0">
                <a:srgbClr val="2A2E33"/>
              </a:gs>
              <a:gs pos="100000">
                <a:srgbClr val="FFFFFF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35640" y="164592"/>
            <a:ext cx="1188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3000" b="1">
                <a:solidFill>
                  <a:srgbClr val="D8DADD"/>
                </a:solidFill>
                <a:latin typeface="맑은 고딕"/>
                <a:ea typeface="맑은 고딕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850" b="0">
                <a:solidFill>
                  <a:srgbClr val="B2B5B9"/>
                </a:solidFill>
                <a:latin typeface="맑은 고딕"/>
                <a:ea typeface="맑은 고딕"/>
              </a:rPr>
              <a:t>2026 명지대학교 창의적 SW프로그램 경진대회 · 빅데이터 분석 — 데이터 분석 계획서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11292840" cy="22677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9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원천</a:t>
                      </a:r>
                    </a:p>
                  </a:txBody>
                  <a:tcPr marL="73152" marR="73152" marT="27432" marB="27432" anchor="ctr">
                    <a:solidFill>
                      <a:srgbClr val="3339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내용</a:t>
                      </a:r>
                    </a:p>
                  </a:txBody>
                  <a:tcPr marL="73152" marR="73152" marT="27432" marB="27432" anchor="ctr">
                    <a:solidFill>
                      <a:srgbClr val="3339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확보 방법</a:t>
                      </a:r>
                    </a:p>
                  </a:txBody>
                  <a:tcPr marL="73152" marR="73152" marT="27432" marB="27432" anchor="ctr">
                    <a:solidFill>
                      <a:srgbClr val="3339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헬스맵 공공보건의료 데이터셋 9종 (국립중앙의료원, 2023)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판정지표·인구·분만건수·기관정보·환자 유출입 약 226만 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공공데이터포털 15154171 (로그인·승인 불요)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복지부 공고 제2026-144호</a:t>
                      </a:r>
                    </a:p>
                  </a:txBody>
                  <a:tcPr marL="73152" marR="73152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분만취약지 108곳 등급표 + 기지원 표시</a:t>
                      </a:r>
                    </a:p>
                  </a:txBody>
                  <a:tcPr marL="73152" marR="73152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PDF 표를 직접 전사</a:t>
                      </a:r>
                    </a:p>
                  </a:txBody>
                  <a:tcPr marL="73152" marR="73152" marT="27432" marB="27432" anchor="ctr"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분만취약지 지원사업 안내 (343쪽)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판정 임계값·선정 절차·배점표·사업 유형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정부 공개 지침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38862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400" b="1">
                <a:solidFill>
                  <a:srgbClr val="33393F"/>
                </a:solidFill>
                <a:latin typeface="맑은 고딕"/>
                <a:ea typeface="맑은 고딕"/>
              </a:rPr>
              <a:t>직접 구축할 파생 데이터 3종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29768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4425696"/>
            <a:ext cx="3246120" cy="11612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D1 · 등급-지원 데이터셋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PDF 공고 표를 전사하고 합계 검증 코드(assert)로 전사 오류를 자동 차단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429768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4425696"/>
            <a:ext cx="3246120" cy="11612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D2 · 관내 분만 수행량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유출입 자료를 기관 소재지 기준으로 합산해 "그 지역 병원이 받은 분만"을 추정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429768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66760" y="4425696"/>
            <a:ext cx="3246120" cy="11612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D3 · 미충족 분만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분만건수 × (1−TRI/100): 기준시간 밖에서 이뤄진 출산 규모(부담 축 지표)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943600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200" b="1">
                <a:solidFill>
                  <a:srgbClr val="1C1C1E"/>
                </a:solidFill>
                <a:latin typeface="맑은 고딕"/>
                <a:ea typeface="맑은 고딕"/>
              </a:rPr>
              <a:t>원칙: 로그인이 필요하거나 재현 불가능한 자료는 쓰지 않는다 — 누구나 같은 결과를 재현할 수 있어야 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310896" cy="31089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A3F45"/>
              </a:gs>
              <a:gs pos="100000">
                <a:srgbClr val="73787E"/>
              </a:gs>
            </a:gsLst>
            <a:lin ang="18900000" scaled="0"/>
          </a:gradFill>
          <a:ln>
            <a:noFill/>
          </a:ln>
          <a:effectLst>
            <a:outerShdw blurRad="109728" dist="36576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96926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2150" b="1">
                <a:solidFill>
                  <a:srgbClr val="1C1C1E"/>
                </a:solidFill>
                <a:latin typeface="맑은 고딕"/>
                <a:ea typeface="맑은 고딕"/>
              </a:rPr>
              <a:t>전처리·품질 관리 계획 — 예상 함정과 대응 설계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969264"/>
            <a:ext cx="4206240" cy="27432"/>
          </a:xfrm>
          <a:prstGeom prst="rect">
            <a:avLst/>
          </a:prstGeom>
          <a:gradFill rotWithShape="1">
            <a:gsLst>
              <a:gs pos="0">
                <a:srgbClr val="2A2E33"/>
              </a:gs>
              <a:gs pos="100000">
                <a:srgbClr val="FFFFFF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35640" y="164592"/>
            <a:ext cx="1188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3000" b="1">
                <a:solidFill>
                  <a:srgbClr val="D8DADD"/>
                </a:solidFill>
                <a:latin typeface="맑은 고딕"/>
                <a:ea typeface="맑은 고딕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850" b="0">
                <a:solidFill>
                  <a:srgbClr val="B2B5B9"/>
                </a:solidFill>
                <a:latin typeface="맑은 고딕"/>
                <a:ea typeface="맑은 고딕"/>
              </a:rPr>
              <a:t>2026 명지대학교 창의적 SW프로그램 경진대회 · 빅데이터 분석 — 데이터 분석 계획서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11292840" cy="28529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63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예상 함정</a:t>
                      </a:r>
                    </a:p>
                  </a:txBody>
                  <a:tcPr marL="73152" marR="73152" marT="27432" marB="27432" anchor="ctr">
                    <a:solidFill>
                      <a:srgbClr val="3339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대응 계획</a:t>
                      </a:r>
                    </a:p>
                  </a:txBody>
                  <a:tcPr marL="73152" marR="73152" marT="27432" marB="27432" anchor="ctr">
                    <a:solidFill>
                      <a:srgbClr val="3339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유출입 자료의 방향(출발/도착) 정의가 문서에 없음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행·열 합계와 "병원 없는 지역" 교차 대조로 방향을 확정한 뒤 사용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수요(주민이 낳은 수)와 공급(병원이 받은 수)의 혼동</a:t>
                      </a:r>
                    </a:p>
                  </a:txBody>
                  <a:tcPr marL="73152" marR="73152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두 개념을 변수명부터 분리하고, 파생 지표 정의를 문서화</a:t>
                      </a:r>
                    </a:p>
                  </a:txBody>
                  <a:tcPr marL="73152" marR="73152" marT="27432" marB="27432" anchor="ctr"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동명 시군구(강원/경남 고성군 등)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(시도, 시군구) 복합키를 전 구간에 강제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행정구역 변동(군위군 대구 편입 등)</a:t>
                      </a:r>
                    </a:p>
                  </a:txBody>
                  <a:tcPr marL="73152" marR="73152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기준 시점을 정해 정규화하고 변동 이력을 기록</a:t>
                      </a:r>
                    </a:p>
                  </a:txBody>
                  <a:tcPr marL="73152" marR="73152" marT="27432" marB="27432" anchor="ctr"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결측·전면 누락 지표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전 지표 결측 감사 후 배제 목록과 사유를 보고서에 남김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2920" y="4480560"/>
            <a:ext cx="11292840" cy="1600200"/>
          </a:xfrm>
          <a:prstGeom prst="roundRect">
            <a:avLst>
              <a:gd name="adj" fmla="val 5142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4608576"/>
            <a:ext cx="10927080" cy="1344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품질 게이트 (통과해야 분석 단계로 진행)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보고서의 모든 수치는 스크립트 재실행으로 재현되어야 한다 (수기 계산 금지)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직접 구축 지표(D2 등)는 공식 통계와 상관·오차를 대조하는 이중 검증을 통과해야 한다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전사 데이터(D1)는 공고의 등급별 합계와 자동 대조(assert)한다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310896" cy="31089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A3F45"/>
              </a:gs>
              <a:gs pos="100000">
                <a:srgbClr val="73787E"/>
              </a:gs>
            </a:gsLst>
            <a:lin ang="18900000" scaled="0"/>
          </a:gradFill>
          <a:ln>
            <a:noFill/>
          </a:ln>
          <a:effectLst>
            <a:outerShdw blurRad="109728" dist="36576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96926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2150" b="1">
                <a:solidFill>
                  <a:srgbClr val="1C1C1E"/>
                </a:solidFill>
                <a:latin typeface="맑은 고딕"/>
                <a:ea typeface="맑은 고딕"/>
              </a:rPr>
              <a:t>분석 설계 ① 지정 감사 (RQ1·RQ2)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969264"/>
            <a:ext cx="4206240" cy="27432"/>
          </a:xfrm>
          <a:prstGeom prst="rect">
            <a:avLst/>
          </a:prstGeom>
          <a:gradFill rotWithShape="1">
            <a:gsLst>
              <a:gs pos="0">
                <a:srgbClr val="2A2E33"/>
              </a:gs>
              <a:gs pos="100000">
                <a:srgbClr val="FFFFFF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35640" y="164592"/>
            <a:ext cx="1188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3000" b="1">
                <a:solidFill>
                  <a:srgbClr val="D8DADD"/>
                </a:solidFill>
                <a:latin typeface="맑은 고딕"/>
                <a:ea typeface="맑은 고딕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11155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250" b="0">
                <a:solidFill>
                  <a:srgbClr val="767A7F"/>
                </a:solidFill>
                <a:latin typeface="맑은 고딕"/>
                <a:ea typeface="맑은 고딕"/>
              </a:rPr>
              <a:t>공표된 규칙을 그대로 재계산해 실제와 대조한다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850" b="0">
                <a:solidFill>
                  <a:srgbClr val="B2B5B9"/>
                </a:solidFill>
                <a:latin typeface="맑은 고딕"/>
                <a:ea typeface="맑은 고딕"/>
              </a:rPr>
              <a:t>2026 명지대학교 창의적 SW프로그램 경진대회 · 빅데이터 분석 — 데이터 분석 계획서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37360"/>
            <a:ext cx="361188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865376"/>
            <a:ext cx="3246120" cy="2395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50" b="1">
                <a:solidFill>
                  <a:srgbClr val="33393F"/>
                </a:solidFill>
                <a:latin typeface="맑은 고딕"/>
                <a:ea typeface="맑은 고딕"/>
              </a:rPr>
              <a:t>1단계 · 판정식 검증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공표 임계값(접근성·TRI 30/30 등)으로 전 지역을 재판정하고 실제 지정 결과와 대조한다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일치율과 불일치 사례를 모두 보고한다 — 불일치는 오류가 아니라 행정 층의 증거로 해석할 계획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737360"/>
            <a:ext cx="361188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1865376"/>
            <a:ext cx="3246120" cy="2395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50" b="1">
                <a:solidFill>
                  <a:srgbClr val="33393F"/>
                </a:solidFill>
                <a:latin typeface="맑은 고딕"/>
                <a:ea typeface="맑은 고딕"/>
              </a:rPr>
              <a:t>2단계 · 공급 반영 검정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로지스틱 회귀(5-겹 교차검증)로 판정을 예측하고, 공급 변수(전문의 수 등)를 추가했을 때 판별력(AUC)이 개선되는지 본다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개선이 없다면 판정이 공급을 보지 않는다는 증거다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1737360"/>
            <a:ext cx="361188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60" y="1865376"/>
            <a:ext cx="3246120" cy="2395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50" b="1">
                <a:solidFill>
                  <a:srgbClr val="33393F"/>
                </a:solidFill>
                <a:latin typeface="맑은 고딕"/>
                <a:ea typeface="맑은 고딕"/>
              </a:rPr>
              <a:t>3단계 · 사각지대 탐지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"거리 기준 통과 ∧ 관내 공급 공백 ∧ 관내 이용 0"의 3중 기준을 사전 정의하고 해당 지역을 탐지한다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중증 이송 반론은 동급 병원 유출 분리로, 선호 원정 반론은 관내 선택지 유무로 통제한다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663440"/>
            <a:ext cx="112928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4791455"/>
            <a:ext cx="10927080" cy="11612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판단 기준의 사전 명시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무엇을 "재현 성공"으로, 무엇을 "사각지대"로 볼지의 기준을 분석 전에 확정해 보고서에 명시한다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반대 해석(예: "옆 도시로 가면 되지 않는가")을 본문에서 정면으로 다루는 섹션을 계획에 포함한다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310896" cy="31089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A3F45"/>
              </a:gs>
              <a:gs pos="100000">
                <a:srgbClr val="73787E"/>
              </a:gs>
            </a:gsLst>
            <a:lin ang="18900000" scaled="0"/>
          </a:gradFill>
          <a:ln>
            <a:noFill/>
          </a:ln>
          <a:effectLst>
            <a:outerShdw blurRad="109728" dist="36576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96926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2150" b="1">
                <a:solidFill>
                  <a:srgbClr val="1C1C1E"/>
                </a:solidFill>
                <a:latin typeface="맑은 고딕"/>
                <a:ea typeface="맑은 고딕"/>
              </a:rPr>
              <a:t>분석 설계 ② 배분 진단 (RQ3)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969264"/>
            <a:ext cx="4206240" cy="27432"/>
          </a:xfrm>
          <a:prstGeom prst="rect">
            <a:avLst/>
          </a:prstGeom>
          <a:gradFill rotWithShape="1">
            <a:gsLst>
              <a:gs pos="0">
                <a:srgbClr val="2A2E33"/>
              </a:gs>
              <a:gs pos="100000">
                <a:srgbClr val="FFFFFF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35640" y="164592"/>
            <a:ext cx="1188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3000" b="1">
                <a:solidFill>
                  <a:srgbClr val="D8DADD"/>
                </a:solidFill>
                <a:latin typeface="맑은 고딕"/>
                <a:ea typeface="맑은 고딕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11155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250" b="0">
                <a:solidFill>
                  <a:srgbClr val="767A7F"/>
                </a:solidFill>
                <a:latin typeface="맑은 고딕"/>
                <a:ea typeface="맑은 고딕"/>
              </a:rPr>
              <a:t>작은 표본의 관행을 지키는 검정 사다리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850" b="0">
                <a:solidFill>
                  <a:srgbClr val="B2B5B9"/>
                </a:solidFill>
                <a:latin typeface="맑은 고딕"/>
                <a:ea typeface="맑은 고딕"/>
              </a:rPr>
              <a:t>2026 명지대학교 창의적 SW프로그램 경진대회 · 빅데이터 분석 — 데이터 분석 계획서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37360"/>
            <a:ext cx="1129284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865376"/>
            <a:ext cx="1092708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설계 원칙 — C등급 제외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C의 정의에 "지원 기수령"이 포함되어, 지원받으면 C가 되는 순환 구조가 있다 — 종속변수가 집단 정의에 새어드는 셈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이 누출을 막기 위해 실질 취약지 A·B만으로 배분을 분석한다 (제외 논리 자체를 보고서에 기록)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54680"/>
            <a:ext cx="2286000" cy="68580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2A2E33"/>
              </a:gs>
              <a:gs pos="100000">
                <a:srgbClr val="4A4F55"/>
              </a:gs>
            </a:gsLst>
            <a:lin ang="14700000" scaled="0"/>
          </a:gradFill>
          <a:ln>
            <a:noFill/>
          </a:ln>
          <a:effectLst>
            <a:outerShdw blurRad="182880" dist="64008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3227832"/>
            <a:ext cx="2103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①  분할표 검정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0" y="3154680"/>
            <a:ext cx="886968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108960" y="3227832"/>
            <a:ext cx="8549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A·B 등급과 지원 여부의 연관을 Fisher 정확검정으로 확인 (작은 표에 적합)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023360"/>
            <a:ext cx="2286000" cy="68580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2A2E33"/>
              </a:gs>
              <a:gs pos="100000">
                <a:srgbClr val="4A4F55"/>
              </a:gs>
            </a:gsLst>
            <a:lin ang="14700000" scaled="0"/>
          </a:gradFill>
          <a:ln>
            <a:noFill/>
          </a:ln>
          <a:effectLst>
            <a:outerShdw blurRad="182880" dist="64008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096512"/>
            <a:ext cx="2103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②  변수별 비교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0" y="4023360"/>
            <a:ext cx="886968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108960" y="4096512"/>
            <a:ext cx="8549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지원/미지원 집단의 지표 차이를 Mann-Whitney U로 검정하고, 다중비교는 BH 보정으로 통제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892040"/>
            <a:ext cx="2286000" cy="68580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2A2E33"/>
              </a:gs>
              <a:gs pos="100000">
                <a:srgbClr val="4A4F55"/>
              </a:gs>
            </a:gsLst>
            <a:lin ang="14700000" scaled="0"/>
          </a:gradFill>
          <a:ln>
            <a:noFill/>
          </a:ln>
          <a:effectLst>
            <a:outerShdw blurRad="182880" dist="64008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4965192"/>
            <a:ext cx="2103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③  다변량 모형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26080" y="4892040"/>
            <a:ext cx="886968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108960" y="4965192"/>
            <a:ext cx="8549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사건 수 대비 변수 수 관행(EPV)을 지켜 소수 변수 로지스틱 + 우도비검정 + 부트스트랩 부호 일관성으로 판단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89788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767A7F"/>
                </a:solidFill>
                <a:latin typeface="맑은 고딕"/>
                <a:ea typeface="맑은 고딕"/>
              </a:rPr>
              <a:t>보고 원칙: "유의하지 않음"을 "효과 없음"으로 쓰지 않는다 — 표본이 작아 식별 불가일 수 있음을 명시하고,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 b="0">
                <a:solidFill>
                  <a:srgbClr val="767A7F"/>
                </a:solidFill>
                <a:latin typeface="맑은 고딕"/>
                <a:ea typeface="맑은 고딕"/>
              </a:rPr>
              <a:t>개별 p값보다 방향의 안정성(부트스트랩)과 모형 설명력을 함께 제시한다.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310896" cy="31089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A3F45"/>
              </a:gs>
              <a:gs pos="100000">
                <a:srgbClr val="73787E"/>
              </a:gs>
            </a:gsLst>
            <a:lin ang="18900000" scaled="0"/>
          </a:gradFill>
          <a:ln>
            <a:noFill/>
          </a:ln>
          <a:effectLst>
            <a:outerShdw blurRad="109728" dist="36576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96926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2150" b="1">
                <a:solidFill>
                  <a:srgbClr val="1C1C1E"/>
                </a:solidFill>
                <a:latin typeface="맑은 고딕"/>
                <a:ea typeface="맑은 고딕"/>
              </a:rPr>
              <a:t>분석 설계 ③ 처방 — 우선순위·유형 배정 모형 (RQ4)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969264"/>
            <a:ext cx="4206240" cy="27432"/>
          </a:xfrm>
          <a:prstGeom prst="rect">
            <a:avLst/>
          </a:prstGeom>
          <a:gradFill rotWithShape="1">
            <a:gsLst>
              <a:gs pos="0">
                <a:srgbClr val="2A2E33"/>
              </a:gs>
              <a:gs pos="100000">
                <a:srgbClr val="FFFFFF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35640" y="164592"/>
            <a:ext cx="1188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3000" b="1">
                <a:solidFill>
                  <a:srgbClr val="D8DADD"/>
                </a:solidFill>
                <a:latin typeface="맑은 고딕"/>
                <a:ea typeface="맑은 고딕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11155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250" b="0">
                <a:solidFill>
                  <a:srgbClr val="767A7F"/>
                </a:solidFill>
                <a:latin typeface="맑은 고딕"/>
                <a:ea typeface="맑은 고딕"/>
              </a:rPr>
              <a:t>새 기준을 만들지 않는다: 정부 문서의 임계값만 조합한다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850" b="0">
                <a:solidFill>
                  <a:srgbClr val="B2B5B9"/>
                </a:solidFill>
                <a:latin typeface="맑은 고딕"/>
                <a:ea typeface="맑은 고딕"/>
              </a:rPr>
              <a:t>2026 명지대학교 창의적 SW프로그램 경진대회 · 빅데이터 분석 — 데이터 분석 계획서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37360"/>
            <a:ext cx="553212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865376"/>
            <a:ext cx="5166359" cy="1801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우선순위 — 두 관점을 병렬 제시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심도 축: 취약이 가장 깊은 곳 먼저 — 객관 가중(엔트로피·CRITIC) + TOPSIS 종합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부담 축: 영향 인원이 큰 곳 먼저 — 미충족 분만 규모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두 축을 평균해 합성하지 않는다 — 가치 선택을 가리는 대신 병렬로 드러내는 것이 목적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737360"/>
            <a:ext cx="553212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865376"/>
            <a:ext cx="5166359" cy="1801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유형 배정 — 규칙 기반 (머신러닝 아님)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관내 수행·인구·수요·접근성의 정부 임계값만으로 설치/운영지원/외래/순회 4유형을 규칙 배정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학습이 없어 과적합·라벨 누수 논쟁에서 자유롭고, 모든 판정이 문서의 숫자로 소급 가능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023360"/>
            <a:ext cx="112928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4151376"/>
            <a:ext cx="10927080" cy="1709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검증 계획 — 모형을 스스로 공격한다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외부 검증: 공고의 순회진료 대상 목록과 본 규칙의 판정을 교차 대조한다 (일치·불일치 모두 보고)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민감도 분석: 차용한 임계값을 변화시켜 결과가 얼마나 흔들리는지 공개한다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강건성 분석: 가중법을 바꿔(엔트로피/CRITIC/동일 가중) 순위가 유지되는지 확인한다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실패한 설계(예: 군집분석이 부적합하면 기각 사유)도 은폐하지 않고 보고서에 남긴다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310896" cy="31089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A3F45"/>
              </a:gs>
              <a:gs pos="100000">
                <a:srgbClr val="73787E"/>
              </a:gs>
            </a:gsLst>
            <a:lin ang="18900000" scaled="0"/>
          </a:gradFill>
          <a:ln>
            <a:noFill/>
          </a:ln>
          <a:effectLst>
            <a:outerShdw blurRad="109728" dist="36576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96926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2150" b="1">
                <a:solidFill>
                  <a:srgbClr val="1C1C1E"/>
                </a:solidFill>
                <a:latin typeface="맑은 고딕"/>
                <a:ea typeface="맑은 고딕"/>
              </a:rPr>
              <a:t>기대 산출물과 활용 계획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969264"/>
            <a:ext cx="4206240" cy="27432"/>
          </a:xfrm>
          <a:prstGeom prst="rect">
            <a:avLst/>
          </a:prstGeom>
          <a:gradFill rotWithShape="1">
            <a:gsLst>
              <a:gs pos="0">
                <a:srgbClr val="2A2E33"/>
              </a:gs>
              <a:gs pos="100000">
                <a:srgbClr val="FFFFFF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35640" y="164592"/>
            <a:ext cx="1188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3000" b="1">
                <a:solidFill>
                  <a:srgbClr val="D8DADD"/>
                </a:solidFill>
                <a:latin typeface="맑은 고딕"/>
                <a:ea typeface="맑은 고딕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850" b="0">
                <a:solidFill>
                  <a:srgbClr val="B2B5B9"/>
                </a:solidFill>
                <a:latin typeface="맑은 고딕"/>
                <a:ea typeface="맑은 고딕"/>
              </a:rPr>
              <a:t>2026 명지대학교 창의적 SW프로그램 경진대회 · 빅데이터 분석 — 데이터 분석 계획서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499616"/>
            <a:ext cx="3246120" cy="1709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보고서·시각화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통합 결과보고서 (지정 감사 + 배분 진단·처방)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그림: 심도-부담 산점도, 등급별 지원율, 유형 배정 교차표, 전국 불일치 지도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37160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26280" y="1499616"/>
            <a:ext cx="3246120" cy="1709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표 산출물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전국 우선순위표 (지역×순위×권고유형×근거)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시·도별 우선순위표 — 배분 심사가 시·도 단위이므로 실무에 바로 쓰이는 형태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137160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66760" y="1499616"/>
            <a:ext cx="3246120" cy="1709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정책 제언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지정: 공급 공백형 트랙 / 지표: 관내·관외 병기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배분: 부담 축 병기, 표준 우선순위표 제공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— 모두 예산 증액 없이 가능한 방향으로 설계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61188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400" b="1">
                <a:solidFill>
                  <a:srgbClr val="33393F"/>
                </a:solidFill>
                <a:latin typeface="맑은 고딕"/>
                <a:ea typeface="맑은 고딕"/>
              </a:rPr>
              <a:t>평가 기준 대응 계획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02920" y="4023360"/>
          <a:ext cx="11292840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평가 항목 (배점)</a:t>
                      </a:r>
                    </a:p>
                  </a:txBody>
                  <a:tcPr marL="73152" marR="73152" marT="27432" marB="27432" anchor="ctr">
                    <a:solidFill>
                      <a:srgbClr val="3339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본 계획의 대응</a:t>
                      </a:r>
                    </a:p>
                  </a:txBody>
                  <a:tcPr marL="73152" marR="73152" marT="27432" marB="27432" anchor="ctr">
                    <a:solidFill>
                      <a:srgbClr val="3339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계획 수립·이론적 고찰 (30)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제도 파이프라인 문제화, RQ 4개, 접근성 2축 이론, 사전 명시된 판단 기준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수집·전처리·EDA (30)</a:t>
                      </a:r>
                    </a:p>
                  </a:txBody>
                  <a:tcPr marL="73152" marR="73152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공개 데이터 226만 행 + 정부 문서, 파생 3종 구축, 함정 대응·품질 게이트</a:t>
                      </a:r>
                    </a:p>
                  </a:txBody>
                  <a:tcPr marL="73152" marR="73152" marT="27432" marB="27432" anchor="ctr"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데이터 분석 (20)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검증-진단-처방의 3단 설계, 작은 표본 관행 준수, 민감도·강건성·외부 검증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창의성·완성도 (20)</a:t>
                      </a:r>
                    </a:p>
                  </a:txBody>
                  <a:tcPr marL="73152" marR="73152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제도 전 과정 감사 프레임, 두 관점 병렬 제시, 실패 설계 공개, 전 수치 재현</a:t>
                      </a:r>
                    </a:p>
                  </a:txBody>
                  <a:tcPr marL="73152" marR="73152" marT="27432" marB="27432" anchor="ctr"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310896" cy="31089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A3F45"/>
              </a:gs>
              <a:gs pos="100000">
                <a:srgbClr val="73787E"/>
              </a:gs>
            </a:gsLst>
            <a:lin ang="18900000" scaled="0"/>
          </a:gradFill>
          <a:ln>
            <a:noFill/>
          </a:ln>
          <a:effectLst>
            <a:outerShdw blurRad="109728" dist="36576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96926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2150" b="1">
                <a:solidFill>
                  <a:srgbClr val="1C1C1E"/>
                </a:solidFill>
                <a:latin typeface="맑은 고딕"/>
                <a:ea typeface="맑은 고딕"/>
              </a:rPr>
              <a:t>추진 일정과 역할 분담 (2인)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969264"/>
            <a:ext cx="4206240" cy="27432"/>
          </a:xfrm>
          <a:prstGeom prst="rect">
            <a:avLst/>
          </a:prstGeom>
          <a:gradFill rotWithShape="1">
            <a:gsLst>
              <a:gs pos="0">
                <a:srgbClr val="2A2E33"/>
              </a:gs>
              <a:gs pos="100000">
                <a:srgbClr val="FFFFFF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35640" y="164592"/>
            <a:ext cx="1188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3000" b="1">
                <a:solidFill>
                  <a:srgbClr val="D8DADD"/>
                </a:solidFill>
                <a:latin typeface="맑은 고딕"/>
                <a:ea typeface="맑은 고딕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850" b="0">
                <a:solidFill>
                  <a:srgbClr val="B2B5B9"/>
                </a:solidFill>
                <a:latin typeface="맑은 고딕"/>
                <a:ea typeface="맑은 고딕"/>
              </a:rPr>
              <a:t>2026 명지대학교 창의적 SW프로그램 경진대회 · 빅데이터 분석 — 데이터 분석 계획서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11292840" cy="3328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12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기간</a:t>
                      </a:r>
                    </a:p>
                  </a:txBody>
                  <a:tcPr marL="73152" marR="73152" marT="27432" marB="27432" anchor="ctr">
                    <a:solidFill>
                      <a:srgbClr val="3339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할 일</a:t>
                      </a:r>
                    </a:p>
                  </a:txBody>
                  <a:tcPr marL="73152" marR="73152" marT="27432" marB="27432" anchor="ctr">
                    <a:solidFill>
                      <a:srgbClr val="3339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산출물</a:t>
                      </a:r>
                    </a:p>
                  </a:txBody>
                  <a:tcPr marL="73152" marR="73152" marT="27432" marB="27432" anchor="ctr">
                    <a:solidFill>
                      <a:srgbClr val="3339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7월 하순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주제 탐색·후보 검증, 데이터 실물 확인(확보 가능성 전수 점검)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주제 확정 기록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8월 1주</a:t>
                      </a:r>
                    </a:p>
                  </a:txBody>
                  <a:tcPr marL="73152" marR="73152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데이터 수집·전처리, 파생 데이터 구축과 이중 검증, EDA</a:t>
                      </a:r>
                    </a:p>
                  </a:txBody>
                  <a:tcPr marL="73152" marR="73152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정제 데이터·EDA 노트</a:t>
                      </a:r>
                    </a:p>
                  </a:txBody>
                  <a:tcPr marL="73152" marR="73152" marT="27432" marB="27432" anchor="ctr"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8월 2주 전반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지정 감사(판정식 검증·사각지대) + 배분 진단(검정 사다리)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분석 스크립트·로그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8월 2주 후반</a:t>
                      </a:r>
                    </a:p>
                  </a:txBody>
                  <a:tcPr marL="73152" marR="73152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처방 모형(우선순위·유형 배정)과 검증, 통합 결과보고서·그림</a:t>
                      </a:r>
                    </a:p>
                  </a:txBody>
                  <a:tcPr marL="73152" marR="73152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결과보고서·그림·표</a:t>
                      </a:r>
                    </a:p>
                  </a:txBody>
                  <a:tcPr marL="73152" marR="73152" marT="27432" marB="27432" anchor="ctr"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8/11 ~ 8/13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계획서·결과보고서 PPT, 시연 영상(5분), 소스·데이터 패키징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제출물 일체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8/14 (금)</a:t>
                      </a:r>
                    </a:p>
                  </a:txBody>
                  <a:tcPr marL="73152" marR="73152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최종 점검 후 17:00 전 USB 방문 제출</a:t>
                      </a:r>
                    </a:p>
                  </a:txBody>
                  <a:tcPr marL="73152" marR="73152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2920" y="4892040"/>
            <a:ext cx="55321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5020055"/>
            <a:ext cx="5166359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대표자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지정 감사 설계·수행, 지도 시각화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통합 보고서 작성, 계획서·결과 PPT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4892040"/>
            <a:ext cx="55321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5020055"/>
            <a:ext cx="5166359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팀원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배분 진단·처방 모형 설계·수행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그림 제작, 분석 재현성 검증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2618</Words>
  <Application>Microsoft Office PowerPoint</Application>
  <PresentationFormat>와이드스크린</PresentationFormat>
  <Paragraphs>274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유형준</cp:lastModifiedBy>
  <cp:revision>6</cp:revision>
  <dcterms:created xsi:type="dcterms:W3CDTF">2013-01-27T09:14:16Z</dcterms:created>
  <dcterms:modified xsi:type="dcterms:W3CDTF">2026-08-12T12:45:58Z</dcterms:modified>
  <cp:category/>
</cp:coreProperties>
</file>