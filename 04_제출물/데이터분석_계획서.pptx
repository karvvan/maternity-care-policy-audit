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c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-2926080"/>
            <a:ext cx="7315200" cy="7315200"/>
          </a:xfrm>
          <a:prstGeom prst="rect">
            <a:avLst/>
          </a:prstGeom>
        </p:spPr>
      </p:pic>
      <p:pic>
        <p:nvPicPr>
          <p:cNvPr id="4" name="Picture 3" descr="blob_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108960" y="2377440"/>
            <a:ext cx="7863840" cy="7863840"/>
          </a:xfrm>
          <a:prstGeom prst="rect">
            <a:avLst/>
          </a:prstGeom>
        </p:spPr>
      </p:pic>
      <p:pic>
        <p:nvPicPr>
          <p:cNvPr id="5" name="Picture 4" descr="blob_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5120640"/>
            <a:ext cx="4206240" cy="4206240"/>
          </a:xfrm>
          <a:prstGeom prst="rect">
            <a:avLst/>
          </a:prstGeom>
        </p:spPr>
      </p:pic>
      <p:pic>
        <p:nvPicPr>
          <p:cNvPr id="6" name="Picture 5" descr="korea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777240"/>
            <a:ext cx="3383280" cy="4687928"/>
          </a:xfrm>
          <a:prstGeom prst="rect">
            <a:avLst/>
          </a:prstGeom>
        </p:spPr>
      </p:pic>
      <p:pic>
        <p:nvPicPr>
          <p:cNvPr id="7" name="Picture 6" descr="icon_pi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1234440"/>
            <a:ext cx="566928" cy="634644"/>
          </a:xfrm>
          <a:prstGeom prst="rect">
            <a:avLst/>
          </a:prstGeom>
        </p:spPr>
      </p:pic>
      <p:pic>
        <p:nvPicPr>
          <p:cNvPr id="8" name="Picture 7" descr="sphere_cor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4160520"/>
            <a:ext cx="1600200" cy="1866899"/>
          </a:xfrm>
          <a:prstGeom prst="rect">
            <a:avLst/>
          </a:prstGeom>
        </p:spPr>
      </p:pic>
      <p:pic>
        <p:nvPicPr>
          <p:cNvPr id="9" name="Picture 8" descr="ring_blu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61320" y="4480560"/>
            <a:ext cx="1600200" cy="1600200"/>
          </a:xfrm>
          <a:prstGeom prst="rect">
            <a:avLst/>
          </a:prstGeom>
        </p:spPr>
      </p:pic>
      <p:pic>
        <p:nvPicPr>
          <p:cNvPr id="10" name="Picture 9" descr="sphere_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0" y="685800"/>
            <a:ext cx="658368" cy="7673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81328"/>
            <a:ext cx="73152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6A7B92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222E40"/>
                </a:solidFill>
                <a:latin typeface="맑은 고딕"/>
                <a:ea typeface="맑은 고딕"/>
              </a:rPr>
              <a:t>측정과 배분 사이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17456B"/>
                </a:solidFill>
                <a:latin typeface="맑은 고딕"/>
                <a:ea typeface="맑은 고딕"/>
              </a:rPr>
              <a:t>— 분만취약지 제도의 전 과정 데이터 감사와 우선순위 모형</a:t>
            </a:r>
          </a:p>
        </p:txBody>
      </p:sp>
      <p:pic>
        <p:nvPicPr>
          <p:cNvPr id="13" name="Picture 12" descr="glow_b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" y="4370832"/>
            <a:ext cx="5852160" cy="502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4400" y="4663440"/>
            <a:ext cx="6949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600"/>
              </a:spcAft>
            </a:pPr>
            <a:r>
              <a:rPr sz="1350" b="1">
                <a:solidFill>
                  <a:srgbClr val="222E40"/>
                </a:solidFill>
                <a:latin typeface="맑은 고딕"/>
                <a:ea typeface="맑은 고딕"/>
              </a:rPr>
              <a:t>2026 제5회 명지대학교 창의적 SW프로그램 경진대회 · 빅데이터 분석 부문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정부는 취약지를 정밀하게 측정한다. 지정 규칙과 배분 규칙은 그 측정을 따르는가 —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정부 자신의 공개 데이터와 기준만으로 제도의 전 과정을 감사한다.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문제 인식 — 취약지 정책은 세 단계 파이프라인이다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3291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6304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① 측정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2년마다 전국 시·군의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접근성·의료이용률 산출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3048" y="169164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6A7B92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371600"/>
            <a:ext cx="3291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1" y="146304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측정값으로 취약지 판정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(등급 부여)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169164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6A7B92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1371600"/>
            <a:ext cx="3291840" cy="1143000"/>
          </a:xfrm>
          <a:prstGeom prst="roundRect">
            <a:avLst>
              <a:gd name="adj" fmla="val 719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22792" y="1463040"/>
            <a:ext cx="3017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지정 지역 병원에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시설·운영비 지원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78892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1693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의심 1 — 지정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판정 기준은 이동시간 파생 지표뿐이다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관내 분만 인프라가 소멸해도 "옆 도시로 60분 안에 갈 수 있으면" 취약지가 아니게 되는 구조 아닌가?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→ 기준이 구조적으로 놓치는 지역이 있는지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78892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FF3EE"/>
          </a:solidFill>
          <a:ln w="12700">
            <a:solidFill>
              <a:srgbClr val="F6CDBE"/>
            </a:solidFill>
          </a:ln>
          <a:effectLst>
            <a:outerShdw blurRad="182880" dist="64008" dir="5400000" rotWithShape="0">
              <a:srgbClr val="B24A3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916936"/>
            <a:ext cx="5166359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E85D42"/>
                </a:solidFill>
                <a:latin typeface="맑은 고딕"/>
                <a:ea typeface="맑은 고딕"/>
              </a:rPr>
              <a:t>의심 2 — 배분 단계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지원 심사 배점 100점 중 취약도 항목은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시·도 선별 기준은 "예산 규모, 의료 취약성 등 고려"가 전부 — 누구를 먼저 지원할지의 규칙이 있는가?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→ 현행 배분이 무엇으로 설명되는지 진단한다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0060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28616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왜 지금, 왜 데이터인가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적이 없다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분석 대상은 취약지라는 현상이 아니라, 취약지를 판정하고 지원하는 제도 그 자체다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연구 질문 (RQ) — 감사의 네 가지 물음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RQ1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222E40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222E40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RQ2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222E40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222E40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RQ3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222E40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222E40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17456B"/>
                </a:solidFill>
                <a:latin typeface="맑은 고딕"/>
                <a:ea typeface="맑은 고딕"/>
              </a:rPr>
              <a:t>RQ4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222E40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222E40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222E40"/>
                </a:solidFill>
                <a:latin typeface="맑은 고딕"/>
                <a:ea typeface="맑은 고딕"/>
              </a:rPr>
              <a:t>RQ1·2는 "지정 감사", RQ3·4는 "배분 감사·처방"으로 묶여 제도 파이프라인 전체를 관통한다.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6A7B92"/>
                </a:solidFill>
                <a:latin typeface="맑은 고딕"/>
                <a:ea typeface="맑은 고딕"/>
              </a:rPr>
              <a:t>각 질문은 판단 기준을 분석 전에 명시해(사전 등록 성격) 사후 해석 시비를 차단한다.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이론적 고찰 — 접근성의 두 축과 연구의 차별점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53796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연구의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6675120"/>
                <a:gridCol w="178308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6A7B92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4709160"/>
                <a:gridCol w="3017520"/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222E40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/>
                <a:gridCol w="626364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분석 설계 ① 지정 감사 (RQ1·RQ2)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17456B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17456B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17456B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분석 설계 ② 배분 진단 (RQ3)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1B3A5F"/>
              </a:gs>
              <a:gs pos="100000">
                <a:srgbClr val="17456B"/>
              </a:gs>
            </a:gsLst>
            <a:lin scaled="0" ang="14700000"/>
          </a:gradFill>
          <a:ln>
            <a:noFill/>
          </a:ln>
          <a:effectLst>
            <a:outerShdw blurRad="182880" dist="64008" dir="5400000" rotWithShape="0">
              <a:srgbClr val="2A3B55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6A7B92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6A7B92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분석 설계 ③ 처방 — 우선순위·유형 배정 모형 (RQ4)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6A7B92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222E40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17456B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8001000"/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제도 파이프라인 문제화, RQ 4개, 접근성 2축 이론, 사전 명시된 판단 기준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ob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74720" y="3840480"/>
            <a:ext cx="6583680" cy="6583680"/>
          </a:xfrm>
          <a:prstGeom prst="rect">
            <a:avLst/>
          </a:prstGeom>
        </p:spPr>
      </p:pic>
      <p:pic>
        <p:nvPicPr>
          <p:cNvPr id="4" name="Picture 3" descr="blob_cor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-3291840"/>
            <a:ext cx="6217920" cy="62179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7A59"/>
              </a:gs>
              <a:gs pos="100000">
                <a:srgbClr val="FFB86B"/>
              </a:gs>
            </a:gsLst>
            <a:lin scaled="0" ang="18900000"/>
          </a:gradFill>
          <a:ln>
            <a:noFill/>
          </a:ln>
          <a:effectLst>
            <a:outerShdw blurRad="109728" dist="36576" dir="5400000" rotWithShape="0">
              <a:srgbClr val="C24E3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222E40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pic>
        <p:nvPicPr>
          <p:cNvPr id="7" name="Picture 6" descr="glow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" y="969264"/>
            <a:ext cx="4206240" cy="502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3DDEA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ABB7C7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6812280"/>
                <a:gridCol w="2560320"/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T="27432" marB="27432" marL="73152" marR="73152" anchor="ctr">
                    <a:solidFill>
                      <a:srgbClr val="3339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T="27432" marB="27432" marL="73152" marR="7315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222E4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T="27432" marB="27432" marL="73152" marR="73152" anchor="ctr"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AF2"/>
            </a:solidFill>
          </a:ln>
          <a:effectLst>
            <a:outerShdw blurRad="182880" dist="64008" dir="5400000" rotWithShape="0">
              <a:srgbClr val="2A3B55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17456B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222E40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