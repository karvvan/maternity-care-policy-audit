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267" y="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The image depicts a serene landscape with a lone tree amidst a snowy, clear sky.&#10;&#10;AI 생성 콘텐츠는 정확하지 않을 수 있습니다.">
            <a:extLst>
              <a:ext uri="{FF2B5EF4-FFF2-40B4-BE49-F238E27FC236}">
                <a16:creationId xmlns:a16="http://schemas.microsoft.com/office/drawing/2014/main" id="{40744C8F-A648-34F1-B8FF-B02F03987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0204" y="444829"/>
            <a:ext cx="2055579" cy="207299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5362956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565556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부문</a:t>
            </a:r>
            <a:endParaRPr sz="13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Ⅰ.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문제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정의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파이프라인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05  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검증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4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가지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145535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Ⅱ.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배경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이해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06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이론적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고찰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07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지표·등급·배분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571999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Ⅲ.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계획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08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수집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09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전처리·품질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Ⅳ.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설계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10   ① 지정 감사 (Q1·Q2)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11   ② 배분 진단 (Q3)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12   ③ 처방 모형 (Q4)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145535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Ⅴ.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산출물과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일정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산출물과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활용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추진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일정과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역할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분담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본 계획서는 "왜·어떻게 할 것인가"를 다룬다. 실제 발견과 결과는 결과보고서에서 보고한다.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의료 공급 부족의 원인은 오직 자원부족 때문인가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부족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(㉠)과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배분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(㉡)은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다른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문제이고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해법도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다르다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— 본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계획은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㉡을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맡는다</a:t>
            </a:r>
            <a:endParaRPr sz="12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여전히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존재하는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지방에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"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해마다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처방도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같다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의사를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늘리고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이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처방은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옳다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절대량이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것은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사실이다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그런데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원인이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그것뿐인가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것(㉠)과,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체계적으로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것(㉡)은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다른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둘은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동시에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성립할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1262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③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해결할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㉠은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예산·인력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에 따라 </a:t>
            </a:r>
            <a:r>
              <a:rPr lang="ko-KR" altLang="en-US"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재한된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영역이라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dirty="0">
                <a:solidFill>
                  <a:srgbClr val="1C1C1E"/>
                </a:solidFill>
                <a:latin typeface="맑은 고딕"/>
                <a:ea typeface="맑은 고딕"/>
              </a:rPr>
              <a:t>해답을 주기 힘들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다. ㉡은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문제이므로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답할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㉡은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제대로된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검증이 되지 않았다</a:t>
            </a:r>
            <a:r>
              <a:rPr lang="en-US" altLang="ko-KR" sz="1100" b="0" dirty="0">
                <a:solidFill>
                  <a:srgbClr val="1C1C1E"/>
                </a:solidFill>
                <a:latin typeface="맑은 고딕"/>
                <a:ea typeface="맑은 고딕"/>
              </a:rPr>
              <a:t>.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9845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자원을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공백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지역으로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제도는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이미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있다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「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지원사업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= 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가임기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여성이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①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가능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기관까지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닿기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어렵고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②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출산도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못하는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이용률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오직 거리와 시간으로 정의된다 — 이 점이 이 프로젝트의 첫 번째 표적이 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2년마다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단위로 조사하여 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매기고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선정 지역의 일부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설치비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10억 원 + 연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운영비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5억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(15년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누적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주어진 자원이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체계적으로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필요한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곳으로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배분되고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있는가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 —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이를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데이터로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검증하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고</a:t>
            </a:r>
            <a:r>
              <a:rPr lang="en-US" altLang="ko-KR" sz="1500" b="1" dirty="0">
                <a:solidFill>
                  <a:srgbClr val="000000"/>
                </a:solidFill>
                <a:latin typeface="맑은 고딕"/>
                <a:ea typeface="맑은 고딕"/>
              </a:rPr>
              <a:t>,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 개선하는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것이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본 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프로젝트의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계획이다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" y="1444752"/>
            <a:ext cx="3017520" cy="9299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측정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2년마다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시·군·구의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60분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내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가능 여부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와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기록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45151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그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값을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(30/30)과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대조해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분만취약지를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판정하고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부여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2279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054096"/>
            <a:ext cx="5166359" cy="1211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1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지정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지표뿐이다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소멸해도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"옆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도시로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갈 수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있으면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"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아닌가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구조적으로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놓치는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검증한다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26364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3054096"/>
            <a:ext cx="5166359" cy="1211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2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·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도 선별 기준은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예산 규모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의료 취약성 등 고려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가 전부</a:t>
            </a:r>
            <a:endParaRPr lang="en-US"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100점 중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항목은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0점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누구를 먼저 </a:t>
            </a:r>
            <a:r>
              <a:rPr lang="ko-KR" altLang="en-US" sz="1150" dirty="0" err="1">
                <a:solidFill>
                  <a:srgbClr val="1C1C1E"/>
                </a:solidFill>
                <a:latin typeface="맑은 고딕"/>
                <a:ea typeface="맑은 고딕"/>
              </a:rPr>
              <a:t>지원할지의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 합리적 규칙이 있는가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15년 누적 57개소, 2025년 분만 신규는 전국 1개소 — 나눠 줄 것이 적을수록 순서는 오히려 더 중요해진다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설명되는지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진단한다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92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10927080" cy="10099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왜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,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분석이 필요한가</a:t>
            </a:r>
            <a:r>
              <a:rPr lang="en-US" altLang="ko-KR" sz="1300" b="1" dirty="0">
                <a:solidFill>
                  <a:srgbClr val="33393F"/>
                </a:solidFill>
                <a:latin typeface="맑은 고딕"/>
                <a:ea typeface="맑은 고딕"/>
              </a:rPr>
              <a:t>?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공백은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언론·국회에서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지적되어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왔으나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취약지라는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판정하고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자체다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감사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프레임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모든 판단 기준과 임계값은 정부 자신의 문서·데이터에서 가져와 실현 가능성을 확보할 계획이다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핵심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프로젝트가 검정하고자 하는 네가지 질문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Q1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공표된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판정식대로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작동하는가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의료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분만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변수는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반영되는가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Q2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사각지대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탐지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구조적으로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놓치는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실재하는가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ex.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</a:t>
            </a:r>
            <a:r>
              <a:rPr lang="ko-KR" altLang="en-US" sz="1200" dirty="0">
                <a:solidFill>
                  <a:srgbClr val="1C1C1E"/>
                </a:solidFill>
                <a:latin typeface="맑은 고딕"/>
                <a:ea typeface="맑은 고딕"/>
              </a:rPr>
              <a:t>로만 보면 취약지가 아니지만</a:t>
            </a:r>
            <a:r>
              <a:rPr lang="en-US" altLang="ko-KR" sz="1200" dirty="0">
                <a:solidFill>
                  <a:srgbClr val="1C1C1E"/>
                </a:solidFill>
                <a:latin typeface="맑은 고딕"/>
                <a:ea typeface="맑은 고딕"/>
              </a:rPr>
              <a:t>,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Q3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배분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취약지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이후의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en-US"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A,B,C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등급·취약도·수요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중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선정을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갈랐는가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Q4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처방과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대조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이미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기준만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조합해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만들면</a:t>
            </a:r>
            <a:endParaRPr sz="12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잘 부합하는가</a:t>
            </a:r>
            <a:r>
              <a:rPr lang="en-US" altLang="ko-KR" sz="1200" b="0" dirty="0">
                <a:solidFill>
                  <a:srgbClr val="1C1C1E"/>
                </a:solidFill>
                <a:latin typeface="맑은 고딕"/>
                <a:ea typeface="맑은 고딕"/>
              </a:rPr>
              <a:t>?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꼭 필요한 곳으로 자원이 </a:t>
            </a:r>
            <a:r>
              <a:rPr lang="ko-KR" altLang="en-US"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가고있는가</a:t>
            </a:r>
            <a:r>
              <a:rPr lang="en-US" altLang="ko-KR"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12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Q1·2는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지정을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, Q3·4는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배분을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본다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앞의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둘로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"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규칙이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무엇을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보는가"를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확정해야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뒤의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둘에서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"그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규칙대로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나눠지고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있는가"를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물을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250" b="1" dirty="0" err="1">
                <a:solidFill>
                  <a:srgbClr val="1C1C1E"/>
                </a:solidFill>
                <a:latin typeface="맑은 고딕"/>
                <a:ea typeface="맑은 고딕"/>
              </a:rPr>
              <a:t>있다</a:t>
            </a: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무엇을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"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재현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성공"으로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볼지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,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무엇을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"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사각지대"로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볼지는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분석을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시작하기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전에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정해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둔다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—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결과를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보고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기준을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맞추지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않기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위해서다</a:t>
            </a:r>
            <a:r>
              <a:rPr sz="1200" b="0" dirty="0">
                <a:solidFill>
                  <a:srgbClr val="767A7F"/>
                </a:solidFill>
                <a:latin typeface="맑은 고딕"/>
                <a:ea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이 프로젝트의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 단위에 대한 원칙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단위: 전국 시·군·구 250곳 (표본이 아닌 전수)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목적이 미지 표본 예측이 아니라 이미 내려진 판정·배분의 규칙 규명(감사)이므로 일반화 표집 논리와 구분해 설계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지역 단위 결론을 개인에게 적용하지 않는다(생태학적 오류 경계)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4297680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프로젝트의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임계값만으로 구성한 재지정·우선순위 시뮬레이션과 표 산출물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 분석만 보고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 설계(군집 등)와 민감도까지 투명하게 공개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제도 사실들은 모두 공개 문서(고시·공고·지침)에서 확인했으며, 분석의 판단 기준으로만 사용한다.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원칙: 로그인이 필요하거나 재현 불가능한 자료는 쓰지 않는다 — 누구나 같은 결과를 재현할 수 있어야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한다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① 지정 감사 (Q1·Q2)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공표된 규칙을 그대로 재계산해 실제와 대조한다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일치율과 불일치 사례를 모두 보고한다 — 불일치는 오류가 아니라 행정 층의 증거로 해석할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교차검증)로 판정을 예측하고, 공급 변수(전문의 수 등)를 추가했을 때 판별력(AUC)이 개선되는지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344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79145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섹션을 계획에 포함한다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포함되어, 지원받으면 C가 되는 순환 구조가 있다 — 종속변수가 집단 정의에 새어드는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분석한다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보고 원칙: "유의하지 않음"을 "효과 없음"으로 쓰지 않는다 — 표본이 작아 식별 불가일 수 있음을 명시하고,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개별 p값보다 방향의 안정성(부트스트랩)과 모형 설명력을 함께 제시한다.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않는다: 정부 문서의 임계값만 조합한다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두 축을 평균해 합성하지 않는다 — 가치 선택을 가리는 대신 병렬로 드러내는 것이 목적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학습이 없어 과적합·라벨 누수 논쟁에서 자유롭고, 모든 판정이 문서의 숫자로 소급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23360"/>
            <a:ext cx="112928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4151376"/>
            <a:ext cx="1092708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검증 계획 — 모형을 스스로 공격한다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공고의 순회진료 대상 목록과 본 규칙의 판정을 교차 대조한다 (일치·불일치 모두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민감도 분석: 차용한 임계값을 변화시켜 결과가 얼마나 흔들리는지 공개한다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강건성 분석: 가중법을 바꿔(엔트로피/CRITIC/동일 가중) 순위가 유지되는지 확인한다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실패한 설계(예: 군집분석이 부적합하면 기각 사유)도 은폐하지 않고 보고서에 남긴다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4023360"/>
          <a:ext cx="112928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계획의 대응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파이프라인 문제화, Q 4개, 접근성 2축 이론, 사전 명시된 판단 기준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12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2664</Words>
  <Application>Microsoft Office PowerPoint</Application>
  <PresentationFormat>와이드스크린</PresentationFormat>
  <Paragraphs>275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14</cp:revision>
  <dcterms:created xsi:type="dcterms:W3CDTF">2013-01-27T09:14:16Z</dcterms:created>
  <dcterms:modified xsi:type="dcterms:W3CDTF">2026-08-12T13:45:35Z</dcterms:modified>
  <cp:category/>
</cp:coreProperties>
</file>