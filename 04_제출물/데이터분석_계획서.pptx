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0" d="100"/>
          <a:sy n="100" d="100"/>
        </p:scale>
        <p:origin x="267" y="41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 descr="The image depicts a serene landscape with a lone tree amidst a snowy, clear sky.&#10;&#10;AI 생성 콘텐츠는 정확하지 않을 수 있습니다.">
            <a:extLst>
              <a:ext uri="{FF2B5EF4-FFF2-40B4-BE49-F238E27FC236}">
                <a16:creationId xmlns:a16="http://schemas.microsoft.com/office/drawing/2014/main" id="{40744C8F-A648-34F1-B8FF-B02F03987F5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80204" y="444829"/>
            <a:ext cx="2055579" cy="2072998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3" name="Rounded Rectangle 2"/>
          <p:cNvSpPr/>
          <p:nvPr/>
        </p:nvSpPr>
        <p:spPr>
          <a:xfrm>
            <a:off x="914400" y="1207008"/>
            <a:ext cx="502920" cy="12801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ang="18900000" scaled="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1481328"/>
            <a:ext cx="8467344" cy="17647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1500"/>
              </a:spcAft>
            </a:pPr>
            <a:r>
              <a:rPr sz="1450" b="0">
                <a:solidFill>
                  <a:srgbClr val="767A7F"/>
                </a:solidFill>
                <a:latin typeface="맑은 고딕"/>
                <a:ea typeface="맑은 고딕"/>
              </a:rPr>
              <a:t>데이터 분석 계획서</a:t>
            </a:r>
          </a:p>
          <a:p>
            <a:pPr>
              <a:lnSpc>
                <a:spcPct val="114000"/>
              </a:lnSpc>
              <a:spcAft>
                <a:spcPts val="800"/>
              </a:spcAft>
            </a:pPr>
            <a:r>
              <a:rPr sz="4700" b="1">
                <a:solidFill>
                  <a:srgbClr val="1C1C1E"/>
                </a:solidFill>
                <a:latin typeface="맑은 고딕"/>
                <a:ea typeface="맑은 고딕"/>
              </a:rPr>
              <a:t>분만취약지 지원제도 개선안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900" b="0">
                <a:solidFill>
                  <a:srgbClr val="33393F"/>
                </a:solidFill>
                <a:latin typeface="맑은 고딕"/>
                <a:ea typeface="맑은 고딕"/>
              </a:rPr>
              <a:t>분만취약지 지원 제도의 모든 절차 속 데이터 감사와 개선된 분석 모형 제안</a:t>
            </a:r>
          </a:p>
        </p:txBody>
      </p:sp>
      <p:sp>
        <p:nvSpPr>
          <p:cNvPr id="5" name="Rectangle 4"/>
          <p:cNvSpPr/>
          <p:nvPr/>
        </p:nvSpPr>
        <p:spPr>
          <a:xfrm>
            <a:off x="932688" y="5362956"/>
            <a:ext cx="585216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5655564"/>
            <a:ext cx="69494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350" b="1" dirty="0">
                <a:solidFill>
                  <a:srgbClr val="1C1C1E"/>
                </a:solidFill>
                <a:latin typeface="맑은 고딕"/>
                <a:ea typeface="맑은 고딕"/>
              </a:rPr>
              <a:t>2026 제5회 </a:t>
            </a:r>
            <a:r>
              <a:rPr sz="1350" b="1" dirty="0" err="1">
                <a:solidFill>
                  <a:srgbClr val="1C1C1E"/>
                </a:solidFill>
                <a:latin typeface="맑은 고딕"/>
                <a:ea typeface="맑은 고딕"/>
              </a:rPr>
              <a:t>명지대학교</a:t>
            </a:r>
            <a:r>
              <a:rPr sz="1350" b="1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350" b="1" dirty="0" err="1">
                <a:solidFill>
                  <a:srgbClr val="1C1C1E"/>
                </a:solidFill>
                <a:latin typeface="맑은 고딕"/>
                <a:ea typeface="맑은 고딕"/>
              </a:rPr>
              <a:t>창의적</a:t>
            </a:r>
            <a:r>
              <a:rPr sz="1350" b="1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350" b="1" dirty="0" err="1">
                <a:solidFill>
                  <a:srgbClr val="1C1C1E"/>
                </a:solidFill>
                <a:latin typeface="맑은 고딕"/>
                <a:ea typeface="맑은 고딕"/>
              </a:rPr>
              <a:t>SW프로그램</a:t>
            </a:r>
            <a:r>
              <a:rPr sz="1350" b="1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350" b="1" dirty="0" err="1">
                <a:solidFill>
                  <a:srgbClr val="1C1C1E"/>
                </a:solidFill>
                <a:latin typeface="맑은 고딕"/>
                <a:ea typeface="맑은 고딕"/>
              </a:rPr>
              <a:t>경진대회</a:t>
            </a:r>
            <a:r>
              <a:rPr sz="1350" b="1" dirty="0">
                <a:solidFill>
                  <a:srgbClr val="1C1C1E"/>
                </a:solidFill>
                <a:latin typeface="맑은 고딕"/>
                <a:ea typeface="맑은 고딕"/>
              </a:rPr>
              <a:t> · </a:t>
            </a:r>
            <a:r>
              <a:rPr sz="1350" b="1" dirty="0" err="1">
                <a:solidFill>
                  <a:srgbClr val="1C1C1E"/>
                </a:solidFill>
                <a:latin typeface="맑은 고딕"/>
                <a:ea typeface="맑은 고딕"/>
              </a:rPr>
              <a:t>빅데이터</a:t>
            </a:r>
            <a:r>
              <a:rPr sz="1350" b="1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350" b="1" dirty="0" err="1">
                <a:solidFill>
                  <a:srgbClr val="1C1C1E"/>
                </a:solidFill>
                <a:latin typeface="맑은 고딕"/>
                <a:ea typeface="맑은 고딕"/>
              </a:rPr>
              <a:t>분석</a:t>
            </a:r>
            <a:r>
              <a:rPr sz="1350" b="1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350" b="1" dirty="0" err="1">
                <a:solidFill>
                  <a:srgbClr val="1C1C1E"/>
                </a:solidFill>
                <a:latin typeface="맑은 고딕"/>
                <a:ea typeface="맑은 고딕"/>
              </a:rPr>
              <a:t>부문</a:t>
            </a:r>
            <a:endParaRPr sz="1350" b="1" dirty="0">
              <a:solidFill>
                <a:srgbClr val="1C1C1E"/>
              </a:solidFill>
              <a:latin typeface="맑은 고딕"/>
              <a:ea typeface="맑은 고딕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606475" y="579043"/>
            <a:ext cx="103784" cy="103784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ang="18900000" scaled="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목차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계획서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325880"/>
            <a:ext cx="5532120" cy="1499616"/>
          </a:xfrm>
          <a:prstGeom prst="roundRect">
            <a:avLst>
              <a:gd name="adj" fmla="val 5487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85800" y="1444752"/>
            <a:ext cx="5166360" cy="100591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00"/>
              </a:spcAft>
            </a:pPr>
            <a:r>
              <a:rPr sz="1350" b="1" dirty="0">
                <a:solidFill>
                  <a:srgbClr val="33393F"/>
                </a:solidFill>
                <a:latin typeface="맑은 고딕"/>
                <a:ea typeface="맑은 고딕"/>
              </a:rPr>
              <a:t>Ⅰ. </a:t>
            </a:r>
            <a:r>
              <a:rPr sz="1350" b="1" dirty="0" err="1">
                <a:solidFill>
                  <a:srgbClr val="33393F"/>
                </a:solidFill>
                <a:latin typeface="맑은 고딕"/>
                <a:ea typeface="맑은 고딕"/>
              </a:rPr>
              <a:t>문제</a:t>
            </a:r>
            <a:r>
              <a:rPr sz="135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350" b="1" dirty="0" err="1">
                <a:solidFill>
                  <a:srgbClr val="33393F"/>
                </a:solidFill>
                <a:latin typeface="맑은 고딕"/>
                <a:ea typeface="맑은 고딕"/>
              </a:rPr>
              <a:t>정의</a:t>
            </a:r>
            <a:endParaRPr sz="1350" b="1" dirty="0">
              <a:solidFill>
                <a:srgbClr val="33393F"/>
              </a:solidFill>
              <a:latin typeface="맑은 고딕"/>
              <a:ea typeface="맑은 고딕"/>
            </a:endParaRP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03  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아이디어의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발단</a:t>
            </a:r>
            <a:endParaRPr sz="1150" b="0" dirty="0">
              <a:solidFill>
                <a:srgbClr val="1C1C1E"/>
              </a:solidFill>
              <a:latin typeface="맑은 고딕"/>
              <a:ea typeface="맑은 고딕"/>
            </a:endParaRP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04  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문제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인식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— 세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단계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파이프라인</a:t>
            </a:r>
            <a:endParaRPr sz="1150" b="0" dirty="0">
              <a:solidFill>
                <a:srgbClr val="1C1C1E"/>
              </a:solidFill>
              <a:latin typeface="맑은 고딕"/>
              <a:ea typeface="맑은 고딕"/>
            </a:endParaRP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05   </a:t>
            </a:r>
            <a:r>
              <a:rPr lang="ko-KR" altLang="en-US" sz="1150" b="0" dirty="0">
                <a:solidFill>
                  <a:srgbClr val="1C1C1E"/>
                </a:solidFill>
                <a:latin typeface="맑은 고딕"/>
                <a:ea typeface="맑은 고딕"/>
              </a:rPr>
              <a:t>검증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질문</a:t>
            </a:r>
            <a:r>
              <a:rPr lang="en-US" sz="1150" b="0" dirty="0">
                <a:solidFill>
                  <a:srgbClr val="1C1C1E"/>
                </a:solidFill>
                <a:latin typeface="맑은 고딕"/>
                <a:ea typeface="맑은 고딕"/>
              </a:rPr>
              <a:t> 4</a:t>
            </a:r>
            <a:r>
              <a:rPr lang="ko-KR" altLang="en-US" sz="1150" b="0" dirty="0">
                <a:solidFill>
                  <a:srgbClr val="1C1C1E"/>
                </a:solidFill>
                <a:latin typeface="맑은 고딕"/>
                <a:ea typeface="맑은 고딕"/>
              </a:rPr>
              <a:t>가지</a:t>
            </a:r>
            <a:endParaRPr sz="1150" b="0" dirty="0">
              <a:solidFill>
                <a:srgbClr val="1C1C1E"/>
              </a:solidFill>
              <a:latin typeface="맑은 고딕"/>
              <a:ea typeface="맑은 고딕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502920" y="3026663"/>
            <a:ext cx="5532120" cy="1225296"/>
          </a:xfrm>
          <a:prstGeom prst="roundRect">
            <a:avLst>
              <a:gd name="adj" fmla="val 671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85800" y="3145535"/>
            <a:ext cx="5166360" cy="77854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00"/>
              </a:spcAft>
            </a:pPr>
            <a:r>
              <a:rPr sz="1350" b="1" dirty="0">
                <a:solidFill>
                  <a:srgbClr val="33393F"/>
                </a:solidFill>
                <a:latin typeface="맑은 고딕"/>
                <a:ea typeface="맑은 고딕"/>
              </a:rPr>
              <a:t>Ⅱ. </a:t>
            </a:r>
            <a:r>
              <a:rPr sz="1350" b="1" dirty="0" err="1">
                <a:solidFill>
                  <a:srgbClr val="33393F"/>
                </a:solidFill>
                <a:latin typeface="맑은 고딕"/>
                <a:ea typeface="맑은 고딕"/>
              </a:rPr>
              <a:t>배경</a:t>
            </a:r>
            <a:r>
              <a:rPr sz="135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350" b="1" dirty="0" err="1">
                <a:solidFill>
                  <a:srgbClr val="33393F"/>
                </a:solidFill>
                <a:latin typeface="맑은 고딕"/>
                <a:ea typeface="맑은 고딕"/>
              </a:rPr>
              <a:t>이해</a:t>
            </a:r>
            <a:endParaRPr sz="1350" b="1" dirty="0">
              <a:solidFill>
                <a:srgbClr val="33393F"/>
              </a:solidFill>
              <a:latin typeface="맑은 고딕"/>
              <a:ea typeface="맑은 고딕"/>
            </a:endParaRP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06  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이론적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고찰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—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접근성의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두 축</a:t>
            </a: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07  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분석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대상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제도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—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지표·등급·배분</a:t>
            </a:r>
            <a:endParaRPr sz="1150" b="0" dirty="0">
              <a:solidFill>
                <a:srgbClr val="1C1C1E"/>
              </a:solidFill>
              <a:latin typeface="맑은 고딕"/>
              <a:ea typeface="맑은 고딕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502920" y="4453127"/>
            <a:ext cx="5532120" cy="1225296"/>
          </a:xfrm>
          <a:prstGeom prst="roundRect">
            <a:avLst>
              <a:gd name="adj" fmla="val 671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85800" y="4571999"/>
            <a:ext cx="5166360" cy="77854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00"/>
              </a:spcAft>
            </a:pPr>
            <a:r>
              <a:rPr sz="1350" b="1" dirty="0">
                <a:solidFill>
                  <a:srgbClr val="33393F"/>
                </a:solidFill>
                <a:latin typeface="맑은 고딕"/>
                <a:ea typeface="맑은 고딕"/>
              </a:rPr>
              <a:t>Ⅲ. </a:t>
            </a:r>
            <a:r>
              <a:rPr sz="1350" b="1" dirty="0" err="1">
                <a:solidFill>
                  <a:srgbClr val="33393F"/>
                </a:solidFill>
                <a:latin typeface="맑은 고딕"/>
                <a:ea typeface="맑은 고딕"/>
              </a:rPr>
              <a:t>데이터</a:t>
            </a:r>
            <a:r>
              <a:rPr sz="135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350" b="1" dirty="0" err="1">
                <a:solidFill>
                  <a:srgbClr val="33393F"/>
                </a:solidFill>
                <a:latin typeface="맑은 고딕"/>
                <a:ea typeface="맑은 고딕"/>
              </a:rPr>
              <a:t>계획</a:t>
            </a:r>
            <a:endParaRPr sz="1350" b="1" dirty="0">
              <a:solidFill>
                <a:srgbClr val="33393F"/>
              </a:solidFill>
              <a:latin typeface="맑은 고딕"/>
              <a:ea typeface="맑은 고딕"/>
            </a:endParaRP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08  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데이터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수집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계획</a:t>
            </a:r>
            <a:endParaRPr sz="1150" b="0" dirty="0">
              <a:solidFill>
                <a:srgbClr val="1C1C1E"/>
              </a:solidFill>
              <a:latin typeface="맑은 고딕"/>
              <a:ea typeface="맑은 고딕"/>
            </a:endParaRP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09  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전처리·품질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관리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계획</a:t>
            </a:r>
            <a:endParaRPr sz="1150" b="0" dirty="0">
              <a:solidFill>
                <a:srgbClr val="1C1C1E"/>
              </a:solidFill>
              <a:latin typeface="맑은 고딕"/>
              <a:ea typeface="맑은 고딕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263640" y="1325880"/>
            <a:ext cx="5532120" cy="1499616"/>
          </a:xfrm>
          <a:prstGeom prst="roundRect">
            <a:avLst>
              <a:gd name="adj" fmla="val 5487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46520" y="1444752"/>
            <a:ext cx="5166360" cy="100591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00"/>
              </a:spcAft>
            </a:pPr>
            <a:r>
              <a:rPr sz="1350" b="1" dirty="0">
                <a:solidFill>
                  <a:srgbClr val="33393F"/>
                </a:solidFill>
                <a:latin typeface="맑은 고딕"/>
                <a:ea typeface="맑은 고딕"/>
              </a:rPr>
              <a:t>Ⅳ. </a:t>
            </a:r>
            <a:r>
              <a:rPr sz="1350" b="1" dirty="0" err="1">
                <a:solidFill>
                  <a:srgbClr val="33393F"/>
                </a:solidFill>
                <a:latin typeface="맑은 고딕"/>
                <a:ea typeface="맑은 고딕"/>
              </a:rPr>
              <a:t>분석</a:t>
            </a:r>
            <a:r>
              <a:rPr sz="135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350" b="1" dirty="0" err="1">
                <a:solidFill>
                  <a:srgbClr val="33393F"/>
                </a:solidFill>
                <a:latin typeface="맑은 고딕"/>
                <a:ea typeface="맑은 고딕"/>
              </a:rPr>
              <a:t>설계</a:t>
            </a:r>
            <a:endParaRPr sz="1350" b="1" dirty="0">
              <a:solidFill>
                <a:srgbClr val="33393F"/>
              </a:solidFill>
              <a:latin typeface="맑은 고딕"/>
              <a:ea typeface="맑은 고딕"/>
            </a:endParaRP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10   ① 지정 감사 (Q1·Q2)</a:t>
            </a: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11   ② 배분 진단 (Q3)</a:t>
            </a: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12   ③ 처방 모형 (Q4)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3026663"/>
            <a:ext cx="5532120" cy="1225296"/>
          </a:xfrm>
          <a:prstGeom prst="roundRect">
            <a:avLst>
              <a:gd name="adj" fmla="val 671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46520" y="3145535"/>
            <a:ext cx="5166360" cy="77854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00"/>
              </a:spcAft>
            </a:pPr>
            <a:r>
              <a:rPr sz="1350" b="1" dirty="0">
                <a:solidFill>
                  <a:srgbClr val="33393F"/>
                </a:solidFill>
                <a:latin typeface="맑은 고딕"/>
                <a:ea typeface="맑은 고딕"/>
              </a:rPr>
              <a:t>Ⅴ. </a:t>
            </a:r>
            <a:r>
              <a:rPr sz="1350" b="1" dirty="0" err="1">
                <a:solidFill>
                  <a:srgbClr val="33393F"/>
                </a:solidFill>
                <a:latin typeface="맑은 고딕"/>
                <a:ea typeface="맑은 고딕"/>
              </a:rPr>
              <a:t>산출물과</a:t>
            </a:r>
            <a:r>
              <a:rPr sz="135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350" b="1" dirty="0" err="1">
                <a:solidFill>
                  <a:srgbClr val="33393F"/>
                </a:solidFill>
                <a:latin typeface="맑은 고딕"/>
                <a:ea typeface="맑은 고딕"/>
              </a:rPr>
              <a:t>일정</a:t>
            </a:r>
            <a:endParaRPr sz="1350" b="1" dirty="0">
              <a:solidFill>
                <a:srgbClr val="33393F"/>
              </a:solidFill>
              <a:latin typeface="맑은 고딕"/>
              <a:ea typeface="맑은 고딕"/>
            </a:endParaRP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13  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기대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산출물과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활용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계획</a:t>
            </a:r>
            <a:endParaRPr sz="1150" b="0" dirty="0">
              <a:solidFill>
                <a:srgbClr val="1C1C1E"/>
              </a:solidFill>
              <a:latin typeface="맑은 고딕"/>
              <a:ea typeface="맑은 고딕"/>
            </a:endParaRP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14  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추진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일정과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역할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분담</a:t>
            </a:r>
            <a:endParaRPr sz="1150" b="0" dirty="0">
              <a:solidFill>
                <a:srgbClr val="1C1C1E"/>
              </a:solidFill>
              <a:latin typeface="맑은 고딕"/>
              <a:ea typeface="맑은 고딕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502920" y="6053328"/>
            <a:ext cx="1124712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150" b="1">
                <a:solidFill>
                  <a:srgbClr val="1C1C1E"/>
                </a:solidFill>
                <a:latin typeface="맑은 고딕"/>
                <a:ea typeface="맑은 고딕"/>
              </a:rPr>
              <a:t>본 계획서는 "왜·어떻게 할 것인가"를 다룬다. 실제 발견과 결과는 결과보고서에서 보고한다.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606475" y="579043"/>
            <a:ext cx="103784" cy="103784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ang="18900000" scaled="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0120" y="399564"/>
            <a:ext cx="9692640" cy="4353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 dirty="0" err="1">
                <a:solidFill>
                  <a:srgbClr val="1C1C1E"/>
                </a:solidFill>
                <a:latin typeface="맑은 고딕"/>
                <a:ea typeface="맑은 고딕"/>
              </a:rPr>
              <a:t>아이디어의</a:t>
            </a:r>
            <a:r>
              <a:rPr sz="2150" b="1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2150" b="1" dirty="0" err="1">
                <a:solidFill>
                  <a:srgbClr val="1C1C1E"/>
                </a:solidFill>
                <a:latin typeface="맑은 고딕"/>
                <a:ea typeface="맑은 고딕"/>
              </a:rPr>
              <a:t>발단</a:t>
            </a:r>
            <a:r>
              <a:rPr lang="ko-KR" altLang="en-US" sz="2150" b="1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lang="en-US" altLang="ko-KR" sz="2150" b="1" dirty="0">
                <a:solidFill>
                  <a:srgbClr val="1C1C1E"/>
                </a:solidFill>
                <a:latin typeface="맑은 고딕"/>
                <a:ea typeface="맑은 고딕"/>
              </a:rPr>
              <a:t>— </a:t>
            </a:r>
            <a:r>
              <a:rPr lang="ko-KR" altLang="en-US" sz="2150" b="1" dirty="0">
                <a:solidFill>
                  <a:srgbClr val="1C1C1E"/>
                </a:solidFill>
                <a:latin typeface="맑은 고딕"/>
                <a:ea typeface="맑은 고딕"/>
              </a:rPr>
              <a:t>의료 공급 부족의 원인은 오직 자원부족 때문인가</a:t>
            </a:r>
            <a:r>
              <a:rPr lang="en-US" altLang="ko-KR" sz="2150" b="1" dirty="0">
                <a:solidFill>
                  <a:srgbClr val="1C1C1E"/>
                </a:solidFill>
                <a:latin typeface="맑은 고딕"/>
                <a:ea typeface="맑은 고딕"/>
              </a:rPr>
              <a:t>?</a:t>
            </a:r>
            <a:endParaRPr sz="2150" b="1" dirty="0">
              <a:solidFill>
                <a:srgbClr val="1C1C1E"/>
              </a:solidFill>
              <a:latin typeface="맑은 고딕"/>
              <a:ea typeface="맑은 고딕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097280"/>
            <a:ext cx="111556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250" b="0" dirty="0" err="1">
                <a:solidFill>
                  <a:srgbClr val="767A7F"/>
                </a:solidFill>
                <a:latin typeface="맑은 고딕"/>
                <a:ea typeface="맑은 고딕"/>
              </a:rPr>
              <a:t>부족</a:t>
            </a:r>
            <a:r>
              <a:rPr sz="1250" b="0" dirty="0">
                <a:solidFill>
                  <a:srgbClr val="767A7F"/>
                </a:solidFill>
                <a:latin typeface="맑은 고딕"/>
                <a:ea typeface="맑은 고딕"/>
              </a:rPr>
              <a:t>(㉠)과 </a:t>
            </a:r>
            <a:r>
              <a:rPr sz="1250" b="0" dirty="0" err="1">
                <a:solidFill>
                  <a:srgbClr val="767A7F"/>
                </a:solidFill>
                <a:latin typeface="맑은 고딕"/>
                <a:ea typeface="맑은 고딕"/>
              </a:rPr>
              <a:t>배분</a:t>
            </a:r>
            <a:r>
              <a:rPr sz="1250" b="0" dirty="0">
                <a:solidFill>
                  <a:srgbClr val="767A7F"/>
                </a:solidFill>
                <a:latin typeface="맑은 고딕"/>
                <a:ea typeface="맑은 고딕"/>
              </a:rPr>
              <a:t>(㉡)은 </a:t>
            </a:r>
            <a:r>
              <a:rPr sz="1250" b="0" dirty="0" err="1">
                <a:solidFill>
                  <a:srgbClr val="767A7F"/>
                </a:solidFill>
                <a:latin typeface="맑은 고딕"/>
                <a:ea typeface="맑은 고딕"/>
              </a:rPr>
              <a:t>다른</a:t>
            </a:r>
            <a:r>
              <a:rPr sz="1250" b="0" dirty="0">
                <a:solidFill>
                  <a:srgbClr val="767A7F"/>
                </a:solidFill>
                <a:latin typeface="맑은 고딕"/>
                <a:ea typeface="맑은 고딕"/>
              </a:rPr>
              <a:t> </a:t>
            </a:r>
            <a:r>
              <a:rPr sz="1250" b="0" dirty="0" err="1">
                <a:solidFill>
                  <a:srgbClr val="767A7F"/>
                </a:solidFill>
                <a:latin typeface="맑은 고딕"/>
                <a:ea typeface="맑은 고딕"/>
              </a:rPr>
              <a:t>문제이고</a:t>
            </a:r>
            <a:r>
              <a:rPr sz="1250" b="0" dirty="0">
                <a:solidFill>
                  <a:srgbClr val="767A7F"/>
                </a:solidFill>
                <a:latin typeface="맑은 고딕"/>
                <a:ea typeface="맑은 고딕"/>
              </a:rPr>
              <a:t> </a:t>
            </a:r>
            <a:r>
              <a:rPr sz="1250" b="0" dirty="0" err="1">
                <a:solidFill>
                  <a:srgbClr val="767A7F"/>
                </a:solidFill>
                <a:latin typeface="맑은 고딕"/>
                <a:ea typeface="맑은 고딕"/>
              </a:rPr>
              <a:t>해법도</a:t>
            </a:r>
            <a:r>
              <a:rPr sz="1250" b="0" dirty="0">
                <a:solidFill>
                  <a:srgbClr val="767A7F"/>
                </a:solidFill>
                <a:latin typeface="맑은 고딕"/>
                <a:ea typeface="맑은 고딕"/>
              </a:rPr>
              <a:t> </a:t>
            </a:r>
            <a:r>
              <a:rPr sz="1250" b="0" dirty="0" err="1">
                <a:solidFill>
                  <a:srgbClr val="767A7F"/>
                </a:solidFill>
                <a:latin typeface="맑은 고딕"/>
                <a:ea typeface="맑은 고딕"/>
              </a:rPr>
              <a:t>다르다</a:t>
            </a:r>
            <a:r>
              <a:rPr sz="1250" b="0" dirty="0">
                <a:solidFill>
                  <a:srgbClr val="767A7F"/>
                </a:solidFill>
                <a:latin typeface="맑은 고딕"/>
                <a:ea typeface="맑은 고딕"/>
              </a:rPr>
              <a:t> — 본 </a:t>
            </a:r>
            <a:r>
              <a:rPr sz="1250" b="0" dirty="0" err="1">
                <a:solidFill>
                  <a:srgbClr val="767A7F"/>
                </a:solidFill>
                <a:latin typeface="맑은 고딕"/>
                <a:ea typeface="맑은 고딕"/>
              </a:rPr>
              <a:t>계획은</a:t>
            </a:r>
            <a:r>
              <a:rPr sz="1250" b="0" dirty="0">
                <a:solidFill>
                  <a:srgbClr val="767A7F"/>
                </a:solidFill>
                <a:latin typeface="맑은 고딕"/>
                <a:ea typeface="맑은 고딕"/>
              </a:rPr>
              <a:t> ㉡을 </a:t>
            </a:r>
            <a:r>
              <a:rPr sz="1250" b="0" dirty="0" err="1">
                <a:solidFill>
                  <a:srgbClr val="767A7F"/>
                </a:solidFill>
                <a:latin typeface="맑은 고딕"/>
                <a:ea typeface="맑은 고딕"/>
              </a:rPr>
              <a:t>맡는다</a:t>
            </a:r>
            <a:endParaRPr sz="1250" b="0" dirty="0">
              <a:solidFill>
                <a:srgbClr val="767A7F"/>
              </a:solidFill>
              <a:latin typeface="맑은 고딕"/>
              <a:ea typeface="맑은 고딕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계획서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371600"/>
            <a:ext cx="3611880" cy="178308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85800" y="1499616"/>
            <a:ext cx="3246120" cy="93326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①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여전히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존재하는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분만취약지</a:t>
            </a:r>
            <a:endParaRPr sz="1300" b="1" dirty="0">
              <a:solidFill>
                <a:srgbClr val="33393F"/>
              </a:solidFill>
              <a:latin typeface="맑은 고딕"/>
              <a:ea typeface="맑은 고딕"/>
            </a:endParaRP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• "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지방에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분만실이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없다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" —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해마다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반복되는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기사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. </a:t>
            </a:r>
            <a:r>
              <a:rPr lang="ko-KR" altLang="en-US" sz="1100" b="0" dirty="0">
                <a:solidFill>
                  <a:srgbClr val="1C1C1E"/>
                </a:solidFill>
                <a:latin typeface="맑은 고딕"/>
                <a:ea typeface="맑은 고딕"/>
              </a:rPr>
              <a:t>늘 같은 처방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: </a:t>
            </a:r>
            <a:r>
              <a:rPr lang="en-US" sz="1100" b="0" dirty="0">
                <a:solidFill>
                  <a:srgbClr val="1C1C1E"/>
                </a:solidFill>
                <a:latin typeface="맑은 고딕"/>
                <a:ea typeface="맑은 고딕"/>
              </a:rPr>
              <a:t>"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의사를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늘리고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병원을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지어라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.</a:t>
            </a:r>
            <a:r>
              <a:rPr lang="en-US" sz="1100" b="0" dirty="0">
                <a:solidFill>
                  <a:srgbClr val="1C1C1E"/>
                </a:solidFill>
                <a:latin typeface="맑은 고딕"/>
                <a:ea typeface="맑은 고딕"/>
              </a:rPr>
              <a:t>"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절대량이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모자란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것은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사실</a:t>
            </a:r>
            <a:endParaRPr sz="1100" b="0" dirty="0">
              <a:solidFill>
                <a:srgbClr val="1C1C1E"/>
              </a:solidFill>
              <a:latin typeface="맑은 고딕"/>
              <a:ea typeface="맑은 고딕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4343400" y="1371600"/>
            <a:ext cx="3611880" cy="178308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26280" y="1499616"/>
            <a:ext cx="3246120" cy="93326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②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그런데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원인이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그것뿐인가</a:t>
            </a:r>
            <a:endParaRPr sz="1300" b="1" dirty="0">
              <a:solidFill>
                <a:srgbClr val="33393F"/>
              </a:solidFill>
              <a:latin typeface="맑은 고딕"/>
              <a:ea typeface="맑은 고딕"/>
            </a:endParaRP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•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자원이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모자란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것(㉠)과,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있는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자원이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체계적으로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배분되지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않는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것(㉡)은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다른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문제</a:t>
            </a:r>
            <a:r>
              <a:rPr lang="ko-KR" altLang="en-US" sz="1100" b="0" dirty="0">
                <a:solidFill>
                  <a:srgbClr val="1C1C1E"/>
                </a:solidFill>
                <a:latin typeface="맑은 고딕"/>
                <a:ea typeface="맑은 고딕"/>
              </a:rPr>
              <a:t>임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.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그리고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둘은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동시에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성립할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수 있</a:t>
            </a:r>
            <a:r>
              <a:rPr lang="ko-KR" altLang="en-US" sz="1100" b="0" dirty="0">
                <a:solidFill>
                  <a:srgbClr val="1C1C1E"/>
                </a:solidFill>
                <a:latin typeface="맑은 고딕"/>
                <a:ea typeface="맑은 고딕"/>
              </a:rPr>
              <a:t>음</a:t>
            </a:r>
            <a:endParaRPr sz="1100" b="0" dirty="0">
              <a:solidFill>
                <a:srgbClr val="1C1C1E"/>
              </a:solidFill>
              <a:latin typeface="맑은 고딕"/>
              <a:ea typeface="맑은 고딕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8183880" y="1371600"/>
            <a:ext cx="3611880" cy="1783080"/>
          </a:xfrm>
          <a:prstGeom prst="roundRect">
            <a:avLst>
              <a:gd name="adj" fmla="val 4615"/>
            </a:avLst>
          </a:prstGeom>
          <a:solidFill>
            <a:srgbClr val="F1F2F3"/>
          </a:solidFill>
          <a:ln w="15875">
            <a:solidFill>
              <a:srgbClr val="9AA0A6"/>
            </a:solidFill>
          </a:ln>
          <a:effectLst>
            <a:outerShdw blurRad="182880" dist="64008" dir="5400000" rotWithShape="0">
              <a:srgbClr val="000000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366760" y="1499616"/>
            <a:ext cx="3246120" cy="112627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 dirty="0">
                <a:solidFill>
                  <a:srgbClr val="000000"/>
                </a:solidFill>
                <a:latin typeface="맑은 고딕"/>
                <a:ea typeface="맑은 고딕"/>
              </a:rPr>
              <a:t>③ </a:t>
            </a:r>
            <a:r>
              <a:rPr sz="1300" b="1" dirty="0" err="1">
                <a:solidFill>
                  <a:srgbClr val="000000"/>
                </a:solidFill>
                <a:latin typeface="맑은 고딕"/>
                <a:ea typeface="맑은 고딕"/>
              </a:rPr>
              <a:t>해결할</a:t>
            </a:r>
            <a:r>
              <a:rPr sz="1300" b="1" dirty="0">
                <a:solidFill>
                  <a:srgbClr val="000000"/>
                </a:solidFill>
                <a:latin typeface="맑은 고딕"/>
                <a:ea typeface="맑은 고딕"/>
              </a:rPr>
              <a:t> 수 </a:t>
            </a:r>
            <a:r>
              <a:rPr sz="1300" b="1" dirty="0" err="1">
                <a:solidFill>
                  <a:srgbClr val="000000"/>
                </a:solidFill>
                <a:latin typeface="맑은 고딕"/>
                <a:ea typeface="맑은 고딕"/>
              </a:rPr>
              <a:t>있는</a:t>
            </a:r>
            <a:r>
              <a:rPr sz="1300" b="1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000000"/>
                </a:solidFill>
                <a:latin typeface="맑은 고딕"/>
                <a:ea typeface="맑은 고딕"/>
              </a:rPr>
              <a:t>문제</a:t>
            </a:r>
            <a:endParaRPr sz="1300" b="1" dirty="0">
              <a:solidFill>
                <a:srgbClr val="000000"/>
              </a:solidFill>
              <a:latin typeface="맑은 고딕"/>
              <a:ea typeface="맑은 고딕"/>
            </a:endParaRP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• ㉠은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예산·인력</a:t>
            </a:r>
            <a:r>
              <a:rPr lang="ko-KR" altLang="en-US" sz="1100" b="0" dirty="0">
                <a:solidFill>
                  <a:srgbClr val="1C1C1E"/>
                </a:solidFill>
                <a:latin typeface="맑은 고딕"/>
                <a:ea typeface="맑은 고딕"/>
              </a:rPr>
              <a:t>에 따라 </a:t>
            </a:r>
            <a:r>
              <a:rPr lang="ko-KR" altLang="en-US"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재한된</a:t>
            </a:r>
            <a:r>
              <a:rPr lang="ko-KR" altLang="en-US"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영역이라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데이터가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lang="ko-KR" altLang="en-US" sz="1100" dirty="0">
                <a:solidFill>
                  <a:srgbClr val="1C1C1E"/>
                </a:solidFill>
                <a:latin typeface="맑은 고딕"/>
                <a:ea typeface="맑은 고딕"/>
              </a:rPr>
              <a:t>해답을 주기 힘들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다. ㉡은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배분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규칙의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문제이므로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데이터로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답할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수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있다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—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그리고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㉡은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아직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lang="ko-KR" altLang="en-US"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제대로된</a:t>
            </a:r>
            <a:r>
              <a:rPr lang="ko-KR" altLang="en-US" sz="1100" b="0" dirty="0">
                <a:solidFill>
                  <a:srgbClr val="1C1C1E"/>
                </a:solidFill>
                <a:latin typeface="맑은 고딕"/>
                <a:ea typeface="맑은 고딕"/>
              </a:rPr>
              <a:t> 검증이 되지 않았다</a:t>
            </a:r>
            <a:r>
              <a:rPr lang="en-US" altLang="ko-KR" sz="1100" b="0" dirty="0">
                <a:solidFill>
                  <a:srgbClr val="1C1C1E"/>
                </a:solidFill>
                <a:latin typeface="맑은 고딕"/>
                <a:ea typeface="맑은 고딕"/>
              </a:rPr>
              <a:t>.</a:t>
            </a:r>
            <a:endParaRPr sz="1100" b="0" dirty="0">
              <a:solidFill>
                <a:srgbClr val="1C1C1E"/>
              </a:solidFill>
              <a:latin typeface="맑은 고딕"/>
              <a:ea typeface="맑은 고딕"/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502920" y="3401568"/>
            <a:ext cx="11292840" cy="1572768"/>
          </a:xfrm>
          <a:prstGeom prst="roundRect">
            <a:avLst>
              <a:gd name="adj" fmla="val 5232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85800" y="3529584"/>
            <a:ext cx="10927080" cy="9845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자원을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공백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지역으로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보내는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제도는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이미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있다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 — 「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분만취약지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지원사업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」(15년째)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•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분만취약지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= 그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지역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가임기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여성이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①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분만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가능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기관까지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60분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안에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닿기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어렵고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(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접근성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) ②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실제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출산도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60분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안에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하지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못하는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(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이용률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)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시·군</a:t>
            </a:r>
            <a:endParaRPr sz="1100" b="0" dirty="0">
              <a:solidFill>
                <a:srgbClr val="1C1C1E"/>
              </a:solidFill>
              <a:latin typeface="맑은 고딕"/>
              <a:ea typeface="맑은 고딕"/>
            </a:endParaRP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• 즉 이 제도에서 "취약"은 처음부터 끝까지 오직 거리와 시간으로 정의된다 — 이 점이 이 프로젝트의 첫 번째 표적이 된다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•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정부는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2년마다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전국</a:t>
            </a:r>
            <a:r>
              <a:rPr lang="en-US"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lang="ko-KR" altLang="en-US" sz="1100" b="0" dirty="0">
                <a:solidFill>
                  <a:srgbClr val="1C1C1E"/>
                </a:solidFill>
                <a:latin typeface="맑은 고딕"/>
                <a:ea typeface="맑은 고딕"/>
              </a:rPr>
              <a:t>단위로 조사하여 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A·B·C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등급을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매기고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, </a:t>
            </a:r>
            <a:r>
              <a:rPr lang="ko-KR" altLang="en-US" sz="1100" b="0" dirty="0">
                <a:solidFill>
                  <a:srgbClr val="1C1C1E"/>
                </a:solidFill>
                <a:latin typeface="맑은 고딕"/>
                <a:ea typeface="맑은 고딕"/>
              </a:rPr>
              <a:t>선정 지역의 일부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병원에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분만실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설치비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약 10억 원 + 연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운영비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약 5억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원을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지원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(15년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누적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57개소)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5230368"/>
            <a:ext cx="11247120" cy="33162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500" b="1" dirty="0">
                <a:solidFill>
                  <a:srgbClr val="000000"/>
                </a:solidFill>
                <a:latin typeface="맑은 고딕"/>
                <a:ea typeface="맑은 고딕"/>
              </a:rPr>
              <a:t>"</a:t>
            </a:r>
            <a:r>
              <a:rPr lang="ko-KR" altLang="en-US" sz="1500" b="1" dirty="0">
                <a:solidFill>
                  <a:srgbClr val="000000"/>
                </a:solidFill>
                <a:latin typeface="맑은 고딕"/>
                <a:ea typeface="맑은 고딕"/>
              </a:rPr>
              <a:t>주어진 자원이</a:t>
            </a:r>
            <a:r>
              <a:rPr sz="1500" b="1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500" b="1" dirty="0" err="1">
                <a:solidFill>
                  <a:srgbClr val="000000"/>
                </a:solidFill>
                <a:latin typeface="맑은 고딕"/>
                <a:ea typeface="맑은 고딕"/>
              </a:rPr>
              <a:t>체계적으로</a:t>
            </a:r>
            <a:r>
              <a:rPr sz="1500" b="1" dirty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500" b="1" dirty="0" err="1">
                <a:solidFill>
                  <a:srgbClr val="000000"/>
                </a:solidFill>
                <a:latin typeface="맑은 고딕"/>
                <a:ea typeface="맑은 고딕"/>
              </a:rPr>
              <a:t>필요한</a:t>
            </a:r>
            <a:r>
              <a:rPr sz="1500" b="1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500" b="1" dirty="0" err="1">
                <a:solidFill>
                  <a:srgbClr val="000000"/>
                </a:solidFill>
                <a:latin typeface="맑은 고딕"/>
                <a:ea typeface="맑은 고딕"/>
              </a:rPr>
              <a:t>곳으로</a:t>
            </a:r>
            <a:r>
              <a:rPr sz="1500" b="1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500" b="1" dirty="0" err="1">
                <a:solidFill>
                  <a:srgbClr val="000000"/>
                </a:solidFill>
                <a:latin typeface="맑은 고딕"/>
                <a:ea typeface="맑은 고딕"/>
              </a:rPr>
              <a:t>배분되고</a:t>
            </a:r>
            <a:r>
              <a:rPr sz="1500" b="1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500" b="1" dirty="0" err="1">
                <a:solidFill>
                  <a:srgbClr val="000000"/>
                </a:solidFill>
                <a:latin typeface="맑은 고딕"/>
                <a:ea typeface="맑은 고딕"/>
              </a:rPr>
              <a:t>있는가</a:t>
            </a:r>
            <a:r>
              <a:rPr sz="1500" b="1" dirty="0">
                <a:solidFill>
                  <a:srgbClr val="000000"/>
                </a:solidFill>
                <a:latin typeface="맑은 고딕"/>
                <a:ea typeface="맑은 고딕"/>
              </a:rPr>
              <a:t>" — </a:t>
            </a:r>
            <a:r>
              <a:rPr sz="1500" b="1" dirty="0" err="1">
                <a:solidFill>
                  <a:srgbClr val="000000"/>
                </a:solidFill>
                <a:latin typeface="맑은 고딕"/>
                <a:ea typeface="맑은 고딕"/>
              </a:rPr>
              <a:t>이를</a:t>
            </a:r>
            <a:r>
              <a:rPr sz="1500" b="1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500" b="1" dirty="0" err="1">
                <a:solidFill>
                  <a:srgbClr val="000000"/>
                </a:solidFill>
                <a:latin typeface="맑은 고딕"/>
                <a:ea typeface="맑은 고딕"/>
              </a:rPr>
              <a:t>데이터로</a:t>
            </a:r>
            <a:r>
              <a:rPr sz="1500" b="1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500" b="1" dirty="0" err="1">
                <a:solidFill>
                  <a:srgbClr val="000000"/>
                </a:solidFill>
                <a:latin typeface="맑은 고딕"/>
                <a:ea typeface="맑은 고딕"/>
              </a:rPr>
              <a:t>검증하</a:t>
            </a:r>
            <a:r>
              <a:rPr lang="ko-KR" altLang="en-US" sz="1500" b="1" dirty="0">
                <a:solidFill>
                  <a:srgbClr val="000000"/>
                </a:solidFill>
                <a:latin typeface="맑은 고딕"/>
                <a:ea typeface="맑은 고딕"/>
              </a:rPr>
              <a:t>고</a:t>
            </a:r>
            <a:r>
              <a:rPr lang="en-US" altLang="ko-KR" sz="1500" b="1" dirty="0">
                <a:solidFill>
                  <a:srgbClr val="000000"/>
                </a:solidFill>
                <a:latin typeface="맑은 고딕"/>
                <a:ea typeface="맑은 고딕"/>
              </a:rPr>
              <a:t>,</a:t>
            </a:r>
            <a:r>
              <a:rPr lang="ko-KR" altLang="en-US" sz="1500" b="1" dirty="0">
                <a:solidFill>
                  <a:srgbClr val="000000"/>
                </a:solidFill>
                <a:latin typeface="맑은 고딕"/>
                <a:ea typeface="맑은 고딕"/>
              </a:rPr>
              <a:t> 개선하는</a:t>
            </a:r>
            <a:r>
              <a:rPr sz="1500" b="1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500" b="1" dirty="0" err="1">
                <a:solidFill>
                  <a:srgbClr val="000000"/>
                </a:solidFill>
                <a:latin typeface="맑은 고딕"/>
                <a:ea typeface="맑은 고딕"/>
              </a:rPr>
              <a:t>것이</a:t>
            </a:r>
            <a:r>
              <a:rPr sz="1500" b="1" dirty="0">
                <a:solidFill>
                  <a:srgbClr val="000000"/>
                </a:solidFill>
                <a:latin typeface="맑은 고딕"/>
                <a:ea typeface="맑은 고딕"/>
              </a:rPr>
              <a:t> 본 </a:t>
            </a:r>
            <a:r>
              <a:rPr lang="ko-KR" altLang="en-US" sz="1500" b="1" dirty="0">
                <a:solidFill>
                  <a:srgbClr val="000000"/>
                </a:solidFill>
                <a:latin typeface="맑은 고딕"/>
                <a:ea typeface="맑은 고딕"/>
              </a:rPr>
              <a:t>프로젝트의 </a:t>
            </a:r>
            <a:r>
              <a:rPr sz="1500" b="1" dirty="0" err="1">
                <a:solidFill>
                  <a:srgbClr val="000000"/>
                </a:solidFill>
                <a:latin typeface="맑은 고딕"/>
                <a:ea typeface="맑은 고딕"/>
              </a:rPr>
              <a:t>계획이다</a:t>
            </a:r>
            <a:r>
              <a:rPr sz="1500" b="1" dirty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606475" y="579043"/>
            <a:ext cx="103784" cy="103784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ang="18900000" scaled="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문제 인식 — 제도는 세 단계로 자원을 흘려보낸다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097280"/>
            <a:ext cx="111556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250" b="0">
                <a:solidFill>
                  <a:srgbClr val="767A7F"/>
                </a:solidFill>
                <a:latin typeface="맑은 고딕"/>
                <a:ea typeface="맑은 고딕"/>
              </a:rPr>
              <a:t>한 단계라도 막히거나 새면, 앞 단계가 아무리 정확해도 자원은 엉뚱한 곳으로 간다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계획서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371600"/>
            <a:ext cx="3291840" cy="1298448"/>
          </a:xfrm>
          <a:prstGeom prst="roundRect">
            <a:avLst>
              <a:gd name="adj" fmla="val 6338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67512" y="1444752"/>
            <a:ext cx="3017520" cy="92993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00"/>
              </a:spcAft>
            </a:pPr>
            <a:r>
              <a:rPr sz="1500" b="1" dirty="0">
                <a:solidFill>
                  <a:srgbClr val="33393F"/>
                </a:solidFill>
                <a:latin typeface="맑은 고딕"/>
                <a:ea typeface="맑은 고딕"/>
              </a:rPr>
              <a:t>① </a:t>
            </a:r>
            <a:r>
              <a:rPr sz="1500" b="1" dirty="0" err="1">
                <a:solidFill>
                  <a:srgbClr val="33393F"/>
                </a:solidFill>
                <a:latin typeface="맑은 고딕"/>
                <a:ea typeface="맑은 고딕"/>
              </a:rPr>
              <a:t>측정</a:t>
            </a:r>
            <a:endParaRPr sz="1500" b="1" dirty="0">
              <a:solidFill>
                <a:srgbClr val="33393F"/>
              </a:solidFill>
              <a:latin typeface="맑은 고딕"/>
              <a:ea typeface="맑은 고딕"/>
            </a:endParaRP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050" b="0" dirty="0">
                <a:solidFill>
                  <a:srgbClr val="1C1C1E"/>
                </a:solidFill>
                <a:latin typeface="맑은 고딕"/>
                <a:ea typeface="맑은 고딕"/>
              </a:rPr>
              <a:t>2년마다 </a:t>
            </a:r>
            <a:r>
              <a:rPr sz="1050" b="0" dirty="0" err="1">
                <a:solidFill>
                  <a:srgbClr val="1C1C1E"/>
                </a:solidFill>
                <a:latin typeface="맑은 고딕"/>
                <a:ea typeface="맑은 고딕"/>
              </a:rPr>
              <a:t>전국</a:t>
            </a:r>
            <a:r>
              <a:rPr sz="10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050" b="0" dirty="0" err="1">
                <a:solidFill>
                  <a:srgbClr val="1C1C1E"/>
                </a:solidFill>
                <a:latin typeface="맑은 고딕"/>
                <a:ea typeface="맑은 고딕"/>
              </a:rPr>
              <a:t>시·군·구의</a:t>
            </a:r>
            <a:endParaRPr sz="1050" b="0" dirty="0">
              <a:solidFill>
                <a:srgbClr val="1C1C1E"/>
              </a:solidFill>
              <a:latin typeface="맑은 고딕"/>
              <a:ea typeface="맑은 고딕"/>
            </a:endParaRP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050" b="0" dirty="0" err="1">
                <a:solidFill>
                  <a:srgbClr val="1C1C1E"/>
                </a:solidFill>
                <a:latin typeface="맑은 고딕"/>
                <a:ea typeface="맑은 고딕"/>
              </a:rPr>
              <a:t>분만실</a:t>
            </a:r>
            <a:r>
              <a:rPr sz="1050" b="0" dirty="0">
                <a:solidFill>
                  <a:srgbClr val="1C1C1E"/>
                </a:solidFill>
                <a:latin typeface="맑은 고딕"/>
                <a:ea typeface="맑은 고딕"/>
              </a:rPr>
              <a:t> 60분</a:t>
            </a:r>
            <a:r>
              <a:rPr lang="ko-KR" altLang="en-US" sz="1050" b="0" dirty="0">
                <a:solidFill>
                  <a:srgbClr val="1C1C1E"/>
                </a:solidFill>
                <a:latin typeface="맑은 고딕"/>
                <a:ea typeface="맑은 고딕"/>
              </a:rPr>
              <a:t>내</a:t>
            </a:r>
            <a:r>
              <a:rPr sz="10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050" b="0" dirty="0" err="1">
                <a:solidFill>
                  <a:srgbClr val="1C1C1E"/>
                </a:solidFill>
                <a:latin typeface="맑은 고딕"/>
                <a:ea typeface="맑은 고딕"/>
              </a:rPr>
              <a:t>접근</a:t>
            </a:r>
            <a:r>
              <a:rPr lang="en-US" sz="10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lang="ko-KR" altLang="en-US" sz="1050" b="0" dirty="0">
                <a:solidFill>
                  <a:srgbClr val="1C1C1E"/>
                </a:solidFill>
                <a:latin typeface="맑은 고딕"/>
                <a:ea typeface="맑은 고딕"/>
              </a:rPr>
              <a:t>가능 여부</a:t>
            </a:r>
            <a:r>
              <a:rPr lang="ko-KR" altLang="en-US" sz="1050" dirty="0">
                <a:solidFill>
                  <a:srgbClr val="1C1C1E"/>
                </a:solidFill>
                <a:latin typeface="맑은 고딕"/>
                <a:ea typeface="맑은 고딕"/>
              </a:rPr>
              <a:t>와</a:t>
            </a:r>
            <a:endParaRPr sz="1050" b="0" dirty="0">
              <a:solidFill>
                <a:srgbClr val="1C1C1E"/>
              </a:solidFill>
              <a:latin typeface="맑은 고딕"/>
              <a:ea typeface="맑은 고딕"/>
            </a:endParaRP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050" b="0" dirty="0" err="1">
                <a:solidFill>
                  <a:srgbClr val="1C1C1E"/>
                </a:solidFill>
                <a:latin typeface="맑은 고딕"/>
                <a:ea typeface="맑은 고딕"/>
              </a:rPr>
              <a:t>실제</a:t>
            </a:r>
            <a:r>
              <a:rPr sz="10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050" b="0" dirty="0" err="1">
                <a:solidFill>
                  <a:srgbClr val="1C1C1E"/>
                </a:solidFill>
                <a:latin typeface="맑은 고딕"/>
                <a:ea typeface="맑은 고딕"/>
              </a:rPr>
              <a:t>분만</a:t>
            </a:r>
            <a:r>
              <a:rPr lang="ko-KR" altLang="en-US" sz="1050" b="0" dirty="0">
                <a:solidFill>
                  <a:srgbClr val="1C1C1E"/>
                </a:solidFill>
                <a:latin typeface="맑은 고딕"/>
                <a:ea typeface="맑은 고딕"/>
              </a:rPr>
              <a:t>시</a:t>
            </a:r>
            <a:r>
              <a:rPr sz="10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050" b="0" dirty="0" err="1">
                <a:solidFill>
                  <a:srgbClr val="1C1C1E"/>
                </a:solidFill>
                <a:latin typeface="맑은 고딕"/>
                <a:ea typeface="맑은 고딕"/>
              </a:rPr>
              <a:t>이동시간</a:t>
            </a:r>
            <a:r>
              <a:rPr lang="en-US" sz="10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lang="ko-KR" altLang="en-US" sz="1050" b="0" dirty="0">
                <a:solidFill>
                  <a:srgbClr val="1C1C1E"/>
                </a:solidFill>
                <a:latin typeface="맑은 고딕"/>
                <a:ea typeface="맑은 고딕"/>
              </a:rPr>
              <a:t>기록</a:t>
            </a:r>
            <a:r>
              <a:rPr lang="ko-KR" altLang="en-US" sz="1050" dirty="0">
                <a:solidFill>
                  <a:srgbClr val="1C1C1E"/>
                </a:solidFill>
                <a:latin typeface="맑은 고딕"/>
                <a:ea typeface="맑은 고딕"/>
              </a:rPr>
              <a:t>을</a:t>
            </a:r>
            <a:r>
              <a:rPr sz="10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050" b="0" dirty="0" err="1">
                <a:solidFill>
                  <a:srgbClr val="1C1C1E"/>
                </a:solidFill>
                <a:latin typeface="맑은 고딕"/>
                <a:ea typeface="맑은 고딕"/>
              </a:rPr>
              <a:t>산출</a:t>
            </a:r>
            <a:endParaRPr sz="1050" b="0" dirty="0">
              <a:solidFill>
                <a:srgbClr val="1C1C1E"/>
              </a:solidFill>
              <a:latin typeface="맑은 고딕"/>
              <a:ea typeface="맑은 고딕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3813048" y="1783080"/>
            <a:ext cx="685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200" b="1">
                <a:solidFill>
                  <a:srgbClr val="767A7F"/>
                </a:solidFill>
                <a:latin typeface="맑은 고딕"/>
                <a:ea typeface="맑은 고딕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80559" y="1371600"/>
            <a:ext cx="3291840" cy="1298448"/>
          </a:xfrm>
          <a:prstGeom prst="roundRect">
            <a:avLst>
              <a:gd name="adj" fmla="val 6338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645151" y="1444752"/>
            <a:ext cx="3017520" cy="11521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00"/>
              </a:spcAft>
            </a:pPr>
            <a:r>
              <a:rPr sz="1500" b="1" dirty="0">
                <a:solidFill>
                  <a:srgbClr val="33393F"/>
                </a:solidFill>
                <a:latin typeface="맑은 고딕"/>
                <a:ea typeface="맑은 고딕"/>
              </a:rPr>
              <a:t>② </a:t>
            </a:r>
            <a:r>
              <a:rPr sz="1500" b="1" dirty="0" err="1">
                <a:solidFill>
                  <a:srgbClr val="33393F"/>
                </a:solidFill>
                <a:latin typeface="맑은 고딕"/>
                <a:ea typeface="맑은 고딕"/>
              </a:rPr>
              <a:t>지정</a:t>
            </a:r>
            <a:endParaRPr sz="1500" b="1" dirty="0">
              <a:solidFill>
                <a:srgbClr val="33393F"/>
              </a:solidFill>
              <a:latin typeface="맑은 고딕"/>
              <a:ea typeface="맑은 고딕"/>
            </a:endParaRP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050" b="0" dirty="0">
                <a:solidFill>
                  <a:srgbClr val="1C1C1E"/>
                </a:solidFill>
                <a:latin typeface="맑은 고딕"/>
                <a:ea typeface="맑은 고딕"/>
              </a:rPr>
              <a:t>그 </a:t>
            </a:r>
            <a:r>
              <a:rPr sz="1050" b="0" dirty="0" err="1">
                <a:solidFill>
                  <a:srgbClr val="1C1C1E"/>
                </a:solidFill>
                <a:latin typeface="맑은 고딕"/>
                <a:ea typeface="맑은 고딕"/>
              </a:rPr>
              <a:t>값을</a:t>
            </a:r>
            <a:r>
              <a:rPr sz="10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050" b="0" dirty="0" err="1">
                <a:solidFill>
                  <a:srgbClr val="1C1C1E"/>
                </a:solidFill>
                <a:latin typeface="맑은 고딕"/>
                <a:ea typeface="맑은 고딕"/>
              </a:rPr>
              <a:t>임계값</a:t>
            </a:r>
            <a:r>
              <a:rPr sz="1050" b="0" dirty="0">
                <a:solidFill>
                  <a:srgbClr val="1C1C1E"/>
                </a:solidFill>
                <a:latin typeface="맑은 고딕"/>
                <a:ea typeface="맑은 고딕"/>
              </a:rPr>
              <a:t>(30/30)과 </a:t>
            </a:r>
            <a:r>
              <a:rPr sz="1050" b="0" dirty="0" err="1">
                <a:solidFill>
                  <a:srgbClr val="1C1C1E"/>
                </a:solidFill>
                <a:latin typeface="맑은 고딕"/>
                <a:ea typeface="맑은 고딕"/>
              </a:rPr>
              <a:t>대조해</a:t>
            </a:r>
            <a:endParaRPr sz="1050" b="0" dirty="0">
              <a:solidFill>
                <a:srgbClr val="1C1C1E"/>
              </a:solidFill>
              <a:latin typeface="맑은 고딕"/>
              <a:ea typeface="맑은 고딕"/>
            </a:endParaRP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050" b="0" dirty="0" err="1">
                <a:solidFill>
                  <a:srgbClr val="1C1C1E"/>
                </a:solidFill>
                <a:latin typeface="맑은 고딕"/>
                <a:ea typeface="맑은 고딕"/>
              </a:rPr>
              <a:t>분만취약지를</a:t>
            </a:r>
            <a:r>
              <a:rPr sz="10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050" b="0" dirty="0" err="1">
                <a:solidFill>
                  <a:srgbClr val="1C1C1E"/>
                </a:solidFill>
                <a:latin typeface="맑은 고딕"/>
                <a:ea typeface="맑은 고딕"/>
              </a:rPr>
              <a:t>판정하고</a:t>
            </a:r>
            <a:endParaRPr sz="1050" b="0" dirty="0">
              <a:solidFill>
                <a:srgbClr val="1C1C1E"/>
              </a:solidFill>
              <a:latin typeface="맑은 고딕"/>
              <a:ea typeface="맑은 고딕"/>
            </a:endParaRP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050" b="0" dirty="0">
                <a:solidFill>
                  <a:srgbClr val="1C1C1E"/>
                </a:solidFill>
                <a:latin typeface="맑은 고딕"/>
                <a:ea typeface="맑은 고딕"/>
              </a:rPr>
              <a:t>A·B·C </a:t>
            </a:r>
            <a:r>
              <a:rPr sz="1050" b="0" dirty="0" err="1">
                <a:solidFill>
                  <a:srgbClr val="1C1C1E"/>
                </a:solidFill>
                <a:latin typeface="맑은 고딕"/>
                <a:ea typeface="맑은 고딕"/>
              </a:rPr>
              <a:t>등급</a:t>
            </a:r>
            <a:r>
              <a:rPr sz="10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050" b="0" dirty="0" err="1">
                <a:solidFill>
                  <a:srgbClr val="1C1C1E"/>
                </a:solidFill>
                <a:latin typeface="맑은 고딕"/>
                <a:ea typeface="맑은 고딕"/>
              </a:rPr>
              <a:t>부여</a:t>
            </a:r>
            <a:endParaRPr sz="1050" b="0" dirty="0">
              <a:solidFill>
                <a:srgbClr val="1C1C1E"/>
              </a:solidFill>
              <a:latin typeface="맑은 고딕"/>
              <a:ea typeface="맑은 고딕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7790688" y="1783080"/>
            <a:ext cx="685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200" b="1">
                <a:solidFill>
                  <a:srgbClr val="767A7F"/>
                </a:solidFill>
                <a:latin typeface="맑은 고딕"/>
                <a:ea typeface="맑은 고딕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458200" y="1371600"/>
            <a:ext cx="3291840" cy="1298448"/>
          </a:xfrm>
          <a:prstGeom prst="roundRect">
            <a:avLst>
              <a:gd name="adj" fmla="val 6338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622792" y="1444752"/>
            <a:ext cx="3017520" cy="11521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00"/>
              </a:spcAft>
            </a:pPr>
            <a:r>
              <a:rPr sz="1500" b="1">
                <a:solidFill>
                  <a:srgbClr val="33393F"/>
                </a:solidFill>
                <a:latin typeface="맑은 고딕"/>
                <a:ea typeface="맑은 고딕"/>
              </a:rPr>
              <a:t>③ 배분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050" b="0">
                <a:solidFill>
                  <a:srgbClr val="1C1C1E"/>
                </a:solidFill>
                <a:latin typeface="맑은 고딕"/>
                <a:ea typeface="맑은 고딕"/>
              </a:rPr>
              <a:t>지정 지역의 병원 한 곳을 골라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050" b="0">
                <a:solidFill>
                  <a:srgbClr val="1C1C1E"/>
                </a:solidFill>
                <a:latin typeface="맑은 고딕"/>
                <a:ea typeface="맑은 고딕"/>
              </a:rPr>
              <a:t>분만실 설치비·운영비 지급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050" b="0">
                <a:solidFill>
                  <a:srgbClr val="1C1C1E"/>
                </a:solidFill>
                <a:latin typeface="맑은 고딕"/>
                <a:ea typeface="맑은 고딕"/>
              </a:rPr>
              <a:t>(설치 약 10억 + 연 5억)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2926080"/>
            <a:ext cx="5532120" cy="1783080"/>
          </a:xfrm>
          <a:prstGeom prst="roundRect">
            <a:avLst>
              <a:gd name="adj" fmla="val 4615"/>
            </a:avLst>
          </a:prstGeom>
          <a:solidFill>
            <a:srgbClr val="F1F2F3"/>
          </a:solidFill>
          <a:ln w="15875">
            <a:solidFill>
              <a:srgbClr val="9AA0A6"/>
            </a:solidFill>
          </a:ln>
          <a:effectLst>
            <a:outerShdw blurRad="182880" dist="64008" dir="5400000" rotWithShape="0">
              <a:srgbClr val="000000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85800" y="3054096"/>
            <a:ext cx="5166359" cy="121167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lang="ko-KR" altLang="en-US" sz="1300" b="1" dirty="0">
                <a:solidFill>
                  <a:srgbClr val="000000"/>
                </a:solidFill>
                <a:latin typeface="맑은 고딕"/>
                <a:ea typeface="맑은 고딕"/>
              </a:rPr>
              <a:t>검증 타겟</a:t>
            </a:r>
            <a:r>
              <a:rPr sz="1300" b="1" dirty="0">
                <a:solidFill>
                  <a:srgbClr val="000000"/>
                </a:solidFill>
                <a:latin typeface="맑은 고딕"/>
                <a:ea typeface="맑은 고딕"/>
              </a:rPr>
              <a:t> 1 — </a:t>
            </a:r>
            <a:r>
              <a:rPr sz="1300" b="1" dirty="0" err="1">
                <a:solidFill>
                  <a:srgbClr val="000000"/>
                </a:solidFill>
                <a:latin typeface="맑은 고딕"/>
                <a:ea typeface="맑은 고딕"/>
              </a:rPr>
              <a:t>지정</a:t>
            </a:r>
            <a:r>
              <a:rPr sz="1300" b="1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000000"/>
                </a:solidFill>
                <a:latin typeface="맑은 고딕"/>
                <a:ea typeface="맑은 고딕"/>
              </a:rPr>
              <a:t>단계</a:t>
            </a:r>
            <a:endParaRPr sz="1300" b="1" dirty="0">
              <a:solidFill>
                <a:srgbClr val="000000"/>
              </a:solidFill>
              <a:latin typeface="맑은 고딕"/>
              <a:ea typeface="맑은 고딕"/>
            </a:endParaRP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•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판정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기준은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이동시간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파생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지표뿐이다</a:t>
            </a:r>
            <a:endParaRPr sz="1150" b="0" dirty="0">
              <a:solidFill>
                <a:srgbClr val="1C1C1E"/>
              </a:solidFill>
              <a:latin typeface="맑은 고딕"/>
              <a:ea typeface="맑은 고딕"/>
            </a:endParaRP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•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관내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분만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인프라가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소멸해도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"옆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도시로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60분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안에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갈 수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있으면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"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취약지가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아니게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되는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구조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아닌가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?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→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기준이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구조적으로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놓치는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지역이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있는지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검증한다</a:t>
            </a:r>
            <a:endParaRPr sz="1150" b="0" dirty="0">
              <a:solidFill>
                <a:srgbClr val="1C1C1E"/>
              </a:solidFill>
              <a:latin typeface="맑은 고딕"/>
              <a:ea typeface="맑은 고딕"/>
            </a:endParaRPr>
          </a:p>
        </p:txBody>
      </p:sp>
      <p:sp>
        <p:nvSpPr>
          <p:cNvPr id="19" name="Rounded Rectangle 18"/>
          <p:cNvSpPr/>
          <p:nvPr/>
        </p:nvSpPr>
        <p:spPr>
          <a:xfrm>
            <a:off x="6263640" y="2926080"/>
            <a:ext cx="5532120" cy="1783080"/>
          </a:xfrm>
          <a:prstGeom prst="roundRect">
            <a:avLst>
              <a:gd name="adj" fmla="val 4615"/>
            </a:avLst>
          </a:prstGeom>
          <a:solidFill>
            <a:srgbClr val="F1F2F3"/>
          </a:solidFill>
          <a:ln w="15875">
            <a:solidFill>
              <a:srgbClr val="9AA0A6"/>
            </a:solidFill>
          </a:ln>
          <a:effectLst>
            <a:outerShdw blurRad="182880" dist="64008" dir="5400000" rotWithShape="0">
              <a:srgbClr val="000000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446520" y="3054096"/>
            <a:ext cx="5166359" cy="121167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lang="ko-KR" altLang="en-US" sz="1300" b="1" dirty="0">
                <a:solidFill>
                  <a:srgbClr val="000000"/>
                </a:solidFill>
                <a:latin typeface="맑은 고딕"/>
                <a:ea typeface="맑은 고딕"/>
              </a:rPr>
              <a:t>검증 타겟</a:t>
            </a:r>
            <a:r>
              <a:rPr sz="1300" b="1" dirty="0">
                <a:solidFill>
                  <a:srgbClr val="000000"/>
                </a:solidFill>
                <a:latin typeface="맑은 고딕"/>
                <a:ea typeface="맑은 고딕"/>
              </a:rPr>
              <a:t> 2 — </a:t>
            </a:r>
            <a:r>
              <a:rPr sz="1300" b="1" dirty="0" err="1">
                <a:solidFill>
                  <a:srgbClr val="000000"/>
                </a:solidFill>
                <a:latin typeface="맑은 고딕"/>
                <a:ea typeface="맑은 고딕"/>
              </a:rPr>
              <a:t>배분</a:t>
            </a:r>
            <a:r>
              <a:rPr sz="1300" b="1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000000"/>
                </a:solidFill>
                <a:latin typeface="맑은 고딕"/>
                <a:ea typeface="맑은 고딕"/>
              </a:rPr>
              <a:t>단계</a:t>
            </a:r>
            <a:endParaRPr sz="1300" b="1" dirty="0">
              <a:solidFill>
                <a:srgbClr val="000000"/>
              </a:solidFill>
              <a:latin typeface="맑은 고딕"/>
              <a:ea typeface="맑은 고딕"/>
            </a:endParaRP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lang="en-US" altLang="ko-KR" sz="1150" dirty="0">
                <a:solidFill>
                  <a:srgbClr val="1C1C1E"/>
                </a:solidFill>
                <a:latin typeface="맑은 고딕"/>
                <a:ea typeface="맑은 고딕"/>
              </a:rPr>
              <a:t>• </a:t>
            </a:r>
            <a:r>
              <a:rPr lang="ko-KR" altLang="en-US" sz="1150" dirty="0">
                <a:solidFill>
                  <a:srgbClr val="1C1C1E"/>
                </a:solidFill>
                <a:latin typeface="맑은 고딕"/>
                <a:ea typeface="맑은 고딕"/>
              </a:rPr>
              <a:t>시</a:t>
            </a:r>
            <a:r>
              <a:rPr lang="en-US" altLang="ko-KR" sz="1150" dirty="0">
                <a:solidFill>
                  <a:srgbClr val="1C1C1E"/>
                </a:solidFill>
                <a:latin typeface="맑은 고딕"/>
                <a:ea typeface="맑은 고딕"/>
              </a:rPr>
              <a:t>·</a:t>
            </a:r>
            <a:r>
              <a:rPr lang="ko-KR" altLang="en-US" sz="1150" dirty="0">
                <a:solidFill>
                  <a:srgbClr val="1C1C1E"/>
                </a:solidFill>
                <a:latin typeface="맑은 고딕"/>
                <a:ea typeface="맑은 고딕"/>
              </a:rPr>
              <a:t>도 선별 기준은 </a:t>
            </a:r>
            <a:r>
              <a:rPr lang="en-US" altLang="ko-KR" sz="1150" dirty="0">
                <a:solidFill>
                  <a:srgbClr val="1C1C1E"/>
                </a:solidFill>
                <a:latin typeface="맑은 고딕"/>
                <a:ea typeface="맑은 고딕"/>
              </a:rPr>
              <a:t>"</a:t>
            </a:r>
            <a:r>
              <a:rPr lang="ko-KR" altLang="en-US" sz="1150" dirty="0">
                <a:solidFill>
                  <a:srgbClr val="1C1C1E"/>
                </a:solidFill>
                <a:latin typeface="맑은 고딕"/>
                <a:ea typeface="맑은 고딕"/>
              </a:rPr>
              <a:t>예산 규모</a:t>
            </a:r>
            <a:r>
              <a:rPr lang="en-US" altLang="ko-KR" sz="1150" dirty="0">
                <a:solidFill>
                  <a:srgbClr val="1C1C1E"/>
                </a:solidFill>
                <a:latin typeface="맑은 고딕"/>
                <a:ea typeface="맑은 고딕"/>
              </a:rPr>
              <a:t>, </a:t>
            </a:r>
            <a:r>
              <a:rPr lang="ko-KR" altLang="en-US" sz="1150" dirty="0">
                <a:solidFill>
                  <a:srgbClr val="1C1C1E"/>
                </a:solidFill>
                <a:latin typeface="맑은 고딕"/>
                <a:ea typeface="맑은 고딕"/>
              </a:rPr>
              <a:t>의료 취약성 등 고려</a:t>
            </a:r>
            <a:r>
              <a:rPr lang="en-US" altLang="ko-KR" sz="1150" dirty="0">
                <a:solidFill>
                  <a:srgbClr val="1C1C1E"/>
                </a:solidFill>
                <a:latin typeface="맑은 고딕"/>
                <a:ea typeface="맑은 고딕"/>
              </a:rPr>
              <a:t>"</a:t>
            </a:r>
            <a:r>
              <a:rPr lang="ko-KR" altLang="en-US" sz="1150" dirty="0">
                <a:solidFill>
                  <a:srgbClr val="1C1C1E"/>
                </a:solidFill>
                <a:latin typeface="맑은 고딕"/>
                <a:ea typeface="맑은 고딕"/>
              </a:rPr>
              <a:t>가 전부</a:t>
            </a:r>
            <a:endParaRPr lang="en-US" sz="1150" b="0" dirty="0">
              <a:solidFill>
                <a:srgbClr val="1C1C1E"/>
              </a:solidFill>
              <a:latin typeface="맑은 고딕"/>
              <a:ea typeface="맑은 고딕"/>
            </a:endParaRP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•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지원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심사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배점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100점 중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취약도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항목은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0점</a:t>
            </a:r>
            <a:r>
              <a:rPr lang="en-US"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lang="en-US" altLang="ko-KR" sz="1150" dirty="0">
                <a:solidFill>
                  <a:srgbClr val="1C1C1E"/>
                </a:solidFill>
                <a:latin typeface="맑은 고딕"/>
                <a:ea typeface="맑은 고딕"/>
              </a:rPr>
              <a:t>— </a:t>
            </a:r>
            <a:r>
              <a:rPr lang="ko-KR" altLang="en-US" sz="1150" dirty="0">
                <a:solidFill>
                  <a:srgbClr val="1C1C1E"/>
                </a:solidFill>
                <a:latin typeface="맑은 고딕"/>
                <a:ea typeface="맑은 고딕"/>
              </a:rPr>
              <a:t>누구를 먼저 </a:t>
            </a:r>
            <a:r>
              <a:rPr lang="ko-KR" altLang="en-US" sz="1150" dirty="0" err="1">
                <a:solidFill>
                  <a:srgbClr val="1C1C1E"/>
                </a:solidFill>
                <a:latin typeface="맑은 고딕"/>
                <a:ea typeface="맑은 고딕"/>
              </a:rPr>
              <a:t>지원할지의</a:t>
            </a:r>
            <a:r>
              <a:rPr lang="ko-KR" altLang="en-US" sz="1150" dirty="0">
                <a:solidFill>
                  <a:srgbClr val="1C1C1E"/>
                </a:solidFill>
                <a:latin typeface="맑은 고딕"/>
                <a:ea typeface="맑은 고딕"/>
              </a:rPr>
              <a:t> 합리적 규칙이 있는가</a:t>
            </a:r>
            <a:r>
              <a:rPr lang="en-US" altLang="ko-KR" sz="1150" dirty="0">
                <a:solidFill>
                  <a:srgbClr val="1C1C1E"/>
                </a:solidFill>
                <a:latin typeface="맑은 고딕"/>
                <a:ea typeface="맑은 고딕"/>
              </a:rPr>
              <a:t>?</a:t>
            </a:r>
            <a:endParaRPr sz="1150" b="0" dirty="0">
              <a:solidFill>
                <a:srgbClr val="1C1C1E"/>
              </a:solidFill>
              <a:latin typeface="맑은 고딕"/>
              <a:ea typeface="맑은 고딕"/>
            </a:endParaRP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• 15년 누적 57개소, 2025년 분만 신규는 전국 1개소 — 나눠 줄 것이 적을수록 순서는 오히려 더 중요해진다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→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현행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배분이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무엇으로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설명되는지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진단한다</a:t>
            </a:r>
            <a:endParaRPr sz="1150" b="0" dirty="0">
              <a:solidFill>
                <a:srgbClr val="1C1C1E"/>
              </a:solidFill>
              <a:latin typeface="맑은 고딕"/>
              <a:ea typeface="맑은 고딕"/>
            </a:endParaRPr>
          </a:p>
        </p:txBody>
      </p:sp>
      <p:sp>
        <p:nvSpPr>
          <p:cNvPr id="21" name="Rounded Rectangle 20"/>
          <p:cNvSpPr/>
          <p:nvPr/>
        </p:nvSpPr>
        <p:spPr>
          <a:xfrm>
            <a:off x="502920" y="4892040"/>
            <a:ext cx="1129284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85800" y="5020055"/>
            <a:ext cx="10927080" cy="10099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왜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지금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,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데이터</a:t>
            </a:r>
            <a:r>
              <a:rPr lang="en-US" sz="13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lang="ko-KR" altLang="en-US" sz="1300" b="1" dirty="0">
                <a:solidFill>
                  <a:srgbClr val="33393F"/>
                </a:solidFill>
                <a:latin typeface="맑은 고딕"/>
                <a:ea typeface="맑은 고딕"/>
              </a:rPr>
              <a:t>분석이 필요한가</a:t>
            </a:r>
            <a:r>
              <a:rPr lang="en-US" altLang="ko-KR" sz="1300" b="1" dirty="0">
                <a:solidFill>
                  <a:srgbClr val="33393F"/>
                </a:solidFill>
                <a:latin typeface="맑은 고딕"/>
                <a:ea typeface="맑은 고딕"/>
              </a:rPr>
              <a:t>?</a:t>
            </a:r>
            <a:endParaRPr sz="1300" b="1" dirty="0">
              <a:solidFill>
                <a:srgbClr val="33393F"/>
              </a:solidFill>
              <a:latin typeface="맑은 고딕"/>
              <a:ea typeface="맑은 고딕"/>
            </a:endParaRP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•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분만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인프라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공백은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언론·국회에서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반복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지적되어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왔으나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,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전국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단위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공개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데이터로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정량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검증된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적이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없다</a:t>
            </a:r>
            <a:endParaRPr sz="1150" b="0" dirty="0">
              <a:solidFill>
                <a:srgbClr val="1C1C1E"/>
              </a:solidFill>
              <a:latin typeface="맑은 고딕"/>
              <a:ea typeface="맑은 고딕"/>
            </a:endParaRP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•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분석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대상은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취약지라는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현상이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아니라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,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취약지를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판정하고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지원하는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제도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그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자체다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(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제도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감사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프레임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• 모든 판단 기준과 임계값은 정부 자신의 문서·데이터에서 가져와 실현 가능성을 확보할 계획이다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606475" y="579043"/>
            <a:ext cx="103784" cy="103784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ang="18900000" scaled="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0120" y="399564"/>
            <a:ext cx="9692640" cy="4353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 dirty="0" err="1">
                <a:solidFill>
                  <a:srgbClr val="1C1C1E"/>
                </a:solidFill>
                <a:latin typeface="맑은 고딕"/>
                <a:ea typeface="맑은 고딕"/>
              </a:rPr>
              <a:t>핵심</a:t>
            </a:r>
            <a:r>
              <a:rPr sz="2150" b="1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2150" b="1" dirty="0" err="1">
                <a:solidFill>
                  <a:srgbClr val="1C1C1E"/>
                </a:solidFill>
                <a:latin typeface="맑은 고딕"/>
                <a:ea typeface="맑은 고딕"/>
              </a:rPr>
              <a:t>질문</a:t>
            </a:r>
            <a:r>
              <a:rPr lang="en-US" sz="2150" b="1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2150" b="1" dirty="0">
                <a:solidFill>
                  <a:srgbClr val="1C1C1E"/>
                </a:solidFill>
                <a:latin typeface="맑은 고딕"/>
                <a:ea typeface="맑은 고딕"/>
              </a:rPr>
              <a:t>— </a:t>
            </a:r>
            <a:r>
              <a:rPr lang="ko-KR" altLang="en-US" sz="2150" b="1" dirty="0">
                <a:solidFill>
                  <a:srgbClr val="1C1C1E"/>
                </a:solidFill>
                <a:latin typeface="맑은 고딕"/>
                <a:ea typeface="맑은 고딕"/>
              </a:rPr>
              <a:t>프로젝트가 검정하고자 하는 네가지 질문</a:t>
            </a:r>
            <a:endParaRPr sz="2150" b="1" dirty="0">
              <a:solidFill>
                <a:srgbClr val="1C1C1E"/>
              </a:solidFill>
              <a:latin typeface="맑은 고딕"/>
              <a:ea typeface="맑은 고딕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05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계획서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371600"/>
            <a:ext cx="5532120" cy="1737360"/>
          </a:xfrm>
          <a:prstGeom prst="roundRect">
            <a:avLst>
              <a:gd name="adj" fmla="val 473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521208" y="1600200"/>
            <a:ext cx="82296" cy="1280160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ang="18900000" scaled="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22960" y="1536192"/>
            <a:ext cx="5074920" cy="8472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500"/>
              </a:spcAft>
            </a:pPr>
            <a:r>
              <a:rPr sz="1500" b="1" dirty="0">
                <a:solidFill>
                  <a:srgbClr val="33393F"/>
                </a:solidFill>
                <a:latin typeface="맑은 고딕"/>
                <a:ea typeface="맑은 고딕"/>
              </a:rPr>
              <a:t>Q1 · </a:t>
            </a:r>
            <a:r>
              <a:rPr sz="1500" b="1" dirty="0" err="1">
                <a:solidFill>
                  <a:srgbClr val="33393F"/>
                </a:solidFill>
                <a:latin typeface="맑은 고딕"/>
                <a:ea typeface="맑은 고딕"/>
              </a:rPr>
              <a:t>지정</a:t>
            </a:r>
            <a:r>
              <a:rPr lang="en-US" sz="15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lang="ko-KR" altLang="en-US" sz="1500" b="1" dirty="0">
                <a:solidFill>
                  <a:srgbClr val="33393F"/>
                </a:solidFill>
                <a:latin typeface="맑은 고딕"/>
                <a:ea typeface="맑은 고딕"/>
              </a:rPr>
              <a:t>단계</a:t>
            </a:r>
            <a:r>
              <a:rPr sz="15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500" b="1" dirty="0" err="1">
                <a:solidFill>
                  <a:srgbClr val="33393F"/>
                </a:solidFill>
                <a:latin typeface="맑은 고딕"/>
                <a:ea typeface="맑은 고딕"/>
              </a:rPr>
              <a:t>검증</a:t>
            </a:r>
            <a:endParaRPr sz="1500" b="1" dirty="0">
              <a:solidFill>
                <a:srgbClr val="33393F"/>
              </a:solidFill>
              <a:latin typeface="맑은 고딕"/>
              <a:ea typeface="맑은 고딕"/>
            </a:endParaRP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현행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지정은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공표된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판정식대로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실제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작동하는가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?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lang="ko-KR" altLang="en-US" sz="1200" b="0" dirty="0">
                <a:solidFill>
                  <a:srgbClr val="1C1C1E"/>
                </a:solidFill>
                <a:latin typeface="맑은 고딕"/>
                <a:ea typeface="맑은 고딕"/>
              </a:rPr>
              <a:t>의료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공급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(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관내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lang="ko-KR" altLang="en-US" sz="1200" b="0" dirty="0">
                <a:solidFill>
                  <a:srgbClr val="1C1C1E"/>
                </a:solidFill>
                <a:latin typeface="맑은 고딕"/>
                <a:ea typeface="맑은 고딕"/>
              </a:rPr>
              <a:t>분만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인프라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)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변수는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판정에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반영되는가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1371600"/>
            <a:ext cx="5532120" cy="1737360"/>
          </a:xfrm>
          <a:prstGeom prst="roundRect">
            <a:avLst>
              <a:gd name="adj" fmla="val 473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6281927" y="1600200"/>
            <a:ext cx="82296" cy="1280160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ang="18900000" scaled="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583679" y="1536192"/>
            <a:ext cx="5074920" cy="8472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500"/>
              </a:spcAft>
            </a:pPr>
            <a:r>
              <a:rPr sz="1500" b="1" dirty="0">
                <a:solidFill>
                  <a:srgbClr val="33393F"/>
                </a:solidFill>
                <a:latin typeface="맑은 고딕"/>
                <a:ea typeface="맑은 고딕"/>
              </a:rPr>
              <a:t>Q2 · </a:t>
            </a:r>
            <a:r>
              <a:rPr sz="1500" b="1" dirty="0" err="1">
                <a:solidFill>
                  <a:srgbClr val="33393F"/>
                </a:solidFill>
                <a:latin typeface="맑은 고딕"/>
                <a:ea typeface="맑은 고딕"/>
              </a:rPr>
              <a:t>사각지대</a:t>
            </a:r>
            <a:r>
              <a:rPr sz="15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500" b="1" dirty="0" err="1">
                <a:solidFill>
                  <a:srgbClr val="33393F"/>
                </a:solidFill>
                <a:latin typeface="맑은 고딕"/>
                <a:ea typeface="맑은 고딕"/>
              </a:rPr>
              <a:t>탐지</a:t>
            </a:r>
            <a:endParaRPr sz="1500" b="1" dirty="0">
              <a:solidFill>
                <a:srgbClr val="33393F"/>
              </a:solidFill>
              <a:latin typeface="맑은 고딕"/>
              <a:ea typeface="맑은 고딕"/>
            </a:endParaRP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판정식이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구조적으로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놓치는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지역이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실재하는가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?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(</a:t>
            </a:r>
            <a:r>
              <a:rPr lang="en-US" sz="1200" b="0" dirty="0">
                <a:solidFill>
                  <a:srgbClr val="1C1C1E"/>
                </a:solidFill>
                <a:latin typeface="맑은 고딕"/>
                <a:ea typeface="맑은 고딕"/>
              </a:rPr>
              <a:t>ex.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거리</a:t>
            </a:r>
            <a:r>
              <a:rPr lang="ko-KR" altLang="en-US" sz="1200" dirty="0">
                <a:solidFill>
                  <a:srgbClr val="1C1C1E"/>
                </a:solidFill>
                <a:latin typeface="맑은 고딕"/>
                <a:ea typeface="맑은 고딕"/>
              </a:rPr>
              <a:t>로만 보면 취약지가 아니지만</a:t>
            </a:r>
            <a:r>
              <a:rPr lang="en-US" altLang="ko-KR" sz="1200" dirty="0">
                <a:solidFill>
                  <a:srgbClr val="1C1C1E"/>
                </a:solidFill>
                <a:latin typeface="맑은 고딕"/>
                <a:ea typeface="맑은 고딕"/>
              </a:rPr>
              <a:t>,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관내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공급이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소멸한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지역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3337560"/>
            <a:ext cx="5532120" cy="1737360"/>
          </a:xfrm>
          <a:prstGeom prst="roundRect">
            <a:avLst>
              <a:gd name="adj" fmla="val 473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521208" y="3566160"/>
            <a:ext cx="82296" cy="1280160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ang="18900000" scaled="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22960" y="3502152"/>
            <a:ext cx="5074920" cy="8472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500"/>
              </a:spcAft>
            </a:pPr>
            <a:r>
              <a:rPr sz="1500" b="1" dirty="0">
                <a:solidFill>
                  <a:srgbClr val="33393F"/>
                </a:solidFill>
                <a:latin typeface="맑은 고딕"/>
                <a:ea typeface="맑은 고딕"/>
              </a:rPr>
              <a:t>Q3 · </a:t>
            </a:r>
            <a:r>
              <a:rPr sz="1500" b="1" dirty="0" err="1">
                <a:solidFill>
                  <a:srgbClr val="33393F"/>
                </a:solidFill>
                <a:latin typeface="맑은 고딕"/>
                <a:ea typeface="맑은 고딕"/>
              </a:rPr>
              <a:t>배분</a:t>
            </a:r>
            <a:r>
              <a:rPr lang="en-US" sz="15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lang="ko-KR" altLang="en-US" sz="1500" b="1" dirty="0">
                <a:solidFill>
                  <a:srgbClr val="33393F"/>
                </a:solidFill>
                <a:latin typeface="맑은 고딕"/>
                <a:ea typeface="맑은 고딕"/>
              </a:rPr>
              <a:t>단계</a:t>
            </a:r>
            <a:r>
              <a:rPr sz="15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lang="ko-KR" altLang="en-US" sz="1500" b="1" dirty="0">
                <a:solidFill>
                  <a:srgbClr val="33393F"/>
                </a:solidFill>
                <a:latin typeface="맑은 고딕"/>
                <a:ea typeface="맑은 고딕"/>
              </a:rPr>
              <a:t>검증</a:t>
            </a:r>
            <a:endParaRPr sz="1500" b="1" dirty="0">
              <a:solidFill>
                <a:srgbClr val="33393F"/>
              </a:solidFill>
              <a:latin typeface="맑은 고딕"/>
              <a:ea typeface="맑은 고딕"/>
            </a:endParaRP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lang="ko-KR" altLang="en-US" sz="1200" b="0" dirty="0">
                <a:solidFill>
                  <a:srgbClr val="1C1C1E"/>
                </a:solidFill>
                <a:latin typeface="맑은 고딕"/>
                <a:ea typeface="맑은 고딕"/>
              </a:rPr>
              <a:t>취약지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지정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이후의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지원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배분은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공개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지표로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설명되는가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?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lang="en-US"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A,B,C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등급·취약도·수요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중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무엇이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선정을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갈랐는가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63640" y="3337560"/>
            <a:ext cx="5532120" cy="1737360"/>
          </a:xfrm>
          <a:prstGeom prst="roundRect">
            <a:avLst>
              <a:gd name="adj" fmla="val 473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6281927" y="3566160"/>
            <a:ext cx="82296" cy="1280160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ang="18900000" scaled="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583679" y="3502152"/>
            <a:ext cx="5074920" cy="8472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500"/>
              </a:spcAft>
            </a:pPr>
            <a:r>
              <a:rPr sz="1500" b="1" dirty="0">
                <a:solidFill>
                  <a:srgbClr val="33393F"/>
                </a:solidFill>
                <a:latin typeface="맑은 고딕"/>
                <a:ea typeface="맑은 고딕"/>
              </a:rPr>
              <a:t>Q4 · </a:t>
            </a:r>
            <a:r>
              <a:rPr sz="1500" b="1" dirty="0" err="1">
                <a:solidFill>
                  <a:srgbClr val="33393F"/>
                </a:solidFill>
                <a:latin typeface="맑은 고딕"/>
                <a:ea typeface="맑은 고딕"/>
              </a:rPr>
              <a:t>처방과</a:t>
            </a:r>
            <a:r>
              <a:rPr sz="15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500" b="1" dirty="0" err="1">
                <a:solidFill>
                  <a:srgbClr val="33393F"/>
                </a:solidFill>
                <a:latin typeface="맑은 고딕"/>
                <a:ea typeface="맑은 고딕"/>
              </a:rPr>
              <a:t>대조</a:t>
            </a:r>
            <a:endParaRPr sz="1500" b="1" dirty="0">
              <a:solidFill>
                <a:srgbClr val="33393F"/>
              </a:solidFill>
              <a:latin typeface="맑은 고딕"/>
              <a:ea typeface="맑은 고딕"/>
            </a:endParaRP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정부가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이미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정한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기준만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조합해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배분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규칙을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만들면</a:t>
            </a:r>
            <a:endParaRPr sz="1200" b="0" dirty="0">
              <a:solidFill>
                <a:srgbClr val="1C1C1E"/>
              </a:solidFill>
              <a:latin typeface="맑은 고딕"/>
              <a:ea typeface="맑은 고딕"/>
            </a:endParaRP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현행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배분과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lang="ko-KR" altLang="en-US" sz="1200" b="0" dirty="0">
                <a:solidFill>
                  <a:srgbClr val="1C1C1E"/>
                </a:solidFill>
                <a:latin typeface="맑은 고딕"/>
                <a:ea typeface="맑은 고딕"/>
              </a:rPr>
              <a:t>잘 부합하는가</a:t>
            </a:r>
            <a:r>
              <a:rPr lang="en-US" altLang="ko-KR" sz="1200" b="0" dirty="0">
                <a:solidFill>
                  <a:srgbClr val="1C1C1E"/>
                </a:solidFill>
                <a:latin typeface="맑은 고딕"/>
                <a:ea typeface="맑은 고딕"/>
              </a:rPr>
              <a:t>? </a:t>
            </a:r>
            <a:r>
              <a:rPr lang="ko-KR" altLang="en-US" sz="1200" b="0" dirty="0">
                <a:solidFill>
                  <a:srgbClr val="1C1C1E"/>
                </a:solidFill>
                <a:latin typeface="맑은 고딕"/>
                <a:ea typeface="맑은 고딕"/>
              </a:rPr>
              <a:t>꼭 필요한 곳으로 자원이 </a:t>
            </a:r>
            <a:r>
              <a:rPr lang="ko-KR" altLang="en-US"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가고있는가</a:t>
            </a:r>
            <a:r>
              <a:rPr lang="en-US" altLang="ko-KR" sz="1200" b="0" dirty="0">
                <a:solidFill>
                  <a:srgbClr val="1C1C1E"/>
                </a:solidFill>
                <a:latin typeface="맑은 고딕"/>
                <a:ea typeface="맑은 고딕"/>
              </a:rPr>
              <a:t>?</a:t>
            </a:r>
            <a:endParaRPr sz="1200" b="0" dirty="0">
              <a:solidFill>
                <a:srgbClr val="1C1C1E"/>
              </a:solidFill>
              <a:latin typeface="맑은 고딕"/>
              <a:ea typeface="맑은 고딕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502920" y="5440680"/>
            <a:ext cx="11247120" cy="54155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00"/>
              </a:spcAft>
            </a:pPr>
            <a:r>
              <a:rPr sz="1250" b="1" dirty="0">
                <a:solidFill>
                  <a:srgbClr val="1C1C1E"/>
                </a:solidFill>
                <a:latin typeface="맑은 고딕"/>
                <a:ea typeface="맑은 고딕"/>
              </a:rPr>
              <a:t>Q1·2는 </a:t>
            </a:r>
            <a:r>
              <a:rPr sz="1250" b="1" dirty="0" err="1">
                <a:solidFill>
                  <a:srgbClr val="1C1C1E"/>
                </a:solidFill>
                <a:latin typeface="맑은 고딕"/>
                <a:ea typeface="맑은 고딕"/>
              </a:rPr>
              <a:t>지정을</a:t>
            </a:r>
            <a:r>
              <a:rPr sz="1250" b="1" dirty="0">
                <a:solidFill>
                  <a:srgbClr val="1C1C1E"/>
                </a:solidFill>
                <a:latin typeface="맑은 고딕"/>
                <a:ea typeface="맑은 고딕"/>
              </a:rPr>
              <a:t>, Q3·4는 </a:t>
            </a:r>
            <a:r>
              <a:rPr sz="1250" b="1" dirty="0" err="1">
                <a:solidFill>
                  <a:srgbClr val="1C1C1E"/>
                </a:solidFill>
                <a:latin typeface="맑은 고딕"/>
                <a:ea typeface="맑은 고딕"/>
              </a:rPr>
              <a:t>배분을</a:t>
            </a:r>
            <a:r>
              <a:rPr sz="1250" b="1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50" b="1" dirty="0" err="1">
                <a:solidFill>
                  <a:srgbClr val="1C1C1E"/>
                </a:solidFill>
                <a:latin typeface="맑은 고딕"/>
                <a:ea typeface="맑은 고딕"/>
              </a:rPr>
              <a:t>본다</a:t>
            </a:r>
            <a:r>
              <a:rPr sz="1250" b="1" dirty="0">
                <a:solidFill>
                  <a:srgbClr val="1C1C1E"/>
                </a:solidFill>
                <a:latin typeface="맑은 고딕"/>
                <a:ea typeface="맑은 고딕"/>
              </a:rPr>
              <a:t>. 앞</a:t>
            </a:r>
            <a:r>
              <a:rPr lang="ko-KR" altLang="en-US" sz="1250" b="1" dirty="0">
                <a:solidFill>
                  <a:srgbClr val="1C1C1E"/>
                </a:solidFill>
                <a:latin typeface="맑은 고딕"/>
                <a:ea typeface="맑은 고딕"/>
              </a:rPr>
              <a:t>에서</a:t>
            </a:r>
            <a:r>
              <a:rPr sz="1250" b="1" dirty="0">
                <a:solidFill>
                  <a:srgbClr val="1C1C1E"/>
                </a:solidFill>
                <a:latin typeface="맑은 고딕"/>
                <a:ea typeface="맑은 고딕"/>
              </a:rPr>
              <a:t> "</a:t>
            </a:r>
            <a:r>
              <a:rPr sz="1250" b="1" dirty="0" err="1">
                <a:solidFill>
                  <a:srgbClr val="1C1C1E"/>
                </a:solidFill>
                <a:latin typeface="맑은 고딕"/>
                <a:ea typeface="맑은 고딕"/>
              </a:rPr>
              <a:t>규칙이</a:t>
            </a:r>
            <a:r>
              <a:rPr sz="1250" b="1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50" b="1" dirty="0" err="1">
                <a:solidFill>
                  <a:srgbClr val="1C1C1E"/>
                </a:solidFill>
                <a:latin typeface="맑은 고딕"/>
                <a:ea typeface="맑은 고딕"/>
              </a:rPr>
              <a:t>무엇을</a:t>
            </a:r>
            <a:r>
              <a:rPr sz="1250" b="1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50" b="1" dirty="0" err="1">
                <a:solidFill>
                  <a:srgbClr val="1C1C1E"/>
                </a:solidFill>
                <a:latin typeface="맑은 고딕"/>
                <a:ea typeface="맑은 고딕"/>
              </a:rPr>
              <a:t>보는가"를</a:t>
            </a:r>
            <a:r>
              <a:rPr sz="1250" b="1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50" b="1" dirty="0" err="1">
                <a:solidFill>
                  <a:srgbClr val="1C1C1E"/>
                </a:solidFill>
                <a:latin typeface="맑은 고딕"/>
                <a:ea typeface="맑은 고딕"/>
              </a:rPr>
              <a:t>확정해야</a:t>
            </a:r>
            <a:r>
              <a:rPr sz="1250" b="1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50" b="1" dirty="0" err="1">
                <a:solidFill>
                  <a:srgbClr val="1C1C1E"/>
                </a:solidFill>
                <a:latin typeface="맑은 고딕"/>
                <a:ea typeface="맑은 고딕"/>
              </a:rPr>
              <a:t>뒤에서</a:t>
            </a:r>
            <a:r>
              <a:rPr sz="1250" b="1" dirty="0">
                <a:solidFill>
                  <a:srgbClr val="1C1C1E"/>
                </a:solidFill>
                <a:latin typeface="맑은 고딕"/>
                <a:ea typeface="맑은 고딕"/>
              </a:rPr>
              <a:t> "그 </a:t>
            </a:r>
            <a:r>
              <a:rPr sz="1250" b="1" dirty="0" err="1">
                <a:solidFill>
                  <a:srgbClr val="1C1C1E"/>
                </a:solidFill>
                <a:latin typeface="맑은 고딕"/>
                <a:ea typeface="맑은 고딕"/>
              </a:rPr>
              <a:t>규칙대로</a:t>
            </a:r>
            <a:r>
              <a:rPr sz="1250" b="1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50" b="1" dirty="0" err="1">
                <a:solidFill>
                  <a:srgbClr val="1C1C1E"/>
                </a:solidFill>
                <a:latin typeface="맑은 고딕"/>
                <a:ea typeface="맑은 고딕"/>
              </a:rPr>
              <a:t>나눠지고</a:t>
            </a:r>
            <a:r>
              <a:rPr sz="1250" b="1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50" b="1" dirty="0" err="1">
                <a:solidFill>
                  <a:srgbClr val="1C1C1E"/>
                </a:solidFill>
                <a:latin typeface="맑은 고딕"/>
                <a:ea typeface="맑은 고딕"/>
              </a:rPr>
              <a:t>있는가"를</a:t>
            </a:r>
            <a:r>
              <a:rPr sz="1250" b="1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50" b="1" dirty="0" err="1">
                <a:solidFill>
                  <a:srgbClr val="1C1C1E"/>
                </a:solidFill>
                <a:latin typeface="맑은 고딕"/>
                <a:ea typeface="맑은 고딕"/>
              </a:rPr>
              <a:t>물을</a:t>
            </a:r>
            <a:r>
              <a:rPr sz="1250" b="1" dirty="0">
                <a:solidFill>
                  <a:srgbClr val="1C1C1E"/>
                </a:solidFill>
                <a:latin typeface="맑은 고딕"/>
                <a:ea typeface="맑은 고딕"/>
              </a:rPr>
              <a:t> 수 </a:t>
            </a:r>
            <a:r>
              <a:rPr sz="1250" b="1" dirty="0" err="1">
                <a:solidFill>
                  <a:srgbClr val="1C1C1E"/>
                </a:solidFill>
                <a:latin typeface="맑은 고딕"/>
                <a:ea typeface="맑은 고딕"/>
              </a:rPr>
              <a:t>있다</a:t>
            </a:r>
            <a:r>
              <a:rPr sz="1250" b="1" dirty="0">
                <a:solidFill>
                  <a:srgbClr val="1C1C1E"/>
                </a:solidFill>
                <a:latin typeface="맑은 고딕"/>
                <a:ea typeface="맑은 고딕"/>
              </a:rPr>
              <a:t>.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200" b="0" dirty="0" err="1">
                <a:solidFill>
                  <a:srgbClr val="767A7F"/>
                </a:solidFill>
                <a:latin typeface="맑은 고딕"/>
                <a:ea typeface="맑은 고딕"/>
              </a:rPr>
              <a:t>무엇을</a:t>
            </a:r>
            <a:r>
              <a:rPr sz="1200" b="0" dirty="0">
                <a:solidFill>
                  <a:srgbClr val="767A7F"/>
                </a:solidFill>
                <a:latin typeface="맑은 고딕"/>
                <a:ea typeface="맑은 고딕"/>
              </a:rPr>
              <a:t> "</a:t>
            </a:r>
            <a:r>
              <a:rPr sz="1200" b="0" dirty="0" err="1">
                <a:solidFill>
                  <a:srgbClr val="767A7F"/>
                </a:solidFill>
                <a:latin typeface="맑은 고딕"/>
                <a:ea typeface="맑은 고딕"/>
              </a:rPr>
              <a:t>재현</a:t>
            </a:r>
            <a:r>
              <a:rPr sz="1200" b="0" dirty="0">
                <a:solidFill>
                  <a:srgbClr val="767A7F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767A7F"/>
                </a:solidFill>
                <a:latin typeface="맑은 고딕"/>
                <a:ea typeface="맑은 고딕"/>
              </a:rPr>
              <a:t>성공"으로</a:t>
            </a:r>
            <a:r>
              <a:rPr sz="1200" b="0" dirty="0">
                <a:solidFill>
                  <a:srgbClr val="767A7F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767A7F"/>
                </a:solidFill>
                <a:latin typeface="맑은 고딕"/>
                <a:ea typeface="맑은 고딕"/>
              </a:rPr>
              <a:t>볼지</a:t>
            </a:r>
            <a:r>
              <a:rPr sz="1200" b="0" dirty="0">
                <a:solidFill>
                  <a:srgbClr val="767A7F"/>
                </a:solidFill>
                <a:latin typeface="맑은 고딕"/>
                <a:ea typeface="맑은 고딕"/>
              </a:rPr>
              <a:t>, </a:t>
            </a:r>
            <a:r>
              <a:rPr sz="1200" b="0" dirty="0" err="1">
                <a:solidFill>
                  <a:srgbClr val="767A7F"/>
                </a:solidFill>
                <a:latin typeface="맑은 고딕"/>
                <a:ea typeface="맑은 고딕"/>
              </a:rPr>
              <a:t>무엇을</a:t>
            </a:r>
            <a:r>
              <a:rPr sz="1200" b="0" dirty="0">
                <a:solidFill>
                  <a:srgbClr val="767A7F"/>
                </a:solidFill>
                <a:latin typeface="맑은 고딕"/>
                <a:ea typeface="맑은 고딕"/>
              </a:rPr>
              <a:t> "</a:t>
            </a:r>
            <a:r>
              <a:rPr sz="1200" b="0" dirty="0" err="1">
                <a:solidFill>
                  <a:srgbClr val="767A7F"/>
                </a:solidFill>
                <a:latin typeface="맑은 고딕"/>
                <a:ea typeface="맑은 고딕"/>
              </a:rPr>
              <a:t>사각지대"로</a:t>
            </a:r>
            <a:r>
              <a:rPr sz="1200" b="0" dirty="0">
                <a:solidFill>
                  <a:srgbClr val="767A7F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767A7F"/>
                </a:solidFill>
                <a:latin typeface="맑은 고딕"/>
                <a:ea typeface="맑은 고딕"/>
              </a:rPr>
              <a:t>볼지는</a:t>
            </a:r>
            <a:r>
              <a:rPr sz="1200" b="0" dirty="0">
                <a:solidFill>
                  <a:srgbClr val="767A7F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767A7F"/>
                </a:solidFill>
                <a:latin typeface="맑은 고딕"/>
                <a:ea typeface="맑은 고딕"/>
              </a:rPr>
              <a:t>분석을</a:t>
            </a:r>
            <a:r>
              <a:rPr sz="1200" b="0" dirty="0">
                <a:solidFill>
                  <a:srgbClr val="767A7F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767A7F"/>
                </a:solidFill>
                <a:latin typeface="맑은 고딕"/>
                <a:ea typeface="맑은 고딕"/>
              </a:rPr>
              <a:t>시작하기</a:t>
            </a:r>
            <a:r>
              <a:rPr sz="1200" b="0" dirty="0">
                <a:solidFill>
                  <a:srgbClr val="767A7F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767A7F"/>
                </a:solidFill>
                <a:latin typeface="맑은 고딕"/>
                <a:ea typeface="맑은 고딕"/>
              </a:rPr>
              <a:t>전에</a:t>
            </a:r>
            <a:r>
              <a:rPr sz="1200" b="0" dirty="0">
                <a:solidFill>
                  <a:srgbClr val="767A7F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767A7F"/>
                </a:solidFill>
                <a:latin typeface="맑은 고딕"/>
                <a:ea typeface="맑은 고딕"/>
              </a:rPr>
              <a:t>정해</a:t>
            </a:r>
            <a:r>
              <a:rPr sz="1200" b="0" dirty="0">
                <a:solidFill>
                  <a:srgbClr val="767A7F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767A7F"/>
                </a:solidFill>
                <a:latin typeface="맑은 고딕"/>
                <a:ea typeface="맑은 고딕"/>
              </a:rPr>
              <a:t>둔다</a:t>
            </a:r>
            <a:r>
              <a:rPr sz="1200" b="0" dirty="0">
                <a:solidFill>
                  <a:srgbClr val="767A7F"/>
                </a:solidFill>
                <a:latin typeface="맑은 고딕"/>
                <a:ea typeface="맑은 고딕"/>
              </a:rPr>
              <a:t> — </a:t>
            </a:r>
            <a:r>
              <a:rPr sz="1200" b="0" dirty="0" err="1">
                <a:solidFill>
                  <a:srgbClr val="767A7F"/>
                </a:solidFill>
                <a:latin typeface="맑은 고딕"/>
                <a:ea typeface="맑은 고딕"/>
              </a:rPr>
              <a:t>결과를</a:t>
            </a:r>
            <a:r>
              <a:rPr sz="1200" b="0" dirty="0">
                <a:solidFill>
                  <a:srgbClr val="767A7F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767A7F"/>
                </a:solidFill>
                <a:latin typeface="맑은 고딕"/>
                <a:ea typeface="맑은 고딕"/>
              </a:rPr>
              <a:t>보고</a:t>
            </a:r>
            <a:r>
              <a:rPr sz="1200" b="0" dirty="0">
                <a:solidFill>
                  <a:srgbClr val="767A7F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767A7F"/>
                </a:solidFill>
                <a:latin typeface="맑은 고딕"/>
                <a:ea typeface="맑은 고딕"/>
              </a:rPr>
              <a:t>기준을</a:t>
            </a:r>
            <a:r>
              <a:rPr sz="1200" b="0" dirty="0">
                <a:solidFill>
                  <a:srgbClr val="767A7F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767A7F"/>
                </a:solidFill>
                <a:latin typeface="맑은 고딕"/>
                <a:ea typeface="맑은 고딕"/>
              </a:rPr>
              <a:t>맞추지</a:t>
            </a:r>
            <a:r>
              <a:rPr sz="1200" b="0" dirty="0">
                <a:solidFill>
                  <a:srgbClr val="767A7F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767A7F"/>
                </a:solidFill>
                <a:latin typeface="맑은 고딕"/>
                <a:ea typeface="맑은 고딕"/>
              </a:rPr>
              <a:t>않기</a:t>
            </a:r>
            <a:r>
              <a:rPr sz="1200" b="0" dirty="0">
                <a:solidFill>
                  <a:srgbClr val="767A7F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767A7F"/>
                </a:solidFill>
                <a:latin typeface="맑은 고딕"/>
                <a:ea typeface="맑은 고딕"/>
              </a:rPr>
              <a:t>위해서다</a:t>
            </a:r>
            <a:r>
              <a:rPr sz="1200" b="0" dirty="0">
                <a:solidFill>
                  <a:srgbClr val="767A7F"/>
                </a:solidFill>
                <a:latin typeface="맑은 고딕"/>
                <a:ea typeface="맑은 고딕"/>
              </a:rPr>
              <a:t>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606475" y="579043"/>
            <a:ext cx="103784" cy="103784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ang="18900000" scaled="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이론적 고찰 — 접근성의 두 축과 이 프로젝트의 차별점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계획서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371600"/>
            <a:ext cx="5532120" cy="2286000"/>
          </a:xfrm>
          <a:prstGeom prst="roundRect">
            <a:avLst>
              <a:gd name="adj" fmla="val 3599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85800" y="1499616"/>
            <a:ext cx="5166359" cy="202996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보건지리학의 표준 관점 (2SFCA 계열)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의료 접근성 = 공간 축 × 비공간 축의 결합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공간 축: 거리·이동시간 (얼마나 멀리 있는가)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비공간 축: 공급·수용력 (그곳에 의사가 있는가)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→ 가설: 현행 판정식은 공간 축만 계측할 것이다 — 데이터로 검증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371600"/>
            <a:ext cx="5532120" cy="2286000"/>
          </a:xfrm>
          <a:prstGeom prst="roundRect">
            <a:avLst>
              <a:gd name="adj" fmla="val 3599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46520" y="1499616"/>
            <a:ext cx="5166359" cy="202996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분석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단위에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대한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원칙</a:t>
            </a:r>
            <a:endParaRPr sz="1300" b="1" dirty="0">
              <a:solidFill>
                <a:srgbClr val="33393F"/>
              </a:solidFill>
              <a:latin typeface="맑은 고딕"/>
              <a:ea typeface="맑은 고딕"/>
            </a:endParaRP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•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분석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단위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: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전국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시·군·구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250곳 (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표본이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아닌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전수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•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목적이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미지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표본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예측이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아니라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이미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내려진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판정·배분의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규칙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규명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(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감사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)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이므로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일반화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표집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논리와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구분해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설계</a:t>
            </a:r>
            <a:endParaRPr sz="1150" b="0" dirty="0">
              <a:solidFill>
                <a:srgbClr val="1C1C1E"/>
              </a:solidFill>
              <a:latin typeface="맑은 고딕"/>
              <a:ea typeface="맑은 고딕"/>
            </a:endParaRP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•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지역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단위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결론을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개인에게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적용하지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않는다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(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생태학적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오류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경계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388620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400" b="1">
                <a:solidFill>
                  <a:srgbClr val="33393F"/>
                </a:solidFill>
                <a:latin typeface="맑은 고딕"/>
                <a:ea typeface="맑은 고딕"/>
              </a:rPr>
              <a:t>선행 논의 대비 차별점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502920" y="4297680"/>
          <a:ext cx="11292840" cy="190195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754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537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기존 접근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이 프로젝트의 계획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"취약지가 어디인가"를 찾는 현상 분석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"판정·배분 기준이 무엇을 놓치는가" — 제도 자체의 감사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추상적 정책 제언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정부 임계값만으로 구성한 재지정·우선순위 시뮬레이션과 표 산출물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성공한 분석만 보고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기각된 설계(군집 등)와 민감도까지 투명하게 공개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606475" y="579043"/>
            <a:ext cx="103784" cy="103784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ang="18900000" scaled="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분석 대상 제도 — 판정 지표, 등급, 배분 관문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07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계획서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32588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400" b="1">
                <a:solidFill>
                  <a:srgbClr val="33393F"/>
                </a:solidFill>
                <a:latin typeface="맑은 고딕"/>
                <a:ea typeface="맑은 고딕"/>
              </a:rPr>
              <a:t>판정 지표 2개 (사전 조사 결과)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02920" y="1709928"/>
          <a:ext cx="11292840" cy="13716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834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675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지표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정의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성격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접근성취약인구비율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60분 내 분만가능기관에 도달 불가능한 가임인구 비율 (GIS 계산)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이론값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기준시간내 의료이용률(TRI)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실제 분만 중 이동시간 60분 내 기관 이용 비율 (건보 청구 기반)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행태 실측값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02920" y="329184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400" b="1">
                <a:solidFill>
                  <a:srgbClr val="33393F"/>
                </a:solidFill>
                <a:latin typeface="맑은 고딕"/>
                <a:ea typeface="맑은 고딕"/>
              </a:rPr>
              <a:t>등급 체계와 배분 절차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3703320"/>
            <a:ext cx="5532120" cy="1920240"/>
          </a:xfrm>
          <a:prstGeom prst="roundRect">
            <a:avLst>
              <a:gd name="adj" fmla="val 4285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85800" y="3831335"/>
            <a:ext cx="5166359" cy="16642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A·B·C 등급 (공고 제2026-144호, 108곳)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A: 두 지표 모두 취약 (32곳) / B: 하나만 취약 (21곳)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C: 배경인구 미달 또는 분만 지원 기수령 (55곳)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C는 취약도 서열이 아니라 자격표 성격 — "지원받으면 C가 되는" 정의 구조를 분석 설계에 반영해야 함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3703320"/>
            <a:ext cx="5532120" cy="1920240"/>
          </a:xfrm>
          <a:prstGeom prst="roundRect">
            <a:avLst>
              <a:gd name="adj" fmla="val 4285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46520" y="3831335"/>
            <a:ext cx="5166359" cy="16642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배분의 4단계 관문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병원 신청 → 시·군 1곳 선정 → 시·도 선별 → 복지부 심사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심사 100점 = 정량 20 + 정성 80, 취약도 항목 0점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병원이 신청하지 않으면 등급이 있어도 지원 없음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→ "올해 누구 차례인가"를 정하는 규칙의 부재가 쟁점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585216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150" b="0">
                <a:solidFill>
                  <a:srgbClr val="767A7F"/>
                </a:solidFill>
                <a:latin typeface="맑은 고딕"/>
                <a:ea typeface="맑은 고딕"/>
              </a:rPr>
              <a:t>이 제도 사실들은 모두 공개 문서(고시·공고·지침)에서 확인했으며, 분석의 판단 기준으로만 사용한다.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606475" y="579043"/>
            <a:ext cx="103784" cy="103784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ang="18900000" scaled="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데이터 수집 계획 — 전량 공개 자료, 승인 불요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08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계획서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02920" y="1371600"/>
          <a:ext cx="11292840" cy="22677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5661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7091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0175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원천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내용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확보 방법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헬스맵 공공보건의료 데이터셋 9종 (국립중앙의료원, 2023)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판정지표·인구·분만건수·기관정보·환자 유출입 약 226만 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공공데이터포털 15154171 (로그인·승인 불요)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복지부 공고 제2026-144호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분만취약지 108곳 등급표 + 기지원 표시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PDF 표를 직접 전사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분만취약지 지원사업 안내 (343쪽)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판정 임계값·선정 절차·배점표·사업 유형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정부 공개 지침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02920" y="388620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400" b="1">
                <a:solidFill>
                  <a:srgbClr val="33393F"/>
                </a:solidFill>
                <a:latin typeface="맑은 고딕"/>
                <a:ea typeface="맑은 고딕"/>
              </a:rPr>
              <a:t>직접 구축할 파생 데이터 3종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4297680"/>
            <a:ext cx="3611880" cy="1417320"/>
          </a:xfrm>
          <a:prstGeom prst="roundRect">
            <a:avLst>
              <a:gd name="adj" fmla="val 580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85800" y="4425696"/>
            <a:ext cx="3246120" cy="11612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D1 · 등급-지원 데이터셋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PDF 공고 표를 전사하고 합계 검증 코드(assert)로 전사 오류를 자동 차단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43400" y="4297680"/>
            <a:ext cx="3611880" cy="1417320"/>
          </a:xfrm>
          <a:prstGeom prst="roundRect">
            <a:avLst>
              <a:gd name="adj" fmla="val 580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26280" y="4425696"/>
            <a:ext cx="3246120" cy="11612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D2 · 관내 분만 수행량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유출입 자료를 기관 소재지 기준으로 합산해 "그 지역 병원이 받은 분만"을 추정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83880" y="4297680"/>
            <a:ext cx="3611880" cy="1417320"/>
          </a:xfrm>
          <a:prstGeom prst="roundRect">
            <a:avLst>
              <a:gd name="adj" fmla="val 580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366760" y="4425696"/>
            <a:ext cx="3246120" cy="11612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D3 · 미충족 분만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분만건수 × (1−TRI/100): 기준시간 밖에서 이뤄진 출산 규모(부담 축 지표)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5943600"/>
            <a:ext cx="112471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200" b="1">
                <a:solidFill>
                  <a:srgbClr val="1C1C1E"/>
                </a:solidFill>
                <a:latin typeface="맑은 고딕"/>
                <a:ea typeface="맑은 고딕"/>
              </a:rPr>
              <a:t>원칙: 로그인이 필요하거나 재현 불가능한 자료는 쓰지 않는다 — 누구나 같은 결과를 재현할 수 있어야 한다.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606475" y="579043"/>
            <a:ext cx="103784" cy="103784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ang="18900000" scaled="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전처리·품질 관리 계획 — 예상 함정과 대응 설계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계획서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02920" y="1371600"/>
          <a:ext cx="11292840" cy="285292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029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263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예상 함정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대응 계획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유출입 자료의 방향(출발/도착) 정의가 문서에 없음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행·열 합계와 "병원 없는 지역" 교차 대조로 방향을 확정한 뒤 사용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수요(주민이 낳은 수)와 공급(병원이 받은 수)의 혼동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두 개념을 변수명부터 분리하고, 파생 지표 정의를 문서화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동명 시군구(강원/경남 고성군 등)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(시도, 시군구) 복합키를 전 구간에 강제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행정구역 변동(군위군 대구 편입 등)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기준 시점을 정해 정규화하고 변동 이력을 기록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결측·전면 누락 지표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전 지표 결측 감사 후 배제 목록과 사유를 보고서에 남김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02920" y="4480560"/>
            <a:ext cx="11292840" cy="1600200"/>
          </a:xfrm>
          <a:prstGeom prst="roundRect">
            <a:avLst>
              <a:gd name="adj" fmla="val 5142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85800" y="4608576"/>
            <a:ext cx="10927080" cy="1344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품질 게이트 (통과해야 분석 단계로 진행)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보고서의 모든 수치는 스크립트 재실행으로 재현되어야 한다 (수기 계산 금지)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직접 구축 지표(D2 등)는 공식 통계와 상관·오차를 대조하는 이중 검증을 통과해야 한다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전사 데이터(D1)는 공고의 등급별 합계와 자동 대조(assert)한다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606475" y="579043"/>
            <a:ext cx="103784" cy="103784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ang="18900000" scaled="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분석 설계 ① 지정 감사 (Q1·Q2)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097280"/>
            <a:ext cx="111556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250" b="0">
                <a:solidFill>
                  <a:srgbClr val="767A7F"/>
                </a:solidFill>
                <a:latin typeface="맑은 고딕"/>
                <a:ea typeface="맑은 고딕"/>
              </a:rPr>
              <a:t>공표된 규칙을 그대로 재계산해 실제와 대조한다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계획서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737360"/>
            <a:ext cx="3611880" cy="2651760"/>
          </a:xfrm>
          <a:prstGeom prst="roundRect">
            <a:avLst>
              <a:gd name="adj" fmla="val 3103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85800" y="1865376"/>
            <a:ext cx="3246120" cy="23957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50" b="1">
                <a:solidFill>
                  <a:srgbClr val="33393F"/>
                </a:solidFill>
                <a:latin typeface="맑은 고딕"/>
                <a:ea typeface="맑은 고딕"/>
              </a:rPr>
              <a:t>1단계 · 판정식 검증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공표 임계값(접근성·TRI 30/30 등)으로 전 지역을 재판정하고 실제 지정 결과와 대조한다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일치율과 불일치 사례를 모두 보고한다 — 불일치는 오류가 아니라 행정 층의 증거로 해석할 계획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43400" y="1737360"/>
            <a:ext cx="3611880" cy="2651760"/>
          </a:xfrm>
          <a:prstGeom prst="roundRect">
            <a:avLst>
              <a:gd name="adj" fmla="val 3103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26280" y="1865376"/>
            <a:ext cx="3246120" cy="23957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50" b="1">
                <a:solidFill>
                  <a:srgbClr val="33393F"/>
                </a:solidFill>
                <a:latin typeface="맑은 고딕"/>
                <a:ea typeface="맑은 고딕"/>
              </a:rPr>
              <a:t>2단계 · 공급 반영 검정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로지스틱 회귀(5-겹 교차검증)로 판정을 예측하고, 공급 변수(전문의 수 등)를 추가했을 때 판별력(AUC)이 개선되는지 본다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개선이 없다면 판정이 공급을 보지 않는다는 증거다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83880" y="1737360"/>
            <a:ext cx="3611880" cy="2651760"/>
          </a:xfrm>
          <a:prstGeom prst="roundRect">
            <a:avLst>
              <a:gd name="adj" fmla="val 3103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366760" y="1865376"/>
            <a:ext cx="3246120" cy="23957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50" b="1">
                <a:solidFill>
                  <a:srgbClr val="33393F"/>
                </a:solidFill>
                <a:latin typeface="맑은 고딕"/>
                <a:ea typeface="맑은 고딕"/>
              </a:rPr>
              <a:t>3단계 · 사각지대 탐지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"거리 기준 통과 ∧ 관내 공급 공백 ∧ 관내 이용 0"의 3중 기준을 사전 정의하고 해당 지역을 탐지한다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중증 이송 반론은 동급 병원 유출 분리로, 선호 원정 반론은 관내 선택지 유무로 통제한다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4663440"/>
            <a:ext cx="11292840" cy="1417320"/>
          </a:xfrm>
          <a:prstGeom prst="roundRect">
            <a:avLst>
              <a:gd name="adj" fmla="val 580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85800" y="4791455"/>
            <a:ext cx="10927080" cy="11612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판단 기준의 사전 명시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무엇을 "재현 성공"으로, 무엇을 "사각지대"로 볼지의 기준을 분석 전에 확정해 보고서에 명시한다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반대 해석(예: "옆 도시로 가면 되지 않는가")을 본문에서 정면으로 다루는 섹션을 계획에 포함한다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606475" y="579043"/>
            <a:ext cx="103784" cy="103784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ang="18900000" scaled="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분석 설계 ② 배분 진단 (Q3)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097280"/>
            <a:ext cx="111556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250" b="0">
                <a:solidFill>
                  <a:srgbClr val="767A7F"/>
                </a:solidFill>
                <a:latin typeface="맑은 고딕"/>
                <a:ea typeface="맑은 고딕"/>
              </a:rPr>
              <a:t>작은 표본의 관행을 지키는 검정 사다리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계획서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737360"/>
            <a:ext cx="11292840" cy="1188720"/>
          </a:xfrm>
          <a:prstGeom prst="roundRect">
            <a:avLst>
              <a:gd name="adj" fmla="val 6923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85800" y="1865376"/>
            <a:ext cx="10927080" cy="9326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설계 원칙 — C등급 제외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C의 정의에 "지원 기수령"이 포함되어, 지원받으면 C가 되는 순환 구조가 있다 — 종속변수가 집단 정의에 새어드는 셈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이 누출을 막기 위해 실질 취약지 A·B만으로 배분을 분석한다 (제외 논리 자체를 보고서에 기록)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3154680"/>
            <a:ext cx="2286000" cy="685800"/>
          </a:xfrm>
          <a:prstGeom prst="roundRect">
            <a:avLst>
              <a:gd name="adj" fmla="val 12000"/>
            </a:avLst>
          </a:prstGeom>
          <a:gradFill rotWithShape="1">
            <a:gsLst>
              <a:gs pos="0">
                <a:srgbClr val="2A2E33"/>
              </a:gs>
              <a:gs pos="100000">
                <a:srgbClr val="4A4F55"/>
              </a:gs>
            </a:gsLst>
            <a:lin ang="14700000" scaled="0"/>
          </a:gradFill>
          <a:ln>
            <a:noFill/>
          </a:ln>
          <a:effectLst>
            <a:outerShdw blurRad="182880" dist="64008" dir="5400000" rotWithShape="0">
              <a:srgbClr val="00000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0080" y="3227832"/>
            <a:ext cx="21031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</a:rPr>
              <a:t>①  분할표 검정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926080" y="3154680"/>
            <a:ext cx="8869680" cy="6858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108960" y="3227832"/>
            <a:ext cx="8549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A·B 등급과 지원 여부의 연관을 Fisher 정확검정으로 확인 (작은 표에 적합)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4023360"/>
            <a:ext cx="2286000" cy="685800"/>
          </a:xfrm>
          <a:prstGeom prst="roundRect">
            <a:avLst>
              <a:gd name="adj" fmla="val 12000"/>
            </a:avLst>
          </a:prstGeom>
          <a:gradFill rotWithShape="1">
            <a:gsLst>
              <a:gs pos="0">
                <a:srgbClr val="2A2E33"/>
              </a:gs>
              <a:gs pos="100000">
                <a:srgbClr val="4A4F55"/>
              </a:gs>
            </a:gsLst>
            <a:lin ang="14700000" scaled="0"/>
          </a:gradFill>
          <a:ln>
            <a:noFill/>
          </a:ln>
          <a:effectLst>
            <a:outerShdw blurRad="182880" dist="64008" dir="5400000" rotWithShape="0">
              <a:srgbClr val="00000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0080" y="4096512"/>
            <a:ext cx="21031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</a:rPr>
              <a:t>②  변수별 비교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926080" y="4023360"/>
            <a:ext cx="8869680" cy="6858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3108960" y="4096512"/>
            <a:ext cx="8549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지원/미지원 집단의 지표 차이를 Mann-Whitney U로 검정하고, 다중비교는 BH 보정으로 통제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4892040"/>
            <a:ext cx="2286000" cy="685800"/>
          </a:xfrm>
          <a:prstGeom prst="roundRect">
            <a:avLst>
              <a:gd name="adj" fmla="val 12000"/>
            </a:avLst>
          </a:prstGeom>
          <a:gradFill rotWithShape="1">
            <a:gsLst>
              <a:gs pos="0">
                <a:srgbClr val="2A2E33"/>
              </a:gs>
              <a:gs pos="100000">
                <a:srgbClr val="4A4F55"/>
              </a:gs>
            </a:gsLst>
            <a:lin ang="14700000" scaled="0"/>
          </a:gradFill>
          <a:ln>
            <a:noFill/>
          </a:ln>
          <a:effectLst>
            <a:outerShdw blurRad="182880" dist="64008" dir="5400000" rotWithShape="0">
              <a:srgbClr val="00000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40080" y="4965192"/>
            <a:ext cx="21031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</a:rPr>
              <a:t>③  다변량 모형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926080" y="4892040"/>
            <a:ext cx="8869680" cy="6858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3108960" y="4965192"/>
            <a:ext cx="8549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사건 수 대비 변수 수 관행(EPV)을 지켜 소수 변수 로지스틱 + 우도비검정 + 부트스트랩 부호 일관성으로 판단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589788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767A7F"/>
                </a:solidFill>
                <a:latin typeface="맑은 고딕"/>
                <a:ea typeface="맑은 고딕"/>
              </a:rPr>
              <a:t>보고 원칙: "유의하지 않음"을 "효과 없음"으로 쓰지 않는다 — 표본이 작아 식별 불가일 수 있음을 명시하고,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150" b="0">
                <a:solidFill>
                  <a:srgbClr val="767A7F"/>
                </a:solidFill>
                <a:latin typeface="맑은 고딕"/>
                <a:ea typeface="맑은 고딕"/>
              </a:rPr>
              <a:t>개별 p값보다 방향의 안정성(부트스트랩)과 모형 설명력을 함께 제시한다.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606475" y="579043"/>
            <a:ext cx="103784" cy="103784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ang="18900000" scaled="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분석 설계 ③ 처방 — 우선순위·유형 배정 모형 (Q4)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097280"/>
            <a:ext cx="111556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250" b="0">
                <a:solidFill>
                  <a:srgbClr val="767A7F"/>
                </a:solidFill>
                <a:latin typeface="맑은 고딕"/>
                <a:ea typeface="맑은 고딕"/>
              </a:rPr>
              <a:t>새 기준을 만들지 않는다: 정부 문서의 임계값만 조합한다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계획서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737360"/>
            <a:ext cx="5532120" cy="2057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85800" y="1865376"/>
            <a:ext cx="5166359" cy="1801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우선순위 — 두 관점을 병렬 제시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심도 축: 취약이 가장 깊은 곳 먼저 — 객관 가중(엔트로피·CRITIC) + TOPSIS 종합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부담 축: 영향 인원이 큰 곳 먼저 — 미충족 분만 규모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두 축을 평균해 합성하지 않는다 — 가치 선택을 가리는 대신 병렬로 드러내는 것이 목적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1737360"/>
            <a:ext cx="5532120" cy="2057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46520" y="1865376"/>
            <a:ext cx="5166359" cy="1801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유형 배정 — 규칙 기반 (머신러닝 아님)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관내 수행·인구·수요·접근성의 정부 임계값만으로 설치/운영지원/외래/순회 4유형을 규칙 배정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학습이 없어 과적합·라벨 누수 논쟁에서 자유롭고, 모든 판정이 문서의 숫자로 소급 가능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4023360"/>
            <a:ext cx="11292840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85800" y="4151376"/>
            <a:ext cx="10927080" cy="1709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검증 계획 — 모형을 스스로 공격한다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외부 검증: 공고의 순회진료 대상 목록과 본 규칙의 판정을 교차 대조한다 (일치·불일치 모두 보고)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민감도 분석: 차용한 임계값을 변화시켜 결과가 얼마나 흔들리는지 공개한다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강건성 분석: 가중법을 바꿔(엔트로피/CRITIC/동일 가중) 순위가 유지되는지 확인한다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실패한 설계(예: 군집분석이 부적합하면 기각 사유)도 은폐하지 않고 보고서에 남긴다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606475" y="579043"/>
            <a:ext cx="103784" cy="103784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ang="18900000" scaled="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기대 산출물과 활용 계획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계획서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371600"/>
            <a:ext cx="3611880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85800" y="1499616"/>
            <a:ext cx="3246120" cy="1709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보고서·시각화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통합 결과보고서 (지정 감사 + 배분 진단·처방)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그림: 심도-부담 산점도, 등급별 지원율, 유형 배정 교차표, 전국 불일치 지도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1371600"/>
            <a:ext cx="3611880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526280" y="1499616"/>
            <a:ext cx="3246120" cy="1709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표 산출물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전국 우선순위표 (지역×순위×권고유형×근거)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시·도별 우선순위표 — 배분 심사가 시·도 단위이므로 실무에 바로 쓰이는 형태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83880" y="1371600"/>
            <a:ext cx="3611880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366760" y="1499616"/>
            <a:ext cx="3246120" cy="1709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정책 제언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지정: 공급 공백형 트랙 / 지표: 관내·관외 병기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배분: 부담 축 병기, 표준 우선순위표 제공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— 모두 예산 증액 없이 가능한 방향으로 설계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361188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400" b="1">
                <a:solidFill>
                  <a:srgbClr val="33393F"/>
                </a:solidFill>
                <a:latin typeface="맑은 고딕"/>
                <a:ea typeface="맑은 고딕"/>
              </a:rPr>
              <a:t>평가 기준 대응 계획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502920" y="4023360"/>
          <a:ext cx="11292840" cy="2286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291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001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평가 항목 (배점)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본 계획의 대응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계획 수립·이론적 고찰 (30)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제도 파이프라인 문제화, Q 4개, 접근성 2축 이론, 사전 명시된 판단 기준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수집·전처리·EDA (30)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공개 데이터 226만 행 + 정부 문서, 파생 3종 구축, 함정 대응·품질 게이트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데이터 분석 (20)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검증-진단-처방의 3단 설계, 작은 표본 관행 준수, 민감도·강건성·외부 검증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창의성·완성도 (20)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제도 전 과정 감사 프레임, 두 관점 병렬 제시, 실패 설계 공개, 전 수치 재현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606475" y="579043"/>
            <a:ext cx="103784" cy="103784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ang="18900000" scaled="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추진 일정과 역할 분담 (2인)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계획서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02920" y="1371600"/>
          <a:ext cx="11292840" cy="332841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920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812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기간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할 일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산출물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7월 하순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주제 탐색·후보 검증, 데이터 실물 확인(확보 가능성 전수 점검)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주제 확정 기록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8월 1주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데이터 수집·전처리, 파생 데이터 구축과 이중 검증, EDA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정제 데이터·EDA 노트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8월 2주 전반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지정 감사(판정식 검증·사각지대) + 배분 진단(검정 사다리)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분석 스크립트·로그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8월 2주 후반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처방 모형(우선순위·유형 배정)과 검증, 통합 결과보고서·그림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결과보고서·그림·표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8/11 ~ 8/13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계획서·결과보고서 PPT, 시연 영상(5분), 소스·데이터 패키징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제출물 일체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8/14 (금)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최종 점검 후 17:00 전 USB 방문 제출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02920" y="4892040"/>
            <a:ext cx="553212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85800" y="5020055"/>
            <a:ext cx="5166359" cy="11155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대표자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지정 감사 설계·수행, 지도 시각화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통합 보고서 작성, 계획서·결과 PPT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4892040"/>
            <a:ext cx="553212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46520" y="5020055"/>
            <a:ext cx="5166359" cy="11155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팀원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배분 진단·처방 모형 설계·수행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그림 제작, 분석 재현성 검증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59</TotalTime>
  <Words>2662</Words>
  <Application>Microsoft Office PowerPoint</Application>
  <PresentationFormat>와이드스크린</PresentationFormat>
  <Paragraphs>275</Paragraphs>
  <Slides>14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14</vt:i4>
      </vt:variant>
    </vt:vector>
  </HeadingPairs>
  <TitlesOfParts>
    <vt:vector size="18" baseType="lpstr">
      <vt:lpstr>맑은 고딕</vt:lpstr>
      <vt:lpstr>Arial</vt:lpstr>
      <vt:lpstr>Calibri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유형준</cp:lastModifiedBy>
  <cp:revision>18</cp:revision>
  <dcterms:created xsi:type="dcterms:W3CDTF">2013-01-27T09:14:16Z</dcterms:created>
  <dcterms:modified xsi:type="dcterms:W3CDTF">2026-08-12T14:08:08Z</dcterms:modified>
  <cp:category/>
</cp:coreProperties>
</file>