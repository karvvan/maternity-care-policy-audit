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2926080"/>
            <a:ext cx="7315200" cy="7315200"/>
          </a:xfrm>
          <a:prstGeom prst="rect">
            <a:avLst/>
          </a:prstGeom>
        </p:spPr>
      </p:pic>
      <p:pic>
        <p:nvPicPr>
          <p:cNvPr id="4" name="Picture 3" descr="blob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08960" y="2377440"/>
            <a:ext cx="7863840" cy="7863840"/>
          </a:xfrm>
          <a:prstGeom prst="rect">
            <a:avLst/>
          </a:prstGeom>
        </p:spPr>
      </p:pic>
      <p:pic>
        <p:nvPicPr>
          <p:cNvPr id="5" name="Picture 4" descr="blob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5120640"/>
            <a:ext cx="4206240" cy="4206240"/>
          </a:xfrm>
          <a:prstGeom prst="rect">
            <a:avLst/>
          </a:prstGeom>
        </p:spPr>
      </p:pic>
      <p:pic>
        <p:nvPicPr>
          <p:cNvPr id="6" name="Picture 5" descr="korea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777240"/>
            <a:ext cx="3383280" cy="4687928"/>
          </a:xfrm>
          <a:prstGeom prst="rect">
            <a:avLst/>
          </a:prstGeom>
        </p:spPr>
      </p:pic>
      <p:pic>
        <p:nvPicPr>
          <p:cNvPr id="7" name="Picture 6" descr="icon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234440"/>
            <a:ext cx="566928" cy="634644"/>
          </a:xfrm>
          <a:prstGeom prst="rect">
            <a:avLst/>
          </a:prstGeom>
        </p:spPr>
      </p:pic>
      <p:pic>
        <p:nvPicPr>
          <p:cNvPr id="8" name="Picture 7" descr="sphere_cor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4160520"/>
            <a:ext cx="1600200" cy="1866899"/>
          </a:xfrm>
          <a:prstGeom prst="rect">
            <a:avLst/>
          </a:prstGeom>
        </p:spPr>
      </p:pic>
      <p:pic>
        <p:nvPicPr>
          <p:cNvPr id="9" name="Picture 8" descr="ring_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1320" y="4480560"/>
            <a:ext cx="1600200" cy="1600200"/>
          </a:xfrm>
          <a:prstGeom prst="rect">
            <a:avLst/>
          </a:prstGeom>
        </p:spPr>
      </p:pic>
      <p:pic>
        <p:nvPicPr>
          <p:cNvPr id="10" name="Picture 9" descr="sphere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0" y="685800"/>
            <a:ext cx="658368" cy="767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6A7B92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222E40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17456B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pic>
        <p:nvPicPr>
          <p:cNvPr id="13" name="Picture 12" descr="glow_b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" y="4370832"/>
            <a:ext cx="5852160" cy="502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222E40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정부는 분만취약지를 정밀하게 측정한다. 그러나 지정 규칙은 이동시간만 보고,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배분은 그 측정값조차 따르지 않는다 — 두 개의 공백을 정부 자신의 데이터로 메운다.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222E40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문제 — 측정·지정·배분 파이프라인의 두 공백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2년마다 접근성·이용률 산출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이동시간 지표만으로 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줄 세우는 규칙이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0604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7919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260604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67919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2606040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67919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44728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2044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44728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352044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55480" y="3447288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5480" y="352044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8853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6168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428853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436168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88536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5480" y="436168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12978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20293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28800" y="512978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520293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55480" y="5129784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520293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222E40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8E2EC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2_등급별_지원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1_심도부담_산점도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3_배정_교차표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그림4_지도_우선순위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222E40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222E40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-3291840"/>
            <a:ext cx="8229600" cy="822960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43200" y="3108960"/>
            <a:ext cx="6949440" cy="6949440"/>
          </a:xfrm>
          <a:prstGeom prst="rect">
            <a:avLst/>
          </a:prstGeom>
        </p:spPr>
      </p:pic>
      <p:pic>
        <p:nvPicPr>
          <p:cNvPr id="5" name="Picture 4" descr="ring_c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977639"/>
            <a:ext cx="2103120" cy="2103120"/>
          </a:xfrm>
          <a:prstGeom prst="rect">
            <a:avLst/>
          </a:prstGeom>
        </p:spPr>
      </p:pic>
      <p:pic>
        <p:nvPicPr>
          <p:cNvPr id="6" name="Picture 5" descr="sphere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777240"/>
            <a:ext cx="960120" cy="1120140"/>
          </a:xfrm>
          <a:prstGeom prst="rect">
            <a:avLst/>
          </a:prstGeom>
        </p:spPr>
      </p:pic>
      <p:pic>
        <p:nvPicPr>
          <p:cNvPr id="7" name="Picture 6" descr="icon_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2377440"/>
            <a:ext cx="685800" cy="7677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222E40"/>
                </a:solidFill>
                <a:latin typeface="맑은 고딕"/>
                <a:ea typeface="맑은 고딕"/>
              </a:rPr>
              <a:t>결론</a:t>
            </a:r>
          </a:p>
        </p:txBody>
      </p:sp>
      <p:pic>
        <p:nvPicPr>
          <p:cNvPr id="9" name="Picture 8" descr="glow_b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1920240"/>
            <a:ext cx="4754880" cy="502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222E40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222E40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E85D42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6A7B92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6A7B92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