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6" r:id="rId26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45" y="38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914400" y="1207008"/>
            <a:ext cx="502920" cy="128016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399" y="1481328"/>
            <a:ext cx="8464063" cy="17692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1500"/>
              </a:spcAft>
            </a:pPr>
            <a:r>
              <a:rPr sz="1450" b="0" dirty="0" err="1">
                <a:solidFill>
                  <a:srgbClr val="767A7F"/>
                </a:solidFill>
                <a:latin typeface="맑은 고딕"/>
                <a:ea typeface="맑은 고딕"/>
              </a:rPr>
              <a:t>데이터</a:t>
            </a:r>
            <a:r>
              <a:rPr sz="1450" b="0" dirty="0">
                <a:solidFill>
                  <a:srgbClr val="767A7F"/>
                </a:solidFill>
                <a:latin typeface="맑은 고딕"/>
                <a:ea typeface="맑은 고딕"/>
              </a:rPr>
              <a:t> </a:t>
            </a:r>
            <a:r>
              <a:rPr sz="1450" b="0" dirty="0" err="1">
                <a:solidFill>
                  <a:srgbClr val="767A7F"/>
                </a:solidFill>
                <a:latin typeface="맑은 고딕"/>
                <a:ea typeface="맑은 고딕"/>
              </a:rPr>
              <a:t>분석</a:t>
            </a:r>
            <a:r>
              <a:rPr sz="1450" b="0" dirty="0">
                <a:solidFill>
                  <a:srgbClr val="767A7F"/>
                </a:solidFill>
                <a:latin typeface="맑은 고딕"/>
                <a:ea typeface="맑은 고딕"/>
              </a:rPr>
              <a:t> </a:t>
            </a:r>
            <a:r>
              <a:rPr sz="1450" b="0" dirty="0" err="1">
                <a:solidFill>
                  <a:srgbClr val="767A7F"/>
                </a:solidFill>
                <a:latin typeface="맑은 고딕"/>
                <a:ea typeface="맑은 고딕"/>
              </a:rPr>
              <a:t>결과보고서</a:t>
            </a:r>
            <a:endParaRPr sz="1450" b="0" dirty="0">
              <a:solidFill>
                <a:srgbClr val="767A7F"/>
              </a:solidFill>
              <a:latin typeface="맑은 고딕"/>
              <a:ea typeface="맑은 고딕"/>
            </a:endParaRP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lang="ko-KR" altLang="en-US" sz="4700" b="1" dirty="0">
                <a:solidFill>
                  <a:srgbClr val="1C1C1E"/>
                </a:solidFill>
                <a:latin typeface="맑은 고딕"/>
                <a:ea typeface="맑은 고딕"/>
              </a:rPr>
              <a:t>분만취약지 지원제도 개선안</a:t>
            </a:r>
            <a:endParaRPr lang="en-US" altLang="ko-KR" sz="1900" dirty="0">
              <a:solidFill>
                <a:srgbClr val="33393F"/>
              </a:solidFill>
              <a:latin typeface="맑은 고딕"/>
              <a:ea typeface="맑은 고딕"/>
            </a:endParaRPr>
          </a:p>
          <a:p>
            <a:pPr>
              <a:lnSpc>
                <a:spcPct val="114000"/>
              </a:lnSpc>
              <a:spcAft>
                <a:spcPts val="800"/>
              </a:spcAft>
            </a:pPr>
            <a:r>
              <a:rPr sz="1900" b="0" dirty="0" err="1">
                <a:solidFill>
                  <a:srgbClr val="33393F"/>
                </a:solidFill>
                <a:latin typeface="맑은 고딕"/>
                <a:ea typeface="맑은 고딕"/>
              </a:rPr>
              <a:t>분만취약지</a:t>
            </a:r>
            <a:r>
              <a:rPr sz="1900" b="0" dirty="0">
                <a:solidFill>
                  <a:srgbClr val="33393F"/>
                </a:solidFill>
                <a:latin typeface="맑은 고딕"/>
                <a:ea typeface="맑은 고딕"/>
              </a:rPr>
              <a:t> </a:t>
            </a:r>
            <a:r>
              <a:rPr lang="ko-KR" altLang="en-US" sz="1900" b="0" dirty="0">
                <a:solidFill>
                  <a:srgbClr val="33393F"/>
                </a:solidFill>
                <a:latin typeface="맑은 고딕"/>
                <a:ea typeface="맑은 고딕"/>
              </a:rPr>
              <a:t>지원 </a:t>
            </a:r>
            <a:r>
              <a:rPr sz="1900" b="0" dirty="0" err="1">
                <a:solidFill>
                  <a:srgbClr val="33393F"/>
                </a:solidFill>
                <a:latin typeface="맑은 고딕"/>
                <a:ea typeface="맑은 고딕"/>
              </a:rPr>
              <a:t>제도의</a:t>
            </a:r>
            <a:r>
              <a:rPr sz="1900" b="0" dirty="0">
                <a:solidFill>
                  <a:srgbClr val="33393F"/>
                </a:solidFill>
                <a:latin typeface="맑은 고딕"/>
                <a:ea typeface="맑은 고딕"/>
              </a:rPr>
              <a:t> </a:t>
            </a:r>
            <a:r>
              <a:rPr lang="ko-KR" altLang="en-US" sz="1900" b="0" dirty="0">
                <a:solidFill>
                  <a:srgbClr val="33393F"/>
                </a:solidFill>
                <a:latin typeface="맑은 고딕"/>
                <a:ea typeface="맑은 고딕"/>
              </a:rPr>
              <a:t>모든 절차 속 데이터</a:t>
            </a:r>
            <a:r>
              <a:rPr sz="1900" b="0" dirty="0">
                <a:solidFill>
                  <a:srgbClr val="33393F"/>
                </a:solidFill>
                <a:latin typeface="맑은 고딕"/>
                <a:ea typeface="맑은 고딕"/>
              </a:rPr>
              <a:t> </a:t>
            </a:r>
            <a:r>
              <a:rPr sz="1900" b="0" dirty="0" err="1">
                <a:solidFill>
                  <a:srgbClr val="33393F"/>
                </a:solidFill>
                <a:latin typeface="맑은 고딕"/>
                <a:ea typeface="맑은 고딕"/>
              </a:rPr>
              <a:t>감사와</a:t>
            </a:r>
            <a:r>
              <a:rPr sz="1900" b="0" dirty="0">
                <a:solidFill>
                  <a:srgbClr val="33393F"/>
                </a:solidFill>
                <a:latin typeface="맑은 고딕"/>
                <a:ea typeface="맑은 고딕"/>
              </a:rPr>
              <a:t> </a:t>
            </a:r>
            <a:r>
              <a:rPr lang="ko-KR" altLang="en-US" sz="1900" dirty="0">
                <a:solidFill>
                  <a:srgbClr val="33393F"/>
                </a:solidFill>
                <a:latin typeface="맑은 고딕"/>
                <a:ea typeface="맑은 고딕"/>
              </a:rPr>
              <a:t>개선된 분석</a:t>
            </a:r>
            <a:r>
              <a:rPr sz="1900" b="0" dirty="0">
                <a:solidFill>
                  <a:srgbClr val="33393F"/>
                </a:solidFill>
                <a:latin typeface="맑은 고딕"/>
                <a:ea typeface="맑은 고딕"/>
              </a:rPr>
              <a:t> </a:t>
            </a:r>
            <a:r>
              <a:rPr sz="1900" b="0" dirty="0" err="1">
                <a:solidFill>
                  <a:srgbClr val="33393F"/>
                </a:solidFill>
                <a:latin typeface="맑은 고딕"/>
                <a:ea typeface="맑은 고딕"/>
              </a:rPr>
              <a:t>모형</a:t>
            </a:r>
            <a:r>
              <a:rPr lang="en-US" sz="1900" b="0" dirty="0">
                <a:solidFill>
                  <a:srgbClr val="33393F"/>
                </a:solidFill>
                <a:latin typeface="맑은 고딕"/>
                <a:ea typeface="맑은 고딕"/>
              </a:rPr>
              <a:t> </a:t>
            </a:r>
            <a:r>
              <a:rPr lang="ko-KR" altLang="en-US" sz="1900" b="0" dirty="0">
                <a:solidFill>
                  <a:srgbClr val="33393F"/>
                </a:solidFill>
                <a:latin typeface="맑은 고딕"/>
                <a:ea typeface="맑은 고딕"/>
              </a:rPr>
              <a:t>제안</a:t>
            </a:r>
            <a:endParaRPr sz="1900" b="0" dirty="0">
              <a:solidFill>
                <a:srgbClr val="33393F"/>
              </a:solidFill>
              <a:latin typeface="맑은 고딕"/>
              <a:ea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32688" y="4370832"/>
            <a:ext cx="585216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69494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1350" b="1" dirty="0">
                <a:solidFill>
                  <a:srgbClr val="1C1C1E"/>
                </a:solidFill>
                <a:latin typeface="맑은 고딕"/>
                <a:ea typeface="맑은 고딕"/>
              </a:rPr>
              <a:t>2026 제5회 </a:t>
            </a:r>
            <a:r>
              <a:rPr sz="1350" b="1" dirty="0" err="1">
                <a:solidFill>
                  <a:srgbClr val="1C1C1E"/>
                </a:solidFill>
                <a:latin typeface="맑은 고딕"/>
                <a:ea typeface="맑은 고딕"/>
              </a:rPr>
              <a:t>명지대학교</a:t>
            </a:r>
            <a:r>
              <a:rPr sz="1350" b="1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350" b="1" dirty="0" err="1">
                <a:solidFill>
                  <a:srgbClr val="1C1C1E"/>
                </a:solidFill>
                <a:latin typeface="맑은 고딕"/>
                <a:ea typeface="맑은 고딕"/>
              </a:rPr>
              <a:t>창의적</a:t>
            </a:r>
            <a:r>
              <a:rPr sz="1350" b="1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350" b="1" dirty="0" err="1">
                <a:solidFill>
                  <a:srgbClr val="1C1C1E"/>
                </a:solidFill>
                <a:latin typeface="맑은 고딕"/>
                <a:ea typeface="맑은 고딕"/>
              </a:rPr>
              <a:t>SW프로그램</a:t>
            </a:r>
            <a:r>
              <a:rPr sz="1350" b="1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350" b="1" dirty="0" err="1">
                <a:solidFill>
                  <a:srgbClr val="1C1C1E"/>
                </a:solidFill>
                <a:latin typeface="맑은 고딕"/>
                <a:ea typeface="맑은 고딕"/>
              </a:rPr>
              <a:t>경진대회</a:t>
            </a:r>
            <a:r>
              <a:rPr sz="1350" b="1" dirty="0">
                <a:solidFill>
                  <a:srgbClr val="1C1C1E"/>
                </a:solidFill>
                <a:latin typeface="맑은 고딕"/>
                <a:ea typeface="맑은 고딕"/>
              </a:rPr>
              <a:t> · </a:t>
            </a:r>
            <a:r>
              <a:rPr sz="1350" b="1" dirty="0" err="1">
                <a:solidFill>
                  <a:srgbClr val="1C1C1E"/>
                </a:solidFill>
                <a:latin typeface="맑은 고딕"/>
                <a:ea typeface="맑은 고딕"/>
              </a:rPr>
              <a:t>빅데이터</a:t>
            </a:r>
            <a:r>
              <a:rPr sz="1350" b="1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350" b="1" dirty="0" err="1">
                <a:solidFill>
                  <a:srgbClr val="1C1C1E"/>
                </a:solidFill>
                <a:latin typeface="맑은 고딕"/>
                <a:ea typeface="맑은 고딕"/>
              </a:rPr>
              <a:t>분석</a:t>
            </a:r>
            <a:r>
              <a:rPr sz="1350" b="1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350" b="1" dirty="0" err="1">
                <a:solidFill>
                  <a:srgbClr val="1C1C1E"/>
                </a:solidFill>
                <a:latin typeface="맑은 고딕"/>
                <a:ea typeface="맑은 고딕"/>
              </a:rPr>
              <a:t>부문</a:t>
            </a:r>
            <a:endParaRPr sz="1350" b="1" dirty="0">
              <a:solidFill>
                <a:srgbClr val="1C1C1E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4736" y="527304"/>
            <a:ext cx="207264" cy="2072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scaled="0" ang="1890000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53212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44752"/>
            <a:ext cx="516636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350" b="1">
                <a:solidFill>
                  <a:srgbClr val="33393F"/>
                </a:solidFill>
                <a:latin typeface="맑은 고딕"/>
                <a:ea typeface="맑은 고딕"/>
              </a:rPr>
              <a:t>Ⅰ. 배경과 요약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03   프로젝트 배경 — 제도와 접근성의 두 축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04   데이터 분석을 통한 네 가지 발견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05   문제와 핵심 질문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825496"/>
            <a:ext cx="5532120" cy="1572768"/>
          </a:xfrm>
          <a:prstGeom prst="roundRect">
            <a:avLst>
              <a:gd name="adj" fmla="val 5232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44368"/>
            <a:ext cx="5166360" cy="1335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350" b="1">
                <a:solidFill>
                  <a:srgbClr val="33393F"/>
                </a:solidFill>
                <a:latin typeface="맑은 고딕"/>
                <a:ea typeface="맑은 고딕"/>
              </a:rPr>
              <a:t>Ⅱ. 제도 · 데이터 · 탐색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06   제도 이해 ① 판정 지표와 TRI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07   제도 이해 ② 등급과 배분 관문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08   데이터와 전처리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09   EDA — 숨어 있던 92배 격차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599431"/>
            <a:ext cx="553212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718303"/>
            <a:ext cx="516636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350" b="1">
                <a:solidFill>
                  <a:srgbClr val="33393F"/>
                </a:solidFill>
                <a:latin typeface="맑은 고딕"/>
                <a:ea typeface="맑은 고딕"/>
              </a:rPr>
              <a:t>Ⅲ. 감사 I · 지정 단계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10   판정식 검증 — 99.4% 재현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11   공급 공백형 사각지대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12   "60분이면 되지 않나" 반론 대응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25880"/>
            <a:ext cx="5532120" cy="1024128"/>
          </a:xfrm>
          <a:prstGeom prst="roundRect">
            <a:avLst>
              <a:gd name="adj" fmla="val 8035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44752"/>
            <a:ext cx="5166360" cy="7863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350" b="1">
                <a:solidFill>
                  <a:srgbClr val="33393F"/>
                </a:solidFill>
                <a:latin typeface="맑은 고딕"/>
                <a:ea typeface="맑은 고딕"/>
              </a:rPr>
              <a:t>Ⅳ. 감사 II · 배분 단계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13   등급이 지원을 가른다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14   배분은 대부분 설명되지 않는다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551176"/>
            <a:ext cx="553212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670048"/>
            <a:ext cx="5166360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350" b="1">
                <a:solidFill>
                  <a:srgbClr val="33393F"/>
                </a:solidFill>
                <a:latin typeface="맑은 고딕"/>
                <a:ea typeface="맑은 고딕"/>
              </a:rPr>
              <a:t>Ⅴ. 처방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15   ① 우선순위 — 심도와 부담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16   ② 유형 배정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17   ③ 불일치 지도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050791"/>
            <a:ext cx="5532120" cy="1572768"/>
          </a:xfrm>
          <a:prstGeom prst="roundRect">
            <a:avLst>
              <a:gd name="adj" fmla="val 5232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169663"/>
            <a:ext cx="5166360" cy="1335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00"/>
              </a:spcAft>
            </a:pPr>
            <a:r>
              <a:rPr sz="1350" b="1">
                <a:solidFill>
                  <a:srgbClr val="33393F"/>
                </a:solidFill>
                <a:latin typeface="맑은 고딕"/>
                <a:ea typeface="맑은 고딕"/>
              </a:rPr>
              <a:t>Ⅵ. 검증 · 제언 · 결론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18   모형을 스스로 공격했다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19   정책 제언 5건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20   한계와 재현성</a:t>
            </a:r>
          </a:p>
          <a:p>
            <a:pPr>
              <a:lnSpc>
                <a:spcPct val="114000"/>
              </a:lnSpc>
              <a:spcAft>
                <a:spcPts val="15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21   결론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053328"/>
            <a:ext cx="11247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 b="1">
                <a:solidFill>
                  <a:srgbClr val="1C1C1E"/>
                </a:solidFill>
                <a:latin typeface="맑은 고딕"/>
                <a:ea typeface="맑은 고딕"/>
              </a:rPr>
              <a:t>프로젝트의 발단·문제의식과 분석 설계의 상세는 「데이터 분석 계획서」에서 다룬다. 본 보고서는 그 결과를 보고한다.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54736" y="527304"/>
            <a:ext cx="207264" cy="2072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399564"/>
            <a:ext cx="9692640" cy="435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lang="ko-KR" altLang="en-US" sz="2150" b="1" dirty="0">
                <a:solidFill>
                  <a:srgbClr val="1C1C1E"/>
                </a:solidFill>
                <a:latin typeface="맑은 고딕"/>
                <a:ea typeface="맑은 고딕"/>
              </a:rPr>
              <a:t>프로젝트 배경 — 분만취약지 제도와 접근성의 두 축</a:t>
            </a:r>
            <a:r>
              <a:rPr sz="2150" b="1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2150" b="1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2150" b="1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2150" b="1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2150" b="1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2150" b="1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2150" b="1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2150" b="1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2150" b="1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2150" b="1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2150" b="1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2150" b="1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endParaRPr sz="2150" b="1" dirty="0">
              <a:solidFill>
                <a:srgbClr val="1C1C1E"/>
              </a:solidFill>
              <a:latin typeface="맑은 고딕"/>
              <a:ea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155680" cy="2917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lang="ko-KR" altLang="en-US" sz="1250" b="0" dirty="0">
                <a:solidFill>
                  <a:srgbClr val="767A7F"/>
                </a:solidFill>
                <a:latin typeface="맑은 고딕"/>
                <a:ea typeface="맑은 고딕"/>
              </a:rPr>
              <a:t>무엇을 다루는 제도이고, 이 프로젝트는 그중 무엇을 감사했는가</a:t>
            </a:r>
            <a:r>
              <a:rPr lang="en-US" altLang="ko-KR" sz="1250" b="0" dirty="0">
                <a:solidFill>
                  <a:srgbClr val="767A7F"/>
                </a:solidFill>
                <a:latin typeface="맑은 고딕"/>
                <a:ea typeface="맑은 고딕"/>
              </a:rPr>
              <a:t/>
            </a:r>
            <a:r>
              <a:rPr sz="1250" b="0" dirty="0">
                <a:solidFill>
                  <a:srgbClr val="767A7F"/>
                </a:solidFill>
                <a:latin typeface="맑은 고딕"/>
                <a:ea typeface="맑은 고딕"/>
              </a:rPr>
              <a:t/>
            </a:r>
            <a:r>
              <a:rPr sz="1250" b="0" dirty="0" err="1">
                <a:solidFill>
                  <a:srgbClr val="767A7F"/>
                </a:solidFill>
                <a:latin typeface="맑은 고딕"/>
                <a:ea typeface="맑은 고딕"/>
              </a:rPr>
              <a:t/>
            </a:r>
            <a:r>
              <a:rPr sz="1250" b="0" dirty="0">
                <a:solidFill>
                  <a:srgbClr val="767A7F"/>
                </a:solidFill>
                <a:latin typeface="맑은 고딕"/>
                <a:ea typeface="맑은 고딕"/>
              </a:rPr>
              <a:t/>
            </a:r>
            <a:r>
              <a:rPr sz="1250" b="0" dirty="0" err="1">
                <a:solidFill>
                  <a:srgbClr val="767A7F"/>
                </a:solidFill>
                <a:latin typeface="맑은 고딕"/>
                <a:ea typeface="맑은 고딕"/>
              </a:rPr>
              <a:t/>
            </a:r>
            <a:r>
              <a:rPr sz="1250" b="0" dirty="0">
                <a:solidFill>
                  <a:srgbClr val="767A7F"/>
                </a:solidFill>
                <a:latin typeface="맑은 고딕"/>
                <a:ea typeface="맑은 고딕"/>
              </a:rPr>
              <a:t/>
            </a:r>
            <a:r>
              <a:rPr sz="1250" b="0" dirty="0" err="1">
                <a:solidFill>
                  <a:srgbClr val="767A7F"/>
                </a:solidFill>
                <a:latin typeface="맑은 고딕"/>
                <a:ea typeface="맑은 고딕"/>
              </a:rPr>
              <a:t/>
            </a:r>
            <a:r>
              <a:rPr sz="1250" b="0" dirty="0">
                <a:solidFill>
                  <a:srgbClr val="767A7F"/>
                </a:solidFill>
                <a:latin typeface="맑은 고딕"/>
                <a:ea typeface="맑은 고딕"/>
              </a:rPr>
              <a:t/>
            </a:r>
            <a:r>
              <a:rPr sz="1250" b="0" dirty="0" err="1">
                <a:solidFill>
                  <a:srgbClr val="767A7F"/>
                </a:solidFill>
                <a:latin typeface="맑은 고딕"/>
                <a:ea typeface="맑은 고딕"/>
              </a:rPr>
              <a:t/>
            </a:r>
            <a:r>
              <a:rPr lang="ko-KR" altLang="en-US" sz="1250" b="0" dirty="0">
                <a:solidFill>
                  <a:srgbClr val="767A7F"/>
                </a:solidFill>
                <a:latin typeface="맑은 고딕"/>
                <a:ea typeface="맑은 고딕"/>
              </a:rPr>
              <a:t/>
            </a:r>
            <a:endParaRPr sz="1250" b="0" dirty="0">
              <a:solidFill>
                <a:srgbClr val="767A7F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499616"/>
            <a:ext cx="3246120" cy="9332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>① 분만취약지란 무엇인가</a:t>
            </a:r>
            <a:r>
              <a:rPr lang="ko-KR" altLang="en-US" sz="1300" b="1" dirty="0">
                <a:solidFill>
                  <a:srgbClr val="33393F"/>
                </a:solidFill>
                <a:latin typeface="맑은 고딕"/>
                <a:ea typeface="맑은 고딕"/>
              </a:rPr>
              <a:t/>
            </a:r>
            <a:endParaRPr lang="en-US" altLang="ko-KR" sz="1300" b="1" dirty="0">
              <a:solidFill>
                <a:srgbClr val="33393F"/>
              </a:solidFill>
              <a:latin typeface="맑은 고딕"/>
              <a:ea typeface="맑은 고딕"/>
            </a:endParaRPr>
          </a:p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• 소득·인구가 적은 지역이 아니라, 그 지역 가임기 여성이 ① 분만 가능 기관까지 60분 안에 닿기 어렵고(접근성) ② 실제 출산도 60분 안에 하지 못하는(이용률) 시·군 — 즉 거리와 시간으로 정의된다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endParaRPr sz="1100" b="0" dirty="0">
              <a:solidFill>
                <a:srgbClr val="1C1C1E"/>
              </a:solidFill>
              <a:latin typeface="맑은 고딕"/>
              <a:ea typeface="맑은 고딕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43400" y="137160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499616"/>
            <a:ext cx="3246120" cy="1527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>② 접근성은 원래 두 축이다</a:t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/>
            </a: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/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/>
            </a:r>
            <a:endParaRPr sz="1300" b="1" dirty="0">
              <a:solidFill>
                <a:srgbClr val="33393F"/>
              </a:solidFill>
              <a:latin typeface="맑은 고딕"/>
              <a:ea typeface="맑은 고딕"/>
            </a:endParaRP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• 보건지리학 표준(2SFCA)은 접근성을 공간 축(얼마나 멀리 있는가) × 비공간 축(그곳에 의사가 있는가)의 결합으로 본다. 현행 판정식이 어느 축을 보는지가 감사의 출발점이다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endParaRPr sz="1100" b="0" dirty="0">
              <a:solidFill>
                <a:srgbClr val="1C1C1E"/>
              </a:solidFill>
              <a:latin typeface="맑은 고딕"/>
              <a:ea typeface="맑은 고딕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83880" y="1371600"/>
            <a:ext cx="3611880" cy="1783080"/>
          </a:xfrm>
          <a:prstGeom prst="roundRect">
            <a:avLst>
              <a:gd name="adj" fmla="val 4615"/>
            </a:avLst>
          </a:prstGeom>
          <a:solidFill>
            <a:srgbClr val="F1F2F3"/>
          </a:solidFill>
          <a:ln w="15875">
            <a:solidFill>
              <a:srgbClr val="9AA0A6"/>
            </a:solidFill>
          </a:ln>
          <a:effectLst>
            <a:outerShdw blurRad="182880" dist="64008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499616"/>
            <a:ext cx="3246120" cy="9332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 dirty="0">
                <a:solidFill>
                  <a:srgbClr val="000000"/>
                </a:solidFill>
                <a:latin typeface="맑은 고딕"/>
                <a:ea typeface="맑은 고딕"/>
              </a:rPr>
              <a:t>③ 이 프로젝트가 감사한 것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endParaRPr lang="en-US" altLang="ko-KR" sz="13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• 자원이 모자란 것(㉠)은 예산·인력의 영역이라 데이터가 답할 수 없다. 있는 자원이 체계적으로 배분되지 않는 것(㉡)은 규칙의 문제이므로 데이터로 답할 수 있다 — 이 프로젝트는 ㉡을 감사했다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endParaRPr sz="1100" b="0" dirty="0">
              <a:solidFill>
                <a:srgbClr val="1C1C1E"/>
              </a:solidFill>
              <a:latin typeface="맑은 고딕"/>
              <a:ea typeface="맑은 고딕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3401568"/>
            <a:ext cx="11292840" cy="1572768"/>
          </a:xfrm>
          <a:prstGeom prst="roundRect">
            <a:avLst>
              <a:gd name="adj" fmla="val 5232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529584"/>
            <a:ext cx="10927080" cy="1370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>제도는 15년째 운영 중이다 — 그런데 결과는</a:t>
            </a: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/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/>
            </a: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/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/>
            </a: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/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/>
            </a: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/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/>
            </a: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/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/>
            </a: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/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/>
            </a: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/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/>
            </a: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/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/>
            </a: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/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/>
            </a: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/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• 전국 108곳이 분만취약지로 지정되어 있다 (A 32곳 · B 21곳 · C 55곳)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endParaRPr sz="1100" b="0" dirty="0">
              <a:solidFill>
                <a:srgbClr val="1C1C1E"/>
              </a:solidFill>
              <a:latin typeface="맑은 고딕"/>
              <a:ea typeface="맑은 고딕"/>
            </a:endParaRP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• 15년 누적 지원은 57개소 (분만 36 · 외래 15 · 순회 6). 2025년 신규는 전국 1개소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endParaRPr sz="1100" b="0" dirty="0">
              <a:solidFill>
                <a:srgbClr val="1C1C1E"/>
              </a:solidFill>
              <a:latin typeface="맑은 고딕"/>
              <a:ea typeface="맑은 고딕"/>
            </a:endParaRP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>• 나눠 줄 것이 적을수록 순서는 오히려 더 중요해진다 — 한 해에 한 곳뿐이면 순서가 곧 결과다. 그런데 그 순서를 정하는 규칙이 제도에 없다</a:t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lang="en-US"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lang="ko-KR" altLang="en-US"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lang="ko-KR" altLang="en-US"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lang="ko-KR" altLang="en-US" sz="110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lang="ko-KR" altLang="en-US"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100" b="0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230368"/>
            <a:ext cx="11247120" cy="3316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</a:pPr>
            <a:r>
              <a:rPr sz="1500" b="1" dirty="0">
                <a:solidFill>
                  <a:srgbClr val="1C1C1E"/>
                </a:solidFill>
                <a:latin typeface="맑은 고딕"/>
                <a:ea typeface="맑은 고딕"/>
              </a:rPr>
              <a:t>자원 부족은 여전히 문제다. 다만 그와 별개로, 있는 자원이 체계적으로 배분되지 않는 문제가 함께 있다.</a:t>
            </a:r>
            <a:r>
              <a:rPr lang="ko-KR" altLang="en-US" sz="1500" b="1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500" b="1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500" b="1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500" b="1" dirty="0" err="1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500" b="1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lang="ko-KR" altLang="en-US" sz="1500" b="1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lang="en-US" altLang="ko-KR" sz="1500" b="1" dirty="0">
                <a:solidFill>
                  <a:srgbClr val="1C1C1E"/>
                </a:solidFill>
                <a:latin typeface="맑은 고딕"/>
                <a:ea typeface="맑은 고딕"/>
              </a:rPr>
              <a:t/>
            </a:r>
            <a:r>
              <a:rPr sz="1500" b="1" dirty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lang="ko-KR" altLang="en-US" sz="1500" b="1" dirty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500" b="1" dirty="0" err="1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500" b="1" dirty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500" b="1" dirty="0" err="1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500" b="1" dirty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500" b="1" dirty="0" err="1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500" b="1" dirty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500" b="1" dirty="0" err="1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500" b="1" dirty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500" b="1" dirty="0" err="1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500" b="1" dirty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500" b="1" dirty="0" err="1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500" b="1" dirty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500" b="1" dirty="0" err="1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500" b="1" dirty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500" b="1" dirty="0" err="1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r>
              <a:rPr sz="1500" b="1" dirty="0">
                <a:solidFill>
                  <a:srgbClr val="000000"/>
                </a:solidFill>
                <a:latin typeface="맑은 고딕"/>
                <a:ea typeface="맑은 고딕"/>
              </a:rPr>
              <a:t/>
            </a:r>
            <a:endParaRPr lang="en-US" sz="1500" b="1" dirty="0">
              <a:solidFill>
                <a:srgbClr val="000000"/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54736" y="527304"/>
            <a:ext cx="207264" cy="2072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399564"/>
            <a:ext cx="9692640" cy="435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lang="ko-KR" altLang="en-US" sz="2150" b="1" dirty="0">
                <a:solidFill>
                  <a:srgbClr val="1C1C1E"/>
                </a:solidFill>
                <a:latin typeface="맑은 고딕"/>
                <a:ea typeface="맑은 고딕"/>
              </a:rPr>
              <a:t>데이터 분석을 통한 </a:t>
            </a:r>
            <a:r>
              <a:rPr sz="2150" b="1" dirty="0">
                <a:solidFill>
                  <a:srgbClr val="1C1C1E"/>
                </a:solidFill>
                <a:latin typeface="맑은 고딕"/>
                <a:ea typeface="맑은 고딕"/>
              </a:rPr>
              <a:t>네 </a:t>
            </a:r>
            <a:r>
              <a:rPr sz="2150" b="1" dirty="0" err="1">
                <a:solidFill>
                  <a:srgbClr val="1C1C1E"/>
                </a:solidFill>
                <a:latin typeface="맑은 고딕"/>
                <a:ea typeface="맑은 고딕"/>
              </a:rPr>
              <a:t>가지</a:t>
            </a:r>
            <a:r>
              <a:rPr sz="2150" b="1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2150" b="1" dirty="0" err="1">
                <a:solidFill>
                  <a:srgbClr val="1C1C1E"/>
                </a:solidFill>
                <a:latin typeface="맑은 고딕"/>
                <a:ea typeface="맑은 고딕"/>
              </a:rPr>
              <a:t>발견</a:t>
            </a:r>
            <a:endParaRPr sz="2150" b="1" dirty="0">
              <a:solidFill>
                <a:srgbClr val="1C1C1E"/>
              </a:solidFill>
              <a:latin typeface="맑은 고딕"/>
              <a:ea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5532120" cy="1920240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362456"/>
            <a:ext cx="5166359" cy="958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>발견</a:t>
            </a: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> 1 · </a:t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>지정은</a:t>
            </a: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>이동시간만</a:t>
            </a: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>본다</a:t>
            </a:r>
            <a:endParaRPr sz="1300" b="1" dirty="0">
              <a:solidFill>
                <a:srgbClr val="33393F"/>
              </a:solidFill>
              <a:latin typeface="맑은 고딕"/>
              <a:ea typeface="맑은 고딕"/>
            </a:endParaRP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• </a:t>
            </a:r>
            <a:r>
              <a:rPr lang="ko-KR" altLang="en-US" sz="1150" dirty="0">
                <a:solidFill>
                  <a:srgbClr val="1C1C1E"/>
                </a:solidFill>
                <a:latin typeface="맑은 고딕"/>
                <a:ea typeface="맑은 고딕"/>
              </a:rPr>
              <a:t>의료</a:t>
            </a:r>
            <a:r>
              <a:rPr lang="ko-KR" altLang="en-US"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lang="ko-KR" altLang="en-US" sz="1150" dirty="0">
                <a:solidFill>
                  <a:srgbClr val="1C1C1E"/>
                </a:solidFill>
                <a:latin typeface="맑은 고딕"/>
                <a:ea typeface="맑은 고딕"/>
              </a:rPr>
              <a:t>접근성과 </a:t>
            </a:r>
            <a:r>
              <a:rPr lang="en-US" altLang="ko-KR" sz="1150" dirty="0">
                <a:solidFill>
                  <a:srgbClr val="1C1C1E"/>
                </a:solidFill>
                <a:latin typeface="맑은 고딕"/>
                <a:ea typeface="맑은 고딕"/>
              </a:rPr>
              <a:t>TRI(</a:t>
            </a:r>
            <a:r>
              <a:rPr lang="ko-KR" altLang="en-US" sz="1150" dirty="0">
                <a:solidFill>
                  <a:srgbClr val="1C1C1E"/>
                </a:solidFill>
                <a:latin typeface="맑은 고딕"/>
                <a:ea typeface="맑은 고딕"/>
              </a:rPr>
              <a:t>기준시간내 </a:t>
            </a:r>
            <a:r>
              <a:rPr lang="ko-KR" altLang="en-US" sz="1150" dirty="0" err="1">
                <a:solidFill>
                  <a:srgbClr val="1C1C1E"/>
                </a:solidFill>
                <a:latin typeface="맑은 고딕"/>
                <a:ea typeface="맑은 고딕"/>
              </a:rPr>
              <a:t>의료이용률</a:t>
            </a:r>
            <a:r>
              <a:rPr lang="en-US" altLang="ko-KR" sz="1150" dirty="0">
                <a:solidFill>
                  <a:srgbClr val="1C1C1E"/>
                </a:solidFill>
                <a:latin typeface="맑은 고딕"/>
                <a:ea typeface="맑은 고딕"/>
              </a:rPr>
              <a:t>) </a:t>
            </a:r>
            <a:r>
              <a:rPr lang="ko-KR" altLang="en-US" sz="1150" dirty="0">
                <a:solidFill>
                  <a:srgbClr val="1C1C1E"/>
                </a:solidFill>
                <a:latin typeface="맑은 고딕"/>
                <a:ea typeface="맑은 고딕"/>
              </a:rPr>
              <a:t>만 반영하는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공표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판정식이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실제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지정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159건 중 158건(99.4%)을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재현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.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공급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변수를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추가해도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판별력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(AUC)은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전혀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늘지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않는다</a:t>
            </a:r>
            <a:endParaRPr sz="1150" b="0" dirty="0">
              <a:solidFill>
                <a:srgbClr val="1C1C1E"/>
              </a:solidFill>
              <a:latin typeface="맑은 고딕"/>
              <a:ea typeface="맑은 고딕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532120" cy="1920240"/>
          </a:xfrm>
          <a:prstGeom prst="roundRect">
            <a:avLst>
              <a:gd name="adj" fmla="val 4285"/>
            </a:avLst>
          </a:prstGeom>
          <a:solidFill>
            <a:srgbClr val="F1F2F3"/>
          </a:solidFill>
          <a:ln w="15875">
            <a:solidFill>
              <a:srgbClr val="9AA0A6"/>
            </a:solidFill>
          </a:ln>
          <a:effectLst>
            <a:outerShdw blurRad="182880" dist="64008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362456"/>
            <a:ext cx="5166359" cy="958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 dirty="0" err="1">
                <a:solidFill>
                  <a:srgbClr val="000000"/>
                </a:solidFill>
                <a:latin typeface="맑은 고딕"/>
                <a:ea typeface="맑은 고딕"/>
              </a:rPr>
              <a:t>발견</a:t>
            </a:r>
            <a:r>
              <a:rPr sz="1300" b="1" dirty="0">
                <a:solidFill>
                  <a:srgbClr val="000000"/>
                </a:solidFill>
                <a:latin typeface="맑은 고딕"/>
                <a:ea typeface="맑은 고딕"/>
              </a:rPr>
              <a:t> 2 · </a:t>
            </a:r>
            <a:r>
              <a:rPr sz="1300" b="1" dirty="0" err="1">
                <a:solidFill>
                  <a:srgbClr val="000000"/>
                </a:solidFill>
                <a:latin typeface="맑은 고딕"/>
                <a:ea typeface="맑은 고딕"/>
              </a:rPr>
              <a:t>공급</a:t>
            </a:r>
            <a:r>
              <a:rPr sz="1300" b="1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맑은 고딕"/>
                <a:ea typeface="맑은 고딕"/>
              </a:rPr>
              <a:t>공백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</a:rPr>
              <a:t>이 있는</a:t>
            </a:r>
            <a:r>
              <a:rPr sz="1300" b="1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맑은 고딕"/>
                <a:ea typeface="맑은 고딕"/>
              </a:rPr>
              <a:t>사각지대</a:t>
            </a:r>
            <a:r>
              <a:rPr lang="en-US" sz="1300" b="1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lang="ko-KR" altLang="en-US" sz="1300" b="1" dirty="0">
                <a:solidFill>
                  <a:srgbClr val="000000"/>
                </a:solidFill>
                <a:latin typeface="맑은 고딕"/>
                <a:ea typeface="맑은 고딕"/>
              </a:rPr>
              <a:t>실재</a:t>
            </a:r>
            <a:endParaRPr sz="13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•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거리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기준은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통과하지만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관내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공급이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소멸한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지역</a:t>
            </a:r>
            <a:r>
              <a:rPr lang="en-US" sz="1150" b="0" dirty="0">
                <a:solidFill>
                  <a:srgbClr val="1C1C1E"/>
                </a:solidFill>
                <a:latin typeface="맑은 고딕"/>
                <a:ea typeface="맑은 고딕"/>
              </a:rPr>
              <a:t>(</a:t>
            </a:r>
            <a:r>
              <a:rPr lang="ko-KR" altLang="en-US" sz="1150" b="0" dirty="0">
                <a:solidFill>
                  <a:srgbClr val="1C1C1E"/>
                </a:solidFill>
                <a:latin typeface="맑은 고딕"/>
                <a:ea typeface="맑은 고딕"/>
              </a:rPr>
              <a:t>가까운 의료시설은 존재하나</a:t>
            </a:r>
            <a:r>
              <a:rPr lang="en-US" altLang="ko-KR" sz="1150" b="0" dirty="0">
                <a:solidFill>
                  <a:srgbClr val="1C1C1E"/>
                </a:solidFill>
                <a:latin typeface="맑은 고딕"/>
                <a:ea typeface="맑은 고딕"/>
              </a:rPr>
              <a:t>, </a:t>
            </a:r>
            <a:r>
              <a:rPr lang="ko-KR" altLang="en-US" sz="1150" b="0" dirty="0">
                <a:solidFill>
                  <a:srgbClr val="1C1C1E"/>
                </a:solidFill>
                <a:latin typeface="맑은 고딕"/>
                <a:ea typeface="맑은 고딕"/>
              </a:rPr>
              <a:t>정작 해당 지역 사람들은 </a:t>
            </a:r>
            <a:r>
              <a:rPr lang="ko-KR" altLang="en-US"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타지역</a:t>
            </a:r>
            <a:r>
              <a:rPr lang="ko-KR" altLang="en-US" sz="1150" b="0" dirty="0">
                <a:solidFill>
                  <a:srgbClr val="1C1C1E"/>
                </a:solidFill>
                <a:latin typeface="맑은 고딕"/>
                <a:ea typeface="맑은 고딕"/>
              </a:rPr>
              <a:t> 의료시설을 이용</a:t>
            </a:r>
            <a:r>
              <a:rPr lang="en-US" altLang="ko-KR" sz="1150" b="0" dirty="0">
                <a:solidFill>
                  <a:srgbClr val="1C1C1E"/>
                </a:solidFill>
                <a:latin typeface="맑은 고딕"/>
                <a:ea typeface="맑은 고딕"/>
              </a:rPr>
              <a:t>)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—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분만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완전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사각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5곳</a:t>
            </a:r>
            <a:r>
              <a:rPr lang="en-US" sz="1150" b="0" dirty="0">
                <a:solidFill>
                  <a:srgbClr val="1C1C1E"/>
                </a:solidFill>
                <a:latin typeface="맑은 고딕"/>
                <a:ea typeface="맑은 고딕"/>
              </a:rPr>
              <a:t>,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소아과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5개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지역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입원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5,689건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전량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(100%)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관외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유출</a:t>
            </a:r>
            <a:endParaRPr sz="1150" b="0" dirty="0">
              <a:solidFill>
                <a:srgbClr val="1C1C1E"/>
              </a:solidFill>
              <a:latin typeface="맑은 고딕"/>
              <a:ea typeface="맑은 고딕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3383280"/>
            <a:ext cx="5532120" cy="1920240"/>
          </a:xfrm>
          <a:prstGeom prst="roundRect">
            <a:avLst>
              <a:gd name="adj" fmla="val 4285"/>
            </a:avLst>
          </a:prstGeom>
          <a:solidFill>
            <a:srgbClr val="F1F2F3"/>
          </a:solidFill>
          <a:ln w="15875">
            <a:solidFill>
              <a:srgbClr val="9AA0A6"/>
            </a:solidFill>
          </a:ln>
          <a:effectLst>
            <a:outerShdw blurRad="182880" dist="64008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511296"/>
            <a:ext cx="5166359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 dirty="0" err="1">
                <a:solidFill>
                  <a:srgbClr val="000000"/>
                </a:solidFill>
                <a:latin typeface="맑은 고딕"/>
                <a:ea typeface="맑은 고딕"/>
              </a:rPr>
              <a:t>발견</a:t>
            </a:r>
            <a:r>
              <a:rPr sz="1300" b="1" dirty="0">
                <a:solidFill>
                  <a:srgbClr val="000000"/>
                </a:solidFill>
                <a:latin typeface="맑은 고딕"/>
                <a:ea typeface="맑은 고딕"/>
              </a:rPr>
              <a:t> 3 · </a:t>
            </a:r>
            <a:r>
              <a:rPr sz="1300" b="1" dirty="0" err="1">
                <a:solidFill>
                  <a:srgbClr val="000000"/>
                </a:solidFill>
                <a:latin typeface="맑은 고딕"/>
                <a:ea typeface="맑은 고딕"/>
              </a:rPr>
              <a:t>배분</a:t>
            </a:r>
            <a:r>
              <a:rPr sz="1300" b="1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맑은 고딕"/>
                <a:ea typeface="맑은 고딕"/>
              </a:rPr>
              <a:t>규칙은</a:t>
            </a:r>
            <a:r>
              <a:rPr sz="1300" b="1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맑은 고딕"/>
                <a:ea typeface="맑은 고딕"/>
              </a:rPr>
              <a:t>데이터</a:t>
            </a:r>
            <a:r>
              <a:rPr sz="1300" b="1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맑은 고딕"/>
                <a:ea typeface="맑은 고딕"/>
              </a:rPr>
              <a:t>밖에</a:t>
            </a:r>
            <a:r>
              <a:rPr sz="1300" b="1" dirty="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000000"/>
                </a:solidFill>
                <a:latin typeface="맑은 고딕"/>
                <a:ea typeface="맑은 고딕"/>
              </a:rPr>
              <a:t>있다</a:t>
            </a:r>
            <a:endParaRPr sz="13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•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실질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취약지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A·B 53곳 중 21곳만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기지원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.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A등급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지원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오즈는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B의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4.82배(p=0.021)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인데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, 그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선정은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공개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지표로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16%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남짓만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설명된다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(McFadden R² 0.163)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383280"/>
            <a:ext cx="5532120" cy="1920240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3511296"/>
            <a:ext cx="5166359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>발견</a:t>
            </a: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> 4 · </a:t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>깊이는</a:t>
            </a: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>보지만</a:t>
            </a: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>인원</a:t>
            </a: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> </a:t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>수는</a:t>
            </a:r>
            <a:r>
              <a:rPr sz="1300" b="1" dirty="0">
                <a:solidFill>
                  <a:srgbClr val="33393F"/>
                </a:solidFill>
                <a:latin typeface="맑은 고딕"/>
                <a:ea typeface="맑은 고딕"/>
              </a:rPr>
              <a:t> 안 </a:t>
            </a:r>
            <a:r>
              <a:rPr sz="1300" b="1" dirty="0" err="1">
                <a:solidFill>
                  <a:srgbClr val="33393F"/>
                </a:solidFill>
                <a:latin typeface="맑은 고딕"/>
                <a:ea typeface="맑은 고딕"/>
              </a:rPr>
              <a:t>본다</a:t>
            </a:r>
            <a:endParaRPr sz="1300" b="1" dirty="0">
              <a:solidFill>
                <a:srgbClr val="33393F"/>
              </a:solidFill>
              <a:latin typeface="맑은 고딕"/>
              <a:ea typeface="맑은 고딕"/>
            </a:endParaRP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•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현행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배분은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취약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심도와는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정렬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(ρ=+0.381),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영향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인원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규모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(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부담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)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와는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무관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(ρ=−0.131). 두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관점의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순위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상관은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−0.190 —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축의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선택이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결과를</a:t>
            </a:r>
            <a:r>
              <a:rPr sz="1150" b="0" dirty="0">
                <a:solidFill>
                  <a:srgbClr val="1C1C1E"/>
                </a:solidFill>
                <a:latin typeface="맑은 고딕"/>
                <a:ea typeface="맑은 고딕"/>
              </a:rPr>
              <a:t> </a:t>
            </a:r>
            <a:r>
              <a:rPr sz="1150" b="0" dirty="0" err="1">
                <a:solidFill>
                  <a:srgbClr val="1C1C1E"/>
                </a:solidFill>
                <a:latin typeface="맑은 고딕"/>
                <a:ea typeface="맑은 고딕"/>
              </a:rPr>
              <a:t>바꾼다</a:t>
            </a:r>
            <a:endParaRPr sz="1150" b="0" dirty="0">
              <a:solidFill>
                <a:srgbClr val="1C1C1E"/>
              </a:solidFill>
              <a:latin typeface="맑은 고딕"/>
              <a:ea typeface="맑은 고딕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02920" y="56235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00" b="1">
                <a:solidFill>
                  <a:srgbClr val="1C1C1E"/>
                </a:solidFill>
                <a:latin typeface="맑은 고딕"/>
                <a:ea typeface="맑은 고딕"/>
              </a:rPr>
              <a:t>데이터: 헬스맵 공공 데이터셋 9종(2023, 226만 행) + 복지부 공고·지침 — 전량 공개 자료, 전 수치 독립 재실행 검증 완료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54736" y="527304"/>
            <a:ext cx="207264" cy="2072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문제 — 제도는 세 단계로 자원을 흘려보낸다, 그 중 두 곳이 비어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50" b="0">
                <a:solidFill>
                  <a:srgbClr val="767A7F"/>
                </a:solidFill>
                <a:latin typeface="맑은 고딕"/>
                <a:ea typeface="맑은 고딕"/>
              </a:rPr>
              <a:t>한 단계라도 막히거나 새면 앞 단계가 아무리 정확해도 자원은 엉뚱한 곳으로 간다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329184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444752"/>
            <a:ext cx="3035808" cy="969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33393F"/>
                </a:solidFill>
                <a:latin typeface="맑은 고딕"/>
                <a:ea typeface="맑은 고딕"/>
              </a:rPr>
              <a:t>① 측정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2년마다 전국 시·군·구의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분만실 60분 접근성·이용률 산출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3048" y="1627632"/>
            <a:ext cx="685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200" b="1">
                <a:solidFill>
                  <a:srgbClr val="767A7F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371600"/>
            <a:ext cx="3291840" cy="1115568"/>
          </a:xfrm>
          <a:prstGeom prst="roundRect">
            <a:avLst>
              <a:gd name="adj" fmla="val 7377"/>
            </a:avLst>
          </a:prstGeom>
          <a:solidFill>
            <a:srgbClr val="F1F2F3"/>
          </a:solidFill>
          <a:ln w="15875">
            <a:solidFill>
              <a:srgbClr val="9AA0A6"/>
            </a:solidFill>
          </a:ln>
          <a:effectLst>
            <a:outerShdw blurRad="182880" dist="64008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1444752"/>
            <a:ext cx="3035808" cy="969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33393F"/>
                </a:solidFill>
                <a:latin typeface="맑은 고딕"/>
                <a:ea typeface="맑은 고딕"/>
              </a:rPr>
              <a:t>② 지정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그 값을 임계값(30/30)과 대조해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분만취약지 판정 — 이동시간만 본다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0688" y="1627632"/>
            <a:ext cx="685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200" b="1">
                <a:solidFill>
                  <a:srgbClr val="767A7F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58200" y="1371600"/>
            <a:ext cx="3291840" cy="1115568"/>
          </a:xfrm>
          <a:prstGeom prst="roundRect">
            <a:avLst>
              <a:gd name="adj" fmla="val 7377"/>
            </a:avLst>
          </a:prstGeom>
          <a:solidFill>
            <a:srgbClr val="F1F2F3"/>
          </a:solidFill>
          <a:ln w="15875">
            <a:solidFill>
              <a:srgbClr val="9AA0A6"/>
            </a:solidFill>
          </a:ln>
          <a:effectLst>
            <a:outerShdw blurRad="182880" dist="64008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0" y="1444752"/>
            <a:ext cx="3035808" cy="9692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400" b="1">
                <a:solidFill>
                  <a:srgbClr val="33393F"/>
                </a:solidFill>
                <a:latin typeface="맑은 고딕"/>
                <a:ea typeface="맑은 고딕"/>
              </a:rPr>
              <a:t>③ 배분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지정 지역 병원에 설치·운영비 지급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— 누가 먼저인지의 규칙이 없다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697480"/>
            <a:ext cx="1188720" cy="658368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2A2E33"/>
              </a:gs>
              <a:gs pos="100000">
                <a:srgbClr val="4A4F55"/>
              </a:gs>
            </a:gsLst>
            <a:lin ang="14700000" scaled="0"/>
          </a:gradFill>
          <a:ln>
            <a:noFill/>
          </a:ln>
          <a:effectLst>
            <a:outerShdw blurRad="182880" dist="64008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770632"/>
            <a:ext cx="1188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Q1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2697480"/>
            <a:ext cx="758952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011680" y="2770632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50" b="0">
                <a:solidFill>
                  <a:srgbClr val="1C1C1E"/>
                </a:solidFill>
                <a:latin typeface="맑은 고딕"/>
                <a:ea typeface="맑은 고딕"/>
              </a:rPr>
              <a:t>지정은 공표 판정식대로 작동하는가? 공급은 반영되는가?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5480" y="2697480"/>
            <a:ext cx="2240280" cy="658368"/>
          </a:xfrm>
          <a:prstGeom prst="roundRect">
            <a:avLst>
              <a:gd name="adj" fmla="val 12500"/>
            </a:avLst>
          </a:prstGeom>
          <a:solidFill>
            <a:srgbClr val="F1F2F3"/>
          </a:solidFill>
          <a:ln w="15875">
            <a:solidFill>
              <a:srgbClr val="9AA0A6"/>
            </a:solidFill>
          </a:ln>
          <a:effectLst>
            <a:outerShdw blurRad="182880" dist="64008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555480" y="2770632"/>
            <a:ext cx="2240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 b="1">
                <a:solidFill>
                  <a:srgbClr val="1C1C1E"/>
                </a:solidFill>
                <a:latin typeface="맑은 고딕"/>
                <a:ea typeface="맑은 고딕"/>
              </a:rPr>
              <a:t>§5 · 발견 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538728"/>
            <a:ext cx="1188720" cy="658368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2A2E33"/>
              </a:gs>
              <a:gs pos="100000">
                <a:srgbClr val="4A4F55"/>
              </a:gs>
            </a:gsLst>
            <a:lin ang="14700000" scaled="0"/>
          </a:gradFill>
          <a:ln>
            <a:noFill/>
          </a:ln>
          <a:effectLst>
            <a:outerShdw blurRad="182880" dist="64008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3611880"/>
            <a:ext cx="1188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Q2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3538728"/>
            <a:ext cx="758952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011680" y="3611880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50" b="0">
                <a:solidFill>
                  <a:srgbClr val="1C1C1E"/>
                </a:solidFill>
                <a:latin typeface="맑은 고딕"/>
                <a:ea typeface="맑은 고딕"/>
              </a:rPr>
              <a:t>판정식이 구조적으로 놓치는 지역이 실재하는가?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55480" y="3538728"/>
            <a:ext cx="2240280" cy="658368"/>
          </a:xfrm>
          <a:prstGeom prst="roundRect">
            <a:avLst>
              <a:gd name="adj" fmla="val 12500"/>
            </a:avLst>
          </a:prstGeom>
          <a:solidFill>
            <a:srgbClr val="F1F2F3"/>
          </a:solidFill>
          <a:ln w="15875">
            <a:solidFill>
              <a:srgbClr val="9AA0A6"/>
            </a:solidFill>
          </a:ln>
          <a:effectLst>
            <a:outerShdw blurRad="182880" dist="64008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55480" y="3611880"/>
            <a:ext cx="2240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 b="1">
                <a:solidFill>
                  <a:srgbClr val="1C1C1E"/>
                </a:solidFill>
                <a:latin typeface="맑은 고딕"/>
                <a:ea typeface="맑은 고딕"/>
              </a:rPr>
              <a:t>§5 · 발견 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379976"/>
            <a:ext cx="1188720" cy="658368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2A2E33"/>
              </a:gs>
              <a:gs pos="100000">
                <a:srgbClr val="4A4F55"/>
              </a:gs>
            </a:gsLst>
            <a:lin ang="14700000" scaled="0"/>
          </a:gradFill>
          <a:ln>
            <a:noFill/>
          </a:ln>
          <a:effectLst>
            <a:outerShdw blurRad="182880" dist="64008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4453128"/>
            <a:ext cx="1188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Q3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4379976"/>
            <a:ext cx="758952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011680" y="4453128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50" b="0">
                <a:solidFill>
                  <a:srgbClr val="1C1C1E"/>
                </a:solidFill>
                <a:latin typeface="맑은 고딕"/>
                <a:ea typeface="맑은 고딕"/>
              </a:rPr>
              <a:t>지원 배분은 무엇으로 설명되는가?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55480" y="4379976"/>
            <a:ext cx="2240280" cy="658368"/>
          </a:xfrm>
          <a:prstGeom prst="roundRect">
            <a:avLst>
              <a:gd name="adj" fmla="val 12500"/>
            </a:avLst>
          </a:prstGeom>
          <a:solidFill>
            <a:srgbClr val="F1F2F3"/>
          </a:solidFill>
          <a:ln w="15875">
            <a:solidFill>
              <a:srgbClr val="9AA0A6"/>
            </a:solidFill>
          </a:ln>
          <a:effectLst>
            <a:outerShdw blurRad="182880" dist="64008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55480" y="4453128"/>
            <a:ext cx="2240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 b="1">
                <a:solidFill>
                  <a:srgbClr val="1C1C1E"/>
                </a:solidFill>
                <a:latin typeface="맑은 고딕"/>
                <a:ea typeface="맑은 고딕"/>
              </a:rPr>
              <a:t>§6 · 발견 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221224"/>
            <a:ext cx="1188720" cy="658368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2A2E33"/>
              </a:gs>
              <a:gs pos="100000">
                <a:srgbClr val="4A4F55"/>
              </a:gs>
            </a:gsLst>
            <a:lin ang="14700000" scaled="0"/>
          </a:gradFill>
          <a:ln>
            <a:noFill/>
          </a:ln>
          <a:effectLst>
            <a:outerShdw blurRad="182880" dist="64008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5294376"/>
            <a:ext cx="1188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Q4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828800" y="5221224"/>
            <a:ext cx="758952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011680" y="5294376"/>
            <a:ext cx="7315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50" b="0">
                <a:solidFill>
                  <a:srgbClr val="1C1C1E"/>
                </a:solidFill>
                <a:latin typeface="맑은 고딕"/>
                <a:ea typeface="맑은 고딕"/>
              </a:rPr>
              <a:t>정부 기준만으로 배분 규칙을 만들면 어디가 어긋나는가?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555480" y="5221224"/>
            <a:ext cx="2240280" cy="658368"/>
          </a:xfrm>
          <a:prstGeom prst="roundRect">
            <a:avLst>
              <a:gd name="adj" fmla="val 12500"/>
            </a:avLst>
          </a:prstGeom>
          <a:solidFill>
            <a:srgbClr val="F1F2F3"/>
          </a:solidFill>
          <a:ln w="15875">
            <a:solidFill>
              <a:srgbClr val="9AA0A6"/>
            </a:solidFill>
          </a:ln>
          <a:effectLst>
            <a:outerShdw blurRad="182880" dist="64008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555480" y="5294376"/>
            <a:ext cx="2240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 b="1">
                <a:solidFill>
                  <a:srgbClr val="1C1C1E"/>
                </a:solidFill>
                <a:latin typeface="맑은 고딕"/>
                <a:ea typeface="맑은 고딕"/>
              </a:rPr>
              <a:t>§7 · 발견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035040"/>
            <a:ext cx="11247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50" b="1">
                <a:solidFill>
                  <a:srgbClr val="1C1C1E"/>
                </a:solidFill>
                <a:latin typeface="맑은 고딕"/>
                <a:ea typeface="맑은 고딕"/>
              </a:rPr>
              <a:t>분석 대상은 취약지라는 현상이 아니라, 취약지를 판정하고 지원하는 제도 그 자체다.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54736" y="527304"/>
            <a:ext cx="207264" cy="2072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제도 이해 ① — 판정 지표 두 개, 그리고 TRI의 세 가지 사실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34440"/>
          <a:ext cx="11292840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지표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정의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성격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접근성취약인구비율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60분 내 분만가능기관(연 50건 이상)에 도달 불가능한 가임인구 비율 — GIS 계산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이론값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기준시간내 의료이용률(TRI)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실제 분만 중 거주지→기관 이동시간 60분 내에 이뤄진 비율 — 건보 청구 DB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행태 실측값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28803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400" b="1">
                <a:solidFill>
                  <a:srgbClr val="33393F"/>
                </a:solidFill>
                <a:latin typeface="맑은 고딕"/>
                <a:ea typeface="맑은 고딕"/>
              </a:rPr>
              <a:t>TRI에 관한 세 가지 사실 (오해 정리)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11880"/>
            <a:ext cx="3611880" cy="1463040"/>
          </a:xfrm>
          <a:prstGeom prst="roundRect">
            <a:avLst>
              <a:gd name="adj" fmla="val 5624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739896"/>
            <a:ext cx="324612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① 대기시간 무관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병원 안 대기시간이 아니라 거주지에서 기관까지의 이동시간 기준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611880"/>
            <a:ext cx="3611880" cy="1463040"/>
          </a:xfrm>
          <a:prstGeom prst="roundRect">
            <a:avLst>
              <a:gd name="adj" fmla="val 5624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3739896"/>
            <a:ext cx="324612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② "이내" 이용 비율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60분 이내 이용의 비율 — 높을수록 양호, 30% 미만이면 취약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3611880"/>
            <a:ext cx="3611880" cy="1463040"/>
          </a:xfrm>
          <a:prstGeom prst="roundRect">
            <a:avLst>
              <a:gd name="adj" fmla="val 5624"/>
            </a:avLst>
          </a:prstGeom>
          <a:solidFill>
            <a:srgbClr val="F1F2F3"/>
          </a:solidFill>
          <a:ln w="15875">
            <a:solidFill>
              <a:srgbClr val="9AA0A6"/>
            </a:solidFill>
          </a:ln>
          <a:effectLst>
            <a:outerShdw blurRad="182880" dist="64008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3739896"/>
            <a:ext cx="3246120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000000"/>
                </a:solidFill>
                <a:latin typeface="맑은 고딕"/>
                <a:ea typeface="맑은 고딕"/>
              </a:rPr>
              <a:t>③ 관내/관외 무구분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옆 도시 병원이라도 60분 안이면 "이용됨" — 이 프로젝트 지정 감사의 핵심 열쇠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120640"/>
            <a:ext cx="11292840" cy="1143000"/>
          </a:xfrm>
          <a:prstGeom prst="roundRect">
            <a:avLst>
              <a:gd name="adj" fmla="val 7199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5248655"/>
            <a:ext cx="10927080" cy="886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두 지표를 동시에 쓰는 이유 (AND 이중검증)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접근성만 보면 지도 계산 오차로, TRI만 보면 "선호 원정"과 "못 감"의 혼동으로 오판 — 둘 다 나쁠 때만 취약으로 판정한다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54736" y="527304"/>
            <a:ext cx="207264" cy="2072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제도 이해 ② — 등급은 자격표, 배분은 4단계 관문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34440"/>
          <a:ext cx="5943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등급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정의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곳수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접근성취약 ≥30% AND TRI &lt;30%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두 기준 중 하나만 충족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21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배경인구 미달 또는 분만 지원 기수령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55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3291840"/>
            <a:ext cx="5943600" cy="1691640"/>
          </a:xfrm>
          <a:prstGeom prst="roundRect">
            <a:avLst>
              <a:gd name="adj" fmla="val 4864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419856"/>
            <a:ext cx="5577840" cy="1435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C는 취약도 서열이 아니라 자격표다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"지원받으면 C가 된다" — C의 기지원율 65.5%는 취약해서가 아니라 정의의 결과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→ 배분 분석에 C를 넣으면 답이 미리 새어드는 순환 발생 (§6에서 제외)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234440"/>
            <a:ext cx="507492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03720" y="1362456"/>
            <a:ext cx="4709159" cy="1938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배분의 4단계 관문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① 병원의 자발적 신청 → ② 시·군 1곳 선정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③ 시·도 선별(원칙 1개소, 기준 사실상 재량)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④ 복지부 심사: 100점 = 정량 20 + 정성 80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— 취약도 항목 0점: 심사는 "얼마나 급한가"가 아니라 "얼마나 해낼 수 있는가"를 본다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3657600"/>
            <a:ext cx="5074920" cy="1325880"/>
          </a:xfrm>
          <a:prstGeom prst="roundRect">
            <a:avLst>
              <a:gd name="adj" fmla="val 620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3785615"/>
            <a:ext cx="4709159" cy="10698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15년의 결과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누적 지원 57개소 (분만 36 · 외래 15 · 순회 6)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2025년 신규는 전국 1개소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349240"/>
            <a:ext cx="11292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300" b="1">
                <a:solidFill>
                  <a:srgbClr val="000000"/>
                </a:solidFill>
                <a:latin typeface="맑은 고딕"/>
                <a:ea typeface="맑은 고딕"/>
              </a:rPr>
              <a:t>제약은 "한 지역에 몇 개"가 아니라 "한 해에 전국 몇 곳"이다 — 관건은 "올해 누구 차례인가"인데, 그 순서 규칙이 없다.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54736" y="527304"/>
            <a:ext cx="207264" cy="2072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데이터와 전처리 — 전량 공개 자료 + 직접 구축 3종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34440"/>
          <a:ext cx="11292840" cy="14264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6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32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원천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헬스맵 9종 (2023, 약 226만 행 — 공공데이터포털, 승인 불요)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판정지표·인구·분만·기관·환자 유출입(거주지→진료지 행렬)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복지부 공고 제2026-144호 / 지원사업 안내 343쪽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108곳 등급표·기지원 표시(종속변수) / 임계값·절차·배점표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292608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054096"/>
            <a:ext cx="324612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D1 · 등급-지원 전사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• 공고 PDF 표를 전사, assert로 A32/B21/C55·합계 57 자동 검증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92608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3054096"/>
            <a:ext cx="324612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D2 · 관내 분만 수행량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• 유출입을 기관 소재지 기준 합산한 공급 대리 지표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2926080"/>
            <a:ext cx="3611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3054096"/>
            <a:ext cx="3246120" cy="1115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D3 · 미충족 분만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• 분만건수 × (1−TRI/100) — 기준시간 밖 출산 규모(부담 축)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26280"/>
            <a:ext cx="11292840" cy="1600200"/>
          </a:xfrm>
          <a:prstGeom prst="roundRect">
            <a:avLst>
              <a:gd name="adj" fmla="val 5142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654296"/>
            <a:ext cx="10927080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품질 검증 — 잡아낸 함정 5건과 프록시 이중 검증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유출입 방향 미문서화(행·열 합계로 확정) · 수요/공급 혼동 · 동명 시군구(고성군 2곳) · 행정구역 변동(군위군) · 결측 감사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OD 재가공 수요 vs 공식 분만건수: 상관 r=0.999988, 평균 오차 0.26건 — 같은 로직의 공급 프록시(D2)도 신뢰 가능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전국 250곳 전수 분석 — 표본 일반화가 아니라 이미 내려진 판정·배분의 규칙 규명(감사)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54736" y="527304"/>
            <a:ext cx="207264" cy="2072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EDA — "문제없음" 분류 안에 92배의 격차가 숨어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553212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362456"/>
            <a:ext cx="5166359" cy="1847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거리 통과 지역 내부의 공급 격차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접근성취약 ≤1%("거리 문제 없음") 154곳의 산부인과 전문의: 10만 명당 0.6 ~ 55.0명 — 92배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소아청소년과도 54배 — 현행 지정은 이들을 전부 "문제없음" 단일 범주로 분류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→ 공급 축 부재의 예고편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532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350" b="1">
                <a:solidFill>
                  <a:srgbClr val="33393F"/>
                </a:solidFill>
                <a:latin typeface="맑은 고딕"/>
                <a:ea typeface="맑은 고딕"/>
              </a:rPr>
              <a:t>등급·지원 현황 (배분 분석의 출발점)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63640" y="1645920"/>
          <a:ext cx="5532120" cy="17556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등급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곳수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기지원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지원율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32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17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53.1%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E3E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21</a:t>
                      </a:r>
                    </a:p>
                  </a:txBody>
                  <a:tcPr marL="73152" marR="73152" marT="27432" marB="27432" anchor="ctr">
                    <a:solidFill>
                      <a:srgbClr val="E3E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E3E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19.0%</a:t>
                      </a:r>
                    </a:p>
                  </a:txBody>
                  <a:tcPr marL="73152" marR="73152" marT="27432" marB="27432" anchor="ctr">
                    <a:solidFill>
                      <a:srgbClr val="E3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55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36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65.5% (정의의 결과)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02920" y="3657600"/>
            <a:ext cx="112928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3785615"/>
            <a:ext cx="10927080" cy="1161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종속변수의 정밀화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A·B의 기지원 21곳은 정확히 외래 15 + 순회 6 (분만 설치 수혜 36곳은 전원 C로 이동)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따라서 §6의 질문은 엄밀히 "외래·순회 수준의 지원이라도 받았는가" — 이 정밀화를 해석 전반에 유지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349240"/>
            <a:ext cx="11247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 b="0">
                <a:solidFill>
                  <a:srgbClr val="767A7F"/>
                </a:solidFill>
                <a:latin typeface="맑은 고딕"/>
                <a:ea typeface="맑은 고딕"/>
              </a:rPr>
              <a:t>응급 취약지 102곳 프로파일: 비취약지 대비 인구 5.7배 적고 재정자립도 2.4배 낮음 — "지정 취약지의 95.5%가 소멸위험지역" 구조가 데이터에서 재현된다.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54736" y="527304"/>
            <a:ext cx="207264" cy="2072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감사 I-① 판정식 검증 — 159건 중 158건(99.4%) 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50" b="0">
                <a:solidFill>
                  <a:srgbClr val="767A7F"/>
                </a:solidFill>
                <a:latin typeface="맑은 고딕"/>
                <a:ea typeface="맑은 고딕"/>
              </a:rPr>
              <a:t>판정식은 우리가 캐낸 가설이 아니라 고시에 공표된 기준 — 이 프로젝트는 그것을 검산했다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45920"/>
            <a:ext cx="3291840" cy="182880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2A2E33"/>
              </a:gs>
              <a:gs pos="100000">
                <a:srgbClr val="4A4F55"/>
              </a:gs>
            </a:gsLst>
            <a:lin ang="14700000" scaled="0"/>
          </a:gradFill>
          <a:ln>
            <a:noFill/>
          </a:ln>
          <a:effectLst>
            <a:outerShdw blurRad="182880" dist="64008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32918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</a:rPr>
              <a:t>158 / 159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00" b="0">
                <a:solidFill>
                  <a:srgbClr val="D5D7DA"/>
                </a:solidFill>
                <a:latin typeface="맑은 고딕"/>
                <a:ea typeface="맑은 고딕"/>
              </a:rPr>
              <a:t>99.4% 재현 (분만은 29/29 완전)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645920"/>
            <a:ext cx="7726679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51960" y="1773936"/>
            <a:ext cx="7360919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불일치 4건 — 오류가 아니라 발견이다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안성: 기준 미충족인데 지정 유지 (해제 시차) / 완도·정선·이천: 충족인데 미지정 (신규 반영 시차)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양방향 오차의 공존 = 판정식 위에 행정적 선별·갱신 시차 층이 존재한다는 증거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→ 지정·해제가 데이터 기반 상시 갱신이 아니라는 부수 발견 (제언 ⑤의 근거)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749039"/>
            <a:ext cx="112928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877055"/>
            <a:ext cx="10927080" cy="1847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공급은 반영되는가 — 통계적으로 무관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로지스틱 회귀(5-겹 교차검증): 접근성+TRI 2변수만으로 판별 사실상 완결 (소아 AUC 1.000)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전문의 수·관내이용률을 추가해도 판별력(AUC) 개선 0 — 공급 정보를 쥐여 줘도 판정을 더 잘 맞히지 못한다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직접 확인: 거리 통과 지역 중 공급 최하위 15곳의 지정 = 0곳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→ "지정은 이동시간만 본다"는 공표 기준 그대로이며, 공급 축은 실제로도 판정에 들어가지 않는다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54736" y="527304"/>
            <a:ext cx="207264" cy="2072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감사 I-② 걸러지는 지역 — 공급 공백형 사각지대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80160"/>
          <a:ext cx="1129284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층위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지역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상태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완전 사각 (A/B/C 어디에도 없음)</a:t>
                      </a:r>
                    </a:p>
                  </a:txBody>
                  <a:tcPr marL="73152" marR="73152" marT="27432" marB="27432" anchor="ctr">
                    <a:solidFill>
                      <a:srgbClr val="E3E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의왕(전문의 0.6명/10만)·과천·경기광주(인구 39만)·울주·울산북구</a:t>
                      </a:r>
                    </a:p>
                  </a:txBody>
                  <a:tcPr marL="73152" marR="73152" marT="27432" marB="27432" anchor="ctr">
                    <a:solidFill>
                      <a:srgbClr val="E3E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분만실 없음 + 어떤 등급·자격도 없음</a:t>
                      </a:r>
                    </a:p>
                  </a:txBody>
                  <a:tcPr marL="73152" marR="73152" marT="27432" marB="27432" anchor="ctr">
                    <a:solidFill>
                      <a:srgbClr val="E3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C등급 인지 (하위 사업 자격은 있음)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계룡·장성·예천 등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설치 외 자격으로는 제도가 포착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3108960"/>
            <a:ext cx="55321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3236976"/>
            <a:ext cx="5166359" cy="20756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소아청소년과 — 같은 구조의 극단 사례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거리 통과 ∧ 공급 공백 ∧ 관내 이용 0의 미지정 5곳(예산·함안·장성·증평·담양)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소아 입원 5,689건 전량(100%)이 관외 유출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중증 이송 반론은 동급(의원+병원+종합) 유출 분리로 통제 — 5곳 모두 전국 중앙값 이상, 증평 96.9%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장성군은 소아·분만·투석 3분야 동시 공백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108960"/>
            <a:ext cx="55321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3236976"/>
            <a:ext cx="5166359" cy="20756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배제 메커니즘 — TRI 정의의 구조적 맹점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TRI는 관내/관외 구분 없이 "60분 내 이용"만 집계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원정이 가능하기만 하면 취약하지 않다고 판정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제도의 질문("갈 수 있는가")과 주민의 현실("지역에 의사가 있는가")이 여기서 갈라진다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→ 제언 ② TRI 관내/관외 병기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54736" y="527304"/>
            <a:ext cx="207264" cy="2072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"60분 안에 갈 수 있으면 취약이 아니지 않은가" — 정면 대응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112928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408176"/>
            <a:ext cx="10927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반론을 인정하며 시작한다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50" b="0">
                <a:solidFill>
                  <a:srgbClr val="1C1C1E"/>
                </a:solidFill>
                <a:latin typeface="맑은 고딕"/>
                <a:ea typeface="맑은 고딕"/>
              </a:rPr>
              <a:t>• 현행 정의(도달 가능성) 안에서 이 반론은 옳다 — 이 프로젝트는 정의를 부정하지 않고, 정의가 한 축만 잰다고 주장한다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6888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596896"/>
            <a:ext cx="3246120" cy="2487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① 분만은 9개월의 과정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산전진찰 10여 회 + 산후·신생아 관리 — 관내 공급 0이면 전 과정이 원정, 부담은 매회 누적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정부가 "외래 산부인과"(산전진찰 전용) 사업을 따로 두는 것 자체가 이 구분의 제도적 인정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46888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2596896"/>
            <a:ext cx="3246120" cy="2487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② 정부 문서 사이의 긴장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판정식은 "문제없음" 처리, 같은 지침의 추진 배경은 "분만실 없는 시군구 증가"를 문제로 규정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문제라고 쓰고 판정식으로는 못 잡는 틈 — 이 프로젝트가 겨누는 지점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246888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2596896"/>
            <a:ext cx="3246120" cy="2487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③ 그러나 지정 ≠ 설치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소규모 분만실 난립은 임상 안전상 역효과(연 50건 기준의 취지)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올바른 결론은 "제도의 시야에 넣고 유형 배정(외래·순회·이송)으로 적정 개입" — §7과 접속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48640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 b="0">
                <a:solidFill>
                  <a:srgbClr val="767A7F"/>
                </a:solidFill>
                <a:latin typeface="맑은 고딕"/>
                <a:ea typeface="맑은 고딕"/>
              </a:rPr>
              <a:t>이 논쟁 섹션은 심사 Q&amp;A에서 나올 반론을 본문에서 선제적으로 다루기 위한 설계다.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54736" y="527304"/>
            <a:ext cx="207264" cy="2072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감사 II-① 등급이 지원을 가른다 — Fisher 정확검정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51206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408176"/>
            <a:ext cx="4754879" cy="1572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설계: 왜 C 55곳을 제외하는가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"지원받으면 C가 된다" — 종속변수가 집단 정의에 새어드는 순환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C 포함 초기 분석: 상관 0.011로 희석 → A·B 한정 시 +0.381 — 이 수정 과정 자체를 보고서에 공개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337560"/>
            <a:ext cx="51206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465576"/>
            <a:ext cx="4754879" cy="1847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결과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A등급 지원율 53.1%(17/32) vs B등급 19.0%(4/21)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A의 지원 오즈(받을 확률/못 받을 확률)는 B의 4.82배, p=0.021 — 우연으로 보기 어렵다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같은 실질 취약지인데 B는 사실상 배제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→ 단, 이 격차만으로는 "심도 우선 원칙"과 구분 불가 — §7 부담 축까지 가야 완성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301808"/>
            <a:ext cx="5943600" cy="4848743"/>
          </a:xfrm>
          <a:prstGeom prst="roundRect">
            <a:avLst>
              <a:gd name="adj" fmla="val 1697"/>
            </a:avLst>
          </a:prstGeom>
          <a:solidFill>
            <a:srgbClr val="FFFFFF"/>
          </a:solidFill>
          <a:ln>
            <a:noFill/>
          </a:ln>
          <a:effectLst>
            <a:outerShdw blurRad="219456" dist="64008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그림2_등급별_지원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8" y="1411536"/>
            <a:ext cx="5724144" cy="462928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54736" y="527304"/>
            <a:ext cx="207264" cy="2072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감사 II-② 배분은 무엇으로 설명되는가 — 대부분 설명되지 않는다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155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250" b="0">
                <a:solidFill>
                  <a:srgbClr val="767A7F"/>
                </a:solidFill>
                <a:latin typeface="맑은 고딕"/>
                <a:ea typeface="맑은 고딕"/>
              </a:rPr>
              <a:t>작은 표본(n=53, 사건 21)의 관행: EPV 준수 · 우도비검정 · 부트스트랩 500회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691640"/>
          <a:ext cx="1129284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검정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결과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해석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Mann-Whitney U + BH 보정 (7변수)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보정 후 유의: 접근성취약비율 하나 (p_BH=0.043)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TRI는 보정 후 탈락(0.074)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로지스틱: 필요도(접근성·TRI) 모형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McFadden R²=0.118, 접근성 OR 1.021/%p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접근성 축만 부분 반영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역량(재정·병원급) 블록 추가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우도비검정 p=0.196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역량 추가는 유의하지 않음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부트스트랩 500회 부호 일관성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접근성 93.2% / TRI 42.2% / 재정 −95.8%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접근성만 안정적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전체 4변수 모형</a:t>
                      </a:r>
                    </a:p>
                  </a:txBody>
                  <a:tcPr marL="73152" marR="73152" marT="27432" marB="27432" anchor="ctr">
                    <a:solidFill>
                      <a:srgbClr val="E3E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McFadden R²=0.163</a:t>
                      </a:r>
                    </a:p>
                  </a:txBody>
                  <a:tcPr marL="73152" marR="73152" marT="27432" marB="27432" anchor="ctr">
                    <a:solidFill>
                      <a:srgbClr val="E3E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배분의 대부분이 미설명</a:t>
                      </a:r>
                    </a:p>
                  </a:txBody>
                  <a:tcPr marL="73152" marR="73152" marT="27432" marB="27432" anchor="ctr">
                    <a:solidFill>
                      <a:srgbClr val="E3E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4526280"/>
            <a:ext cx="11292840" cy="1600200"/>
          </a:xfrm>
          <a:prstGeom prst="roundRect">
            <a:avLst>
              <a:gd name="adj" fmla="val 5142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4654296"/>
            <a:ext cx="10927080" cy="1344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1단계 결론 — 말할 수 있는 것과 없는 것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말할 수 있는 것: A·B 격차는 유의하다 · 접근성 축은 부분 반영된다 · 나머지는 공개 지표로 설명되지 않는다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말하면 안 되는 것: "역량이 배분을 지배한다"(미입증) · "유의하지 않음 = 효과 없음"(검정력 한계 — 식별 불가가 정확)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→ 배분 요인은 데이터 밖(신청 여부·계획서 품질·정성 80점)에 있다 — 그래서 명시적 규칙이 필요하다 (§7)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54736" y="527304"/>
            <a:ext cx="207264" cy="2072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처방 ① 우선순위의 두 관점 — 심도(S)와 부담(B)은 상충한다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5120640" cy="1920240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408176"/>
            <a:ext cx="4754879" cy="1664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원칙: 새 기준을 만들지 않는다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지침·공고의 정량 요건만 사용 (30/30, 연 50건, 배경인구 36,588명)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가중치도 사람이 정하지 않음 — 엔트로피·CRITIC 객관 가중 + TOPSIS 종합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가중법 강건성: 방법을 바꿔도 ρ≥0.977, 상위 20위 유지 20/20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429000"/>
            <a:ext cx="5120640" cy="2286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557016"/>
            <a:ext cx="4754879" cy="20299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결과: 두 순위는 서로 다른 지도를 그린다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심도 S(가장 깊은 곳 먼저) vs 부담 B(인원 큰 곳 먼저)의 상관 = −0.190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진천: 접근성취약 0.0%라 심도 53위(최하위)지만 연 430명 출산 중 316명이 60분 밖 — 심도만 쓰면 영원히 안 보임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→ 평균해 합성하지 않고 병렬 제시: 선택은 정책 판단, 모형의 기여는 그 선택을 명시적으로 만든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30722" y="1280160"/>
            <a:ext cx="5786474" cy="4892040"/>
          </a:xfrm>
          <a:prstGeom prst="roundRect">
            <a:avLst>
              <a:gd name="adj" fmla="val 1682"/>
            </a:avLst>
          </a:prstGeom>
          <a:solidFill>
            <a:srgbClr val="FFFFFF"/>
          </a:solidFill>
          <a:ln>
            <a:noFill/>
          </a:ln>
          <a:effectLst>
            <a:outerShdw blurRad="219456" dist="64008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그림1_심도부담_산점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450" y="1389888"/>
            <a:ext cx="5567018" cy="467258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54736" y="527304"/>
            <a:ext cx="207264" cy="2072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처방 ② 유형 배정 — 규칙 기반, 설치가 필요한 곳일수록 비어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512064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408176"/>
            <a:ext cx="4754879" cy="1984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규칙 4줄 (전부 정부 문서의 숫자)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관내 수행 ≥50건 → 분만 운영지원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인구·수요 충족 ∧ 수행 &lt;50건 → 분만 설치 검토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인구 미달 ∧ 접근성 취약 ∧ 병원급 ≥1 → 외래 산부인과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그 외 → 순회진료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— 학습이 없어 과적합·라벨 누수 논쟁에서 자유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749039"/>
            <a:ext cx="51206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3877055"/>
            <a:ext cx="4754879" cy="1709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현행과의 대조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설치 검토 7곳 중 6곳이 미지원 — 가장 큰 개입이 필요한 곳이 비어 있다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완화책인 순회진료 권고 32곳 중 16곳은 이미 지원 중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외부 검증: 공고 순회 대상 14곳 전원 관내 수행 0건 — 공급 프록시가 정부 판정 100% 재현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774817"/>
            <a:ext cx="5943600" cy="3948445"/>
          </a:xfrm>
          <a:prstGeom prst="roundRect">
            <a:avLst>
              <a:gd name="adj" fmla="val 2084"/>
            </a:avLst>
          </a:prstGeom>
          <a:solidFill>
            <a:srgbClr val="FFFFFF"/>
          </a:solidFill>
          <a:ln>
            <a:noFill/>
          </a:ln>
          <a:effectLst>
            <a:outerShdw blurRad="219456" dist="64008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그림3_배정_교차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8" y="1884545"/>
            <a:ext cx="5724144" cy="372898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54736" y="527304"/>
            <a:ext cx="207264" cy="2072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처방 ③ 불일치 지도 — 깊은 곳은 비어 있고, 얕은 곳이 채워져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30746" y="1051560"/>
            <a:ext cx="4506267" cy="5394960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>
            <a:noFill/>
          </a:ln>
          <a:effectLst>
            <a:outerShdw blurRad="219456" dist="64008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그림4_지도_우선순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474" y="1161288"/>
            <a:ext cx="4286811" cy="517550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1280160"/>
            <a:ext cx="3474720" cy="2377440"/>
          </a:xfrm>
          <a:prstGeom prst="roundRect">
            <a:avLst>
              <a:gd name="adj" fmla="val 3461"/>
            </a:avLst>
          </a:prstGeom>
          <a:solidFill>
            <a:srgbClr val="F1F2F3"/>
          </a:solidFill>
          <a:ln w="15875">
            <a:solidFill>
              <a:srgbClr val="9AA0A6"/>
            </a:solidFill>
          </a:ln>
          <a:effectLst>
            <a:outerShdw blurRad="182880" dist="64008" dir="5400000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408176"/>
            <a:ext cx="3108960" cy="2121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000000"/>
                </a:solidFill>
                <a:latin typeface="맑은 고딕"/>
                <a:ea typeface="맑은 고딕"/>
              </a:rPr>
              <a:t>심도 상위인데 미지원 (6곳)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청송 S1위 · 영덕 S5위 · 평창 S9위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의령 S12위 · 장수 S13위 · 신안 S15위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— 모형 최상위가 전부 공백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86200"/>
            <a:ext cx="347472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4014215"/>
            <a:ext cx="3108960" cy="1847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심도 하위인데 기지원 (3곳)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함양 S41위 · 부여 S44위 · 함평 S50위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— 불일치는 양방향으로 실재</a:t>
            </a:r>
          </a:p>
          <a:p>
            <a:pPr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→ 시연 영상과 발표의 핵심 장면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54736" y="527304"/>
            <a:ext cx="207264" cy="2072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모형을 스스로 공격했다 — 검증 3종과 임계값 공개 2건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408176"/>
            <a:ext cx="3246120" cy="2395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외부 검증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• 공고 순회 대상 14곳: 관내 수행 0건 100% 재현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• 재현율 0.64 / 정밀도 0.28 — 낮은 정밀도는 기준 체계 차이(공고는 공급 1축, 본 규칙은 인구·수요 추가)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• 곡성: 산부인과 표방 6곳, 실제 분만 0건 — 간판≠기능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28016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408176"/>
            <a:ext cx="3246120" cy="2395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민감도·강건성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• 설치 수요 기준 100/150/200건 → 대상 16/7/4곳으로 변화 공개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• 가중법 교체에도 순위 상관 ρ≥0.977 (강건)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• 시나리오 선택에는 민감(상위 20곳 중 5곳만 겹침) — 의도된 발견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28016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1408176"/>
            <a:ext cx="3246120" cy="2395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실패 설계의 공개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• 군집분석: 실루엣 0.28~0.33으로 자연 군집 부재 → 기각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• C 포함 초안의 희석(0.011)과 수정 과정 공개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050" b="0">
                <a:solidFill>
                  <a:srgbClr val="1C1C1E"/>
                </a:solidFill>
                <a:latin typeface="맑은 고딕"/>
                <a:ea typeface="맑은 고딕"/>
              </a:rPr>
              <a:t>• 보상형 지수 기각 이력 보고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206240"/>
            <a:ext cx="11292840" cy="1737360"/>
          </a:xfrm>
          <a:prstGeom prst="roundRect">
            <a:avLst>
              <a:gd name="adj" fmla="val 4736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4334255"/>
            <a:ext cx="10927080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임계값 차용 공개 2건 — 지침에 없는 이 프로젝트의 가정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① 설치 검토의 수요 기준 "주민분만 ≥150건": 연 50건 수행의 성립에 수요 여유가 필요하다는 가정 (민감도와 함께 보고)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② 배경인구 36,588명의 적용 인구: 원 기준은 가임인구 기반으로 추정되나(직역 시 지침 "105개" 서술과 부합), 가임 직역 시 설치 트랙이 공집합이 되어 총인구 완화 기준으로 차용 — 가정임을 명시하고 재도출을 후속 과제로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54736" y="527304"/>
            <a:ext cx="207264" cy="2072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정책 제언 5건 — 각 제언은 본문 분석 하나에 직접 대응한다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280160"/>
          <a:ext cx="1129284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제언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근거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난이도</a:t>
                      </a:r>
                    </a:p>
                  </a:txBody>
                  <a:tcPr marL="73152" marR="73152" marT="27432" marB="27432" anchor="ctr">
                    <a:solidFill>
                      <a:srgbClr val="3339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지정: 공급 공백형(유형 II) 트랙 신설 — 기존 지정은 유지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사각지대 5곳 + 배제 메커니즘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중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②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지표: TRI 산정에 관내/관외 병기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TRI 정의의 구조적 맹점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하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③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배분: 우선순위에 부담 축(미충족분만) 병기 — 계산 한 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ρ=−0.131 (인원 규모 미반영)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④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B등급 이용률 공백형 별도 관리 트랙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B 17곳 중 16곳 관내 수행 0건, 지원율 19%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중</a:t>
                      </a:r>
                    </a:p>
                  </a:txBody>
                  <a:tcPr marL="73152" marR="73152" marT="27432" marB="27432" anchor="ctr">
                    <a:solidFill>
                      <a:srgbClr val="F6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시·도 선별용 표준 우선순위표 제공 + 상시 갱신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지정 불일치 4건(갱신 시차) · 산출물 CSV 2종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C1C1E"/>
                          </a:solidFill>
                          <a:latin typeface="맑은 고딕"/>
                          <a:ea typeface="맑은 고딕"/>
                        </a:rPr>
                        <a:t>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43484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</a:pPr>
            <a:r>
              <a:rPr sz="1300" b="1">
                <a:solidFill>
                  <a:srgbClr val="1C1C1E"/>
                </a:solidFill>
                <a:latin typeface="맑은 고딕"/>
                <a:ea typeface="맑은 고딕"/>
              </a:rPr>
              <a:t>세 배분 제언(③④⑤)은 예산 증액을 요구하지 않으며, 모든 임계값이 정부 자신의 문서에서 나온다.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150" b="0">
                <a:solidFill>
                  <a:srgbClr val="767A7F"/>
                </a:solidFill>
                <a:latin typeface="맑은 고딕"/>
                <a:ea typeface="맑은 고딕"/>
              </a:rPr>
              <a:t>산출물: 최종_우선순위표.csv (53곳 × 순위·권고유형·근거) + 시도별_우선순위표.csv (9개 시·도, 시도 내 순위) — 제언 ⑤의 실물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54736" y="527304"/>
            <a:ext cx="207264" cy="20726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3A3F45"/>
              </a:gs>
              <a:gs pos="100000">
                <a:srgbClr val="73787E"/>
              </a:gs>
            </a:gsLst>
            <a:lin ang="18900000" scaled="0"/>
          </a:gradFill>
          <a:ln>
            <a:noFill/>
          </a:ln>
          <a:effectLst>
            <a:outerShdw blurRad="109728" dist="36576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274320"/>
            <a:ext cx="96926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150" b="1">
                <a:solidFill>
                  <a:srgbClr val="1C1C1E"/>
                </a:solidFill>
                <a:latin typeface="맑은 고딕"/>
                <a:ea typeface="맑은 고딕"/>
              </a:rPr>
              <a:t>한계를 먼저 밝힌다 — 그리고 전 과정을 독립 재실행으로 검증했다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969264"/>
            <a:ext cx="420624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835640" y="164592"/>
            <a:ext cx="1188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3000" b="1">
                <a:solidFill>
                  <a:srgbClr val="D8DADD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850" b="0">
                <a:solidFill>
                  <a:srgbClr val="B2B5B9"/>
                </a:solidFill>
                <a:latin typeface="맑은 고딕"/>
                <a:ea typeface="맑은 고딕"/>
              </a:rPr>
              <a:t>2026 명지대학교 창의적 SW프로그램 경진대회 · 빅데이터 분석 — 데이터 분석 결과보고서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553212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408176"/>
            <a:ext cx="5166359" cy="3035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분석의 한계 (보고서 §9, 10개 중 핵심)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횡단면·역인과: 기지원은 2011~25 누적, 지표는 2023 — 방향 분리 불가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검정력: n=53 — "유의하지 않음"은 식별 불가이지 효과 없음이 아님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미충족분만은 상한 추정치: "못 가서"와 "안 가서" 분리 불가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미지원의 단계(미신청/시군/시도/심사 탈락) 식별 불가 — 오히려 표준표(제언 ⑤)의 필요성을 강화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차용 임계값의 규범성: 최종 수치는 정책 판단의 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80160"/>
            <a:ext cx="553212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4E6E9"/>
            </a:solidFill>
          </a:ln>
          <a:effectLst>
            <a:outerShdw blurRad="182880" dist="64008" dir="5400000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408176"/>
            <a:ext cx="5166359" cy="3035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35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재현성 — 검증 기록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전량 공개 데이터 (공공데이터포털 15154171, 승인 불요)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노트북 전 셀을 원시 CSV에서 독립 재실행 — 본문 모든 수치의 소수점 단위 일치 확인 (재실행_전체로그.txt)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전사 데이터는 assert 자동 검증, 프록시는 공식 통계와 이중 대조(r=0.999988)</a:t>
            </a:r>
          </a:p>
          <a:p>
            <a:pPr marL="160020" indent="-160020">
              <a:lnSpc>
                <a:spcPct val="114000"/>
              </a:lnSpc>
              <a:spcAft>
                <a:spcPts val="200"/>
              </a:spcAft>
            </a:pPr>
            <a:r>
              <a:rPr sz="1100" b="0">
                <a:solidFill>
                  <a:srgbClr val="1C1C1E"/>
                </a:solidFill>
                <a:latin typeface="맑은 고딕"/>
                <a:ea typeface="맑은 고딕"/>
              </a:rPr>
              <a:t>• 전체 소스·데이터·그림 생성 스크립트를 GitHub 저장소로 버전 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920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300" b="1">
                <a:solidFill>
                  <a:srgbClr val="1C1C1E"/>
                </a:solidFill>
                <a:latin typeface="맑은 고딕"/>
                <a:ea typeface="맑은 고딕"/>
              </a:rPr>
              <a:t>한계의 공개는 약점이 아니라 방어선이다 — 심사 Q&amp;A에서 나올 질문들을 본문이 먼저 답한다.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600" b="1">
                <a:solidFill>
                  <a:srgbClr val="1C1C1E"/>
                </a:solidFill>
                <a:latin typeface="맑은 고딕"/>
                <a:ea typeface="맑은 고딕"/>
              </a:rPr>
              <a:t>결론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932688" y="1920240"/>
            <a:ext cx="4754880" cy="27432"/>
          </a:xfrm>
          <a:prstGeom prst="rect">
            <a:avLst/>
          </a:prstGeom>
          <a:gradFill rotWithShape="1">
            <a:gsLst>
              <a:gs pos="0">
                <a:srgbClr val="2A2E33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91440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2200" b="1">
                <a:solidFill>
                  <a:srgbClr val="1C1C1E"/>
                </a:solidFill>
                <a:latin typeface="맑은 고딕"/>
                <a:ea typeface="맑은 고딕"/>
              </a:rPr>
              <a:t>현행 배분은 취약의 깊이를 반영한다.</a:t>
            </a:r>
          </a:p>
          <a:p>
            <a:pPr>
              <a:lnSpc>
                <a:spcPct val="114000"/>
              </a:lnSpc>
              <a:spcAft>
                <a:spcPts val="600"/>
              </a:spcAft>
            </a:pPr>
            <a:r>
              <a:rPr sz="2200" b="1">
                <a:solidFill>
                  <a:srgbClr val="1C1C1E"/>
                </a:solidFill>
                <a:latin typeface="맑은 고딕"/>
                <a:ea typeface="맑은 고딕"/>
              </a:rPr>
              <a:t>다만 그 취약을 겪는 인원의 규모는 반영하지 않는다.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2200" b="1">
                <a:solidFill>
                  <a:srgbClr val="000000"/>
                </a:solidFill>
                <a:latin typeface="맑은 고딕"/>
                <a:ea typeface="맑은 고딕"/>
              </a:rPr>
              <a:t>우리는 정부 자신의 기준으로 그 축을 하나 추가했다.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84632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  <a:spcAft>
                <a:spcPts val="400"/>
              </a:spcAft>
            </a:pPr>
            <a:r>
              <a:rPr sz="1300" b="0">
                <a:solidFill>
                  <a:srgbClr val="767A7F"/>
                </a:solidFill>
                <a:latin typeface="맑은 고딕"/>
                <a:ea typeface="맑은 고딕"/>
              </a:rPr>
              <a:t>지정 단계: 판정식 99.4% 검증 + 공급 공백형 사각지대의 다중 증거</a:t>
            </a:r>
          </a:p>
          <a:p>
            <a:pPr>
              <a:lnSpc>
                <a:spcPct val="114000"/>
              </a:lnSpc>
              <a:spcAft>
                <a:spcPts val="400"/>
              </a:spcAft>
            </a:pPr>
            <a:r>
              <a:rPr sz="1300" b="0">
                <a:solidFill>
                  <a:srgbClr val="767A7F"/>
                </a:solidFill>
                <a:latin typeface="맑은 고딕"/>
                <a:ea typeface="맑은 고딕"/>
              </a:rPr>
              <a:t>배분 단계: 선정의 대부분이 공개 지표 밖 + 심도-부담 이원 우선순위·유형 배정 모형과 표 산출물</a:t>
            </a:r>
          </a:p>
          <a:p>
            <a:pPr>
              <a:lnSpc>
                <a:spcPct val="114000"/>
              </a:lnSpc>
              <a:spcAft>
                <a:spcPts val="0"/>
              </a:spcAft>
            </a:pPr>
            <a:r>
              <a:rPr sz="1300" b="1">
                <a:solidFill>
                  <a:srgbClr val="33393F"/>
                </a:solidFill>
                <a:latin typeface="맑은 고딕"/>
                <a:ea typeface="맑은 고딕"/>
              </a:rPr>
              <a:t>심도와 부담 중 무엇을 우선할지는 사회의 선택이다 — 이 프로젝트의 기여는 그 선택을 명시적으로 만든 것이다.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3577</Words>
  <Application>Microsoft Office PowerPoint</Application>
  <PresentationFormat>와이드스크린</PresentationFormat>
  <Paragraphs>347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유형준</cp:lastModifiedBy>
  <cp:revision>10</cp:revision>
  <dcterms:created xsi:type="dcterms:W3CDTF">2013-01-27T09:14:16Z</dcterms:created>
  <dcterms:modified xsi:type="dcterms:W3CDTF">2026-08-12T11:45:29Z</dcterms:modified>
  <cp:category/>
</cp:coreProperties>
</file>