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73152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결과보고서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측정과 배분 사이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— 분만취약지 제도의 전 과정 데이터 감사와 우선순위 모형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1C1E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정부는 분만취약지를 정밀하게 측정한다. 그러나 지정 규칙은 이동시간만 보고,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배분은 그 측정값조차 따르지 않는다 — 두 개의 공백을 정부 자신의 데이터로 메운다.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출발점 — 의료 공백은 정말 "자원이 모자라서" 생기는가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이 연구가 어디서 시작했는지, 그리고 왜 "제도"를 분석 대상으로 삼았는지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익숙한 진단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"지방에 분만실이 없다" — 해마다 반복되는 기사. 따라붙는 처방도 늘 같다: 의사를 늘리고 병원을 지어라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그 처방이 선 전제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공백의 원인이 자원의 절대량 부족이라는 것. 사실이라면 답은 예산뿐이고, 데이터가 할 말은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우리의 의심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자원이 없는 것과, 있는 자원이 필요한 곳에 닿지 않는 것은 다른 문제다. 뒤쪽이라면 예산 없이도 줄일 수 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그리고 자원을 공백 지역으로 보내는 제도는 이미 있다 — 「분만취약지 지원사업」(15년째)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분만취약지 = 소득·인구가 적은 지역이 아니라, 그 지역 가임기 여성이 ① 분만 가능 기관까지 60분 안에 닿기 어렵고(접근성) ② 실제 출산도 60분 안에 하지 못하는(이용률) 시·군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거리와 시간으로 정의된다 — 이 점이 본 연구의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정부는 2년마다 전국을 재어 A·B·C 등급을 매기고, 지정 지역 병원에 분만실 설치비 약 10억 원 + 연 운영비 약 5억 원을 지원 (15년 누적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>
                <a:solidFill>
                  <a:srgbClr val="1C1C1E"/>
                </a:solidFill>
                <a:latin typeface="맑은 고딕"/>
                <a:ea typeface="맑은 고딕"/>
              </a:rPr>
              <a:t>통로가 이미 깔려 있다면, 물어야 할 것은 "얼마나 부족한가"가 아니다.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맑은 고딕"/>
                <a:ea typeface="맑은 고딕"/>
              </a:rPr>
              <a:t>"지금 있는 것은 필요한 곳으로 제대로 가고 있는가" — 이것이 본 연구의 질문이다.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연구 요약 — 네 가지 발견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발견 1 · 지정은 이동시간만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공표 판정식(접근성·TRI)이 실제 지정 159건 중 158건(99.4%)을 재현. 공급 변수를 추가해도 판별력(AUC)은 전혀 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발견 2 · 공급 공백형 사각지대 실재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거리 기준은 통과하지만 관내 공급이 소멸한 지역 — 분만 완전 사각 5곳(등급 체계 밖), 소아과 5개 지역 입원 5,689건 전량(100%) 관외 유출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발견 3 · 배분 규칙은 데이터 밖에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실질 취약지 A·B 53곳 중 21곳만 기지원. A등급 지원 오즈는 B의 4.82배(p=0.021)인데, 그 선정은 공개 지표로 16% 남짓만 설명된다(McFadden R² 0.163)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발견 4 · 깊이는 보지만 인원 수는 안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배분은 취약 심도와는 정렬(ρ=+0.381), 영향 인원 규모(부담)와는 무관(ρ=−0.131). 두 관점의 순위 상관은 −0.190 — 축의 선택이 결과를 바꾼다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623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데이터: 헬스맵 공공 데이터셋 9종(2023, 226만 행) + 복지부 공고·지침 — 전량 공개 자료, 전 수치 독립 재실행 검증 완료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— 제도는 세 단계로 자원을 흘려보낸다, 그 중 두 곳이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접근성·이용률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 판정 — 이동시간만 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 병원에 설치·운영비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— 누가 먼저인지의 규칙이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97480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77063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697480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27706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지정은 공표 판정식대로 작동하는가? 공급은 반영되는가?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2697480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55480" y="2770632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538728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61188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3538728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3611880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3538728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55480" y="3611880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79976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45312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379976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4453128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지원 배분은 무엇으로 설명되는가?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4379976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55480" y="4453128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§6 · 발견 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21224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29437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28800" y="5221224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11680" y="5294376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정부 기준만으로 배분 규칙을 만들면 어디가 어긋나는가?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55480" y="5221224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55480" y="5294376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§7 · 발견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350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분석 대상은 취약지라는 현상이 아니라, 취약지를 판정하고 지원하는 제도 그 자체다.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① — 판정 지표 두 개, 그리고 TRI의 세 가지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분만가능기관(연 50건 이상)에 도달 불가능한 가임인구 비율 — GIS 계산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거주지→기관 이동시간 60분 내에 이뤄진 비율 — 건보 청구 DB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28803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TRI에 관한 세 가지 사실 (오해 정리)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대기시간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병원 안 대기시간이 아니라 거주지에서 기관까지의 이동시간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"이내" 이용 비율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60분 이내 이용의 비율 — 높을수록 양호, 30% 미만이면 취약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관내/관외 무구분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옆 도시 병원이라도 60분 안이면 "이용됨" — 본 연구 지정 감사의 핵심 열쇠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20640"/>
            <a:ext cx="11292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248655"/>
            <a:ext cx="10927080" cy="886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두 지표를 동시에 쓰는 이유 (AND 이중검증)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접근성만 보면 지도 계산 오차로, TRI만 보면 "선호 원정"과 "못 감"의 혼동으로 오판 — 둘 다 나쁠 때만 취약으로 판정한다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② — 등급은 자격표, 배분은 4단계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5943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3931920"/>
                <a:gridCol w="118872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 ≥30% AND TRI &lt;30%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기준 중 하나만 충족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291840"/>
            <a:ext cx="594360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19856"/>
            <a:ext cx="557784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C는 취약도 서열이 아니라 자격표다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C의 기지원율 65.5%는 취약해서가 아니라 정의의 결과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분석에 C를 넣으면 답이 미리 새어드는 순환 발생 (§6에서 제외)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234440"/>
            <a:ext cx="50749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362456"/>
            <a:ext cx="4709159" cy="1938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병원의 자발적 신청 → ② 시·군 1곳 선정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③ 시·도 선별(원칙 1개소, 기준 사실상 재량)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④ 복지부 심사: 100점 = 정량 20 + 정성 80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취약도 항목 0점: 심사는 "얼마나 급한가"가 아니라 "얼마나 해낼 수 있는가"를 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657600"/>
            <a:ext cx="5074920" cy="1325880"/>
          </a:xfrm>
          <a:prstGeom prst="roundRect">
            <a:avLst>
              <a:gd name="adj" fmla="val 62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3785615"/>
            <a:ext cx="4709159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15년의 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누적 지원 57개소 (분만 36 · 외래 15 · 순회 6)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2025년 신규는 전국 1개소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49240"/>
            <a:ext cx="11292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제약은 "한 지역에 몇 개"가 아니라 "한 해에 전국 몇 곳"이다 — 관건은 "올해 누구 차례인가"인데, 그 순서 규칙이 없다.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데이터와 전처리 — 전량 공개 자료 + 직접 구축 3종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426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/>
                <a:gridCol w="55321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9종 (2023, 약 226만 행 — 공공데이터포털, 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판정지표·인구·분만·기관·환자 유출입(거주지→진료지 행렬)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 / 지원사업 안내 343쪽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108곳 등급표·기지원 표시(종속변수) / 임계값·절차·배점표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전사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PDF 표를 전사, assert로 A32/B21/C55·합계 57 자동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유출입을 기관 소재지 기준 합산한 공급 대리 지표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 — 기준시간 밖 출산 규모(부담 축)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검증 — 잡아낸 함정 5건과 프록시 이중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방향 미문서화(행·열 합계로 확정) · 수요/공급 혼동 · 동명 시군구(고성군 2곳) · 행정구역 변동(군위군) · 결측 감사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OD 재가공 수요 vs 공식 분만건수: 상관 r=0.999988, 평균 오차 0.26건 — 같은 로직의 공급 프록시(D2)도 신뢰 가능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250곳 전수 분석 — 표본 일반화가 아니라 이미 내려진 판정·배분의 규칙 규명(감사)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EDA — "문제없음" 분류 안에 92배의 격차가 숨어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거리 통과 지역 내부의 공급 격차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접근성취약 ≤1%("거리 문제 없음") 154곳의 산부인과 전문의: 10만 명당 0.6 ~ 55.0명 — 92배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소아청소년과도 54배 — 현행 지정은 이들을 전부 "문제없음" 단일 범주로 분류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공급 축 부재의 예고편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3444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등급·지원 현황 (배분 분석의 출발점)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5321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822960"/>
                <a:gridCol w="914400"/>
                <a:gridCol w="2971800"/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지원율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17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53.1%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19.0%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36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65.5% (정의의 결과)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3657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8561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종속변수의 정밀화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A·B의 기지원 21곳은 정확히 외래 15 + 순회 6 (분만 설치 수혜 36곳은 전원 C로 이동)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따라서 §6의 질문은 엄밀히 "외래·순회 수준의 지원이라도 받았는가" — 이 정밀화를 해석 전반에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492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응급 취약지 102곳 프로파일: 비취약지 대비 인구 5.7배 적고 재정자립도 2.4배 낮음 — "지정 취약지의 95.5%가 소멸위험지역" 구조가 데이터에서 재현된다.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I-① 판정식 검증 — 159건 중 158건(99.4%)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판정식은 우리가 캐낸 가설이 아니라 고시에 공표된 기준 — 본 연구는 그것을 검산했다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291840" cy="182880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291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158 / 159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D5D7DA"/>
                </a:solidFill>
                <a:latin typeface="맑은 고딕"/>
                <a:ea typeface="맑은 고딕"/>
              </a:rPr>
              <a:t>99.4% 재현 (분만은 29/29 완전)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1645920"/>
            <a:ext cx="7726679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773936"/>
            <a:ext cx="736091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불일치 4건 — 오류가 아니라 발견이다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안성: 기준 미충족인데 지정 유지 (해제 시차) / 완도·정선·이천: 충족인데 미지정 (신규 반영 시차)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양방향 오차의 공존 = 판정식 위에 행정적 선별·갱신 시차 층이 존재한다는 증거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지정·해제가 데이터 기반 상시 갱신이 아니라는 부수 발견 (제언 ⑤의 근거)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112928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77055"/>
            <a:ext cx="1092708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공급은 반영되는가 — 통계적으로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교차검증): 접근성+TRI 2변수만으로 판별 사실상 완결 (소아 AUC 1.000)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전문의 수·관내이용률을 추가해도 판별력(AUC) 개선 0 — 공급 정보를 쥐여 줘도 판정을 더 잘 맞히지 못한다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확인: 거리 통과 지역 중 공급 최하위 15곳의 지정 = 0곳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"지정은 이동시간만 본다"는 공표 기준 그대로이며, 공급 축은 실제로도 판정에 들어가지 않는다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I-② 걸러지는 지역 — 공급 공백형 사각지대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4846320"/>
                <a:gridCol w="3154680"/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층위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지역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완전 사각 (A/B/C 어디에도 없음)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의왕(전문의 0.6명/10만)·과천·경기광주(인구 39만)·울주·울산북구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분만실 없음 + 어떤 등급·자격도 없음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C등급 인지 (하위 사업 자격은 있음)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계룡·장성·예천 등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설치 외 자격으로는 제도가 포착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소아청소년과 — 같은 구조의 극단 사례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거리 통과 ∧ 공급 공백 ∧ 관내 이용 0의 미지정 5곳(예산·함안·장성·증평·담양)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 입원 5,689건 전량(100%)이 관외 유출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동급(의원+병원+종합) 유출 분리로 통제 — 5곳 모두 전국 중앙값 이상, 증평 96.9%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장성군은 소아·분만·투석 3분야 동시 공백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배제 메커니즘 — TRI 정의의 구조적 맹점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TRI는 관내/관외 구분 없이 "60분 내 이용"만 집계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원정이 가능하기만 하면 취약하지 않다고 판정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제도의 질문("갈 수 있는가")과 주민의 현실("지역에 의사가 있는가")이 여기서 갈라진다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제언 ② TRI 관내/관외 병기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"60분 안에 갈 수 있으면 취약이 아니지 않은가" — 정면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292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10927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반론을 인정하며 시작한다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정의(도달 가능성) 안에서 이 반론은 옳다 — 본 연구는 정의를 부정하지 않고, 정의가 한 축만 잰다고 주장한다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분만은 9개월의 과정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산전진찰 10여 회 + 산후·신생아 관리 — 관내 공급 0이면 전 과정이 원정, 부담은 매회 누적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정부가 "외래 산부인과"(산전진찰 전용) 사업을 따로 두는 것 자체가 이 구분의 제도적 인정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정부 문서 사이의 긴장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판정식은 "문제없음" 처리, 같은 지침의 추진 배경은 "분만실 없는 시군구 증가"를 문제로 규정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문제라고 쓰고 판정식으로는 못 잡는 틈 — 본 연구가 겨누는 지점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③ 그러나 지정 ≠ 설치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소규모 분만실 난립은 임상 안전상 역효과(연 50건 기준의 취지)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올바른 결론은 "제도의 시야에 넣고 유형 배정(외래·순회·이송)으로 적정 개입" — §7과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864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논쟁 섹션은 심사 Q&amp;A에서 나올 반론을 본문에서 선제적으로 다루기 위한 설계다.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II-① 등급이 지원을 가른다 — Fisher 정확검정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설계: 왜 C 55곳을 제외하는가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종속변수가 집단 정의에 새어드는 순환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C 포함 초기 분석: 상관 0.011로 희석 → A·B 한정 시 +0.381 — 이 수정 과정 자체를 보고서에 공개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33756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65576"/>
            <a:ext cx="475487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A등급 지원율 53.1%(17/32) vs B등급 19.0%(4/21)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A의 지원 오즈(받을 확률/못 받을 확률)는 B의 4.82배, p=0.021 — 우연으로 보기 어렵다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같은 실질 취약지인데 B는 사실상 배제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단, 이 격차만으로는 "심도 우선 원칙"과 구분 불가 — §7 부담 축까지 가야 완성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301808"/>
            <a:ext cx="5943600" cy="4848743"/>
          </a:xfrm>
          <a:prstGeom prst="roundRect">
            <a:avLst>
              <a:gd name="adj" fmla="val 1697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그림2_등급별_지원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411536"/>
            <a:ext cx="5724144" cy="46292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II-② 배분은 무엇으로 설명되는가 — 대부분 설명되지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표본(n=53, 사건 21)의 관행: EPV 준수 · 우도비검정 · 부트스트랩 500회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91640"/>
          <a:ext cx="112928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4206240"/>
                <a:gridCol w="31546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Mann-Whitney U + BH 보정 (7변수)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보정 후 유의: 접근성취약비율 하나 (p_BH=0.043)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TRI는 보정 후 탈락(0.074)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로지스틱: 필요도(접근성·TRI) 모형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McFadden R²=0.118, 접근성 OR 1.021/%p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축만 부분 반영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역량(재정·병원급) 블록 추가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우도비검정 p=0.196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 추가는 유의하지 않음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부트스트랩 500회 부호 일관성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93.2% / TRI 42.2% / 재정 −95.8%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접근성만 안정적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전체 4변수 모형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McFadden R²=0.163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배분의 대부분이 미설명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1단계 결론 — 말할 수 있는 것과 없는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말할 수 있는 것: A·B 격차는 유의하다 · 접근성 축은 부분 반영된다 · 나머지는 공개 지표로 설명되지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말하면 안 되는 것: "역량이 배분을 지배한다"(미입증) · "유의하지 않음 = 효과 없음"(검정력 한계 — 식별 불가가 정확)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요인은 데이터 밖(신청 여부·계획서 품질·정성 80점)에 있다 — 그래서 명시적 규칙이 필요하다 (§7)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① 우선순위의 두 관점 — 심도(S)와 부담(B)은 상충한다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원칙: 새 기준을 만들지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지침·공고의 정량 요건만 사용 (30/30, 연 50건, 배경인구 36,588명)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가중치도 사람이 정하지 않음 — 엔트로피·CRITIC 객관 가중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가중법 강건성: 방법을 바꿔도 ρ≥0.977, 상위 20위 유지 20/20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512064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557016"/>
            <a:ext cx="475487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결과: 두 순위는 서로 다른 지도를 그린다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심도 S(가장 깊은 곳 먼저) vs 부담 B(인원 큰 곳 먼저)의 상관 = −0.190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진천: 접근성취약 0.0%라 심도 53위(최하위)지만 연 430명 출산 중 316명이 60분 밖 — 심도만 쓰면 영원히 안 보임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평균해 합성하지 않고 병렬 제시: 선택은 정책 판단, 모형의 기여는 그 선택을 명시적으로 만든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30722" y="1280160"/>
            <a:ext cx="5786474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그림1_심도부담_산점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50" y="1389888"/>
            <a:ext cx="5567018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② 유형 배정 — 규칙 기반, 설치가 필요한 곳일수록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984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규칙 4줄 (전부 정부 문서의 숫자)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관내 수행 ≥50건 → 분만 운영지원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인구·수요 충족 ∧ 수행 &lt;50건 → 분만 설치 검토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 미달 ∧ 접근성 취약 ∧ 병원급 ≥1 → 외래 산부인과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 외 → 순회진료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학습이 없어 과적합·라벨 누수 논쟁에서 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49039"/>
            <a:ext cx="51206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877055"/>
            <a:ext cx="4754879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현행과의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설치 검토 7곳 중 6곳이 미지원 — 가장 큰 개입이 필요한 곳이 비어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완화책인 순회진료 권고 32곳 중 16곳은 이미 지원 중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 순회 대상 14곳 전원 관내 수행 0건 — 공급 프록시가 정부 판정 100% 재현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774817"/>
            <a:ext cx="5943600" cy="3948445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그림3_배정_교차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84545"/>
            <a:ext cx="5724144" cy="372898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③ 불일치 지도 — 깊은 곳은 비어 있고, 얕은 곳이 채워져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30746" y="1051560"/>
            <a:ext cx="4506267" cy="539496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그림4_지도_우선순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74" y="1161288"/>
            <a:ext cx="4286811" cy="51755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1280160"/>
            <a:ext cx="3474720" cy="2377440"/>
          </a:xfrm>
          <a:prstGeom prst="roundRect">
            <a:avLst>
              <a:gd name="adj" fmla="val 3461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3108960" cy="2121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심도 상위인데 미지원 (6곳)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청송 S1위 · 영덕 S5위 · 평창 S9위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의령 S12위 · 장수 S13위 · 신안 S15위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모형 최상위가 전부 공백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34747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14215"/>
            <a:ext cx="310896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 하위인데 기지원 (3곳)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함양 S41위 · 부여 S44위 · 함평 S50위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불일치는 양방향으로 실재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시연 영상과 발표의 핵심 장면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모형을 스스로 공격했다 — 검증 3종과 임계값 공개 2건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외부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순회 대상 14곳: 관내 수행 0건 100% 재현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재현율 0.64 / 정밀도 0.28 — 낮은 정밀도는 기준 체계 차이(공고는 공급 1축, 본 규칙은 인구·수요 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곡성: 산부인과 표방 6곳, 실제 분만 0건 — 간판≠기능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민감도·강건성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설치 수요 기준 100/150/200건 → 대상 16/7/4곳으로 변화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가중법 교체에도 순위 상관 ρ≥0.977 (강건)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시나리오 선택에는 민감(상위 20곳 중 5곳만 겹침) — 의도된 발견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실패 설계의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군집분석: 실루엣 0.28~0.33으로 자연 군집 부재 → 기각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C 포함 초안의 희석(0.011)과 수정 과정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보상형 지수 기각 이력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06240"/>
            <a:ext cx="1129284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334255"/>
            <a:ext cx="10927080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임계값 차용 공개 2건 — 지침에 없는 본 연구의 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설치 검토의 수요 기준 "주민분만 ≥150건": 연 50건 수행의 성립에 수요 여유가 필요하다는 가정 (민감도와 함께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② 배경인구 36,588명의 적용 인구: 원 기준은 가임인구 기반으로 추정되나(직역 시 지침 "105개" 서술과 부합), 가임 직역 시 설치 트랙이 공집합이 되어 총인구 완화 기준으로 차용 — 가정임을 명시하고 재도출을 후속 과제로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정책 제언 5건 — 각 제언은 본문 분석 하나에 직접 대응한다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"/>
                <a:gridCol w="5577840"/>
                <a:gridCol w="3840480"/>
                <a:gridCol w="137160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제언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난이도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지정: 공급 공백형(유형 II) 트랙 신설 — 기존 지정은 유지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사각지대 5곳 + 배제 메커니즘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지표: TRI 산정에 관내/관외 병기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 정의의 구조적 맹점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배분: 우선순위에 부담 축(미충족분만) 병기 — 계산 한 줄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ρ=−0.131 (인원 규모 미반영)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B등급 이용률 공백형 별도 관리 트랙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 17곳 중 16곳 관내 수행 0건, 지원율 19%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시·도 선별용 표준 우선순위표 제공 + 상시 갱신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불일치 4건(갱신 시차) · 산출물 CSV 2종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4348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세 배분 제언(③④⑤)은 예산 증액을 요구하지 않으며, 모든 임계값이 정부 자신의 문서에서 나온다.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산출물: 최종_우선순위표.csv (53곳 × 순위·권고유형·근거) + 시도별_우선순위표.csv (9개 시·도, 시도 내 순위) — 제언 ⑤의 실물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한계를 먼저 밝힌다 — 그리고 전 과정을 독립 재실행으로 검증했다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연구의 한계 (보고서 §9, 10개 중 핵심)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횡단면·역인과: 기지원은 2011~25 누적, 지표는 2023 — 방향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검정력: n=53 — "유의하지 않음"은 식별 불가이지 효과 없음이 아님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미충족분만은 상한 추정치: "못 가서"와 "안 가서"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미지원의 단계(미신청/시군/시도/심사 탈락) 식별 불가 — 오히려 표준표(제언 ⑤)의 필요성을 강화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차용 임계값의 규범성: 최종 수치는 정책 판단의 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재현성 — 검증 기록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전량 공개 데이터 (공공데이터포털 15154171, 승인 불요)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노트북 전 셀을 원시 CSV에서 독립 재실행 — 본문 모든 수치의 소수점 단위 일치 확인 (재실행_전체로그.txt)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전사 데이터는 assert 자동 검증, 프록시는 공식 통계와 이중 대조(r=0.999988)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전체 소스·데이터·그림 생성 스크립트를 GitHub 저장소로 버전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920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한계의 공개는 약점이 아니라 방어선이다 — 심사 Q&amp;A에서 나올 질문들을 본문이 먼저 답한다.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600" b="1">
                <a:solidFill>
                  <a:srgbClr val="1C1C1E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1920240"/>
            <a:ext cx="475488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현행 배분은 취약의 깊이를 반영한다.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다만 그 취약을 겪는 인원의 규모는 반영하지 않는다.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맑은 고딕"/>
                <a:ea typeface="맑은 고딕"/>
              </a:rPr>
              <a:t>우리는 정부 자신의 기준으로 그 축을 하나 추가했다.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지정 단계: 판정식 99.4% 검증 + 공급 공백형 사각지대의 다중 증거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배분 단계: 선정의 대부분이 공개 지표 밖 + 심도-부담 이원 우선순위·유형 배정 모형과 표 산출물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심도와 부담 중 무엇을 우선할지는 사회의 선택이다 — 본 연구의 기여는 그 선택을 명시적으로 만든 것이다.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