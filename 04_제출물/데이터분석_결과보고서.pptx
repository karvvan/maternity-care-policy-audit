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0F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4224528"/>
            <a:ext cx="12191695" cy="54864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0">
                <a:solidFill>
                  <a:srgbClr val="9FB8CC"/>
                </a:solidFill>
                <a:latin typeface="맑은 고딕"/>
                <a:ea typeface="맑은 고딕"/>
              </a:rPr>
              <a:t>데이터 분석 결과보고서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b="0">
                <a:solidFill>
                  <a:srgbClr val="D8E2EC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250" b="0">
                <a:solidFill>
                  <a:srgbClr val="B9C8D6"/>
                </a:solidFill>
                <a:latin typeface="맑은 고딕"/>
                <a:ea typeface="맑은 고딕"/>
              </a:rPr>
              <a:t>정부는 분만취약지를 정밀하게 측정한다. 그러나 지정 규칙은 이동시간만 보고,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B9C8D6"/>
                </a:solidFill>
                <a:latin typeface="맑은 고딕"/>
                <a:ea typeface="맑은 고딕"/>
              </a:rPr>
              <a:t>배분은 그 측정값조차 따르지 않는다 — 두 개의 공백을 정부 자신의 데이터로 메운다.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연구 요약 — 네 가지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57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6000"/>
            </a:avLst>
          </a:prstGeom>
          <a:solidFill>
            <a:srgbClr val="FBF0EE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257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6000"/>
            </a:avLst>
          </a:prstGeom>
          <a:solidFill>
            <a:srgbClr val="FBF0EE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5257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5257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F2B44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문제 — 측정·지정·배분 파이프라인의 두 공백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291840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2년마다 접근성·이용률 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3048" y="14173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555F6B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234440"/>
            <a:ext cx="3291840" cy="1005840"/>
          </a:xfrm>
          <a:prstGeom prst="roundRect">
            <a:avLst>
              <a:gd name="adj" fmla="val 6000"/>
            </a:avLst>
          </a:prstGeom>
          <a:solidFill>
            <a:srgbClr val="FBF0EE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이동시간 지표만으로 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141732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555F6B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1234440"/>
            <a:ext cx="3291840" cy="1005840"/>
          </a:xfrm>
          <a:prstGeom prst="roundRect">
            <a:avLst>
              <a:gd name="adj" fmla="val 6000"/>
            </a:avLst>
          </a:prstGeom>
          <a:solidFill>
            <a:srgbClr val="FBF0EE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325880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줄 세우는 규칙이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06040"/>
            <a:ext cx="1188720" cy="65836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919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606040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267919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0F2B44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55480" y="2606040"/>
            <a:ext cx="2240280" cy="658368"/>
          </a:xfrm>
          <a:prstGeom prst="roundRect">
            <a:avLst>
              <a:gd name="adj" fmla="val 6000"/>
            </a:avLst>
          </a:prstGeom>
          <a:solidFill>
            <a:srgbClr val="E6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267919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47288"/>
            <a:ext cx="1188720" cy="65836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52044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3447288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352044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0F2B44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55480" y="3447288"/>
            <a:ext cx="2240280" cy="658368"/>
          </a:xfrm>
          <a:prstGeom prst="roundRect">
            <a:avLst>
              <a:gd name="adj" fmla="val 6000"/>
            </a:avLst>
          </a:prstGeom>
          <a:solidFill>
            <a:srgbClr val="E6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5480" y="352044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88536"/>
            <a:ext cx="1188720" cy="65836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36168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0" y="4288536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11680" y="436168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0F2B44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55480" y="4288536"/>
            <a:ext cx="2240280" cy="658368"/>
          </a:xfrm>
          <a:prstGeom prst="roundRect">
            <a:avLst>
              <a:gd name="adj" fmla="val 6000"/>
            </a:avLst>
          </a:prstGeom>
          <a:solidFill>
            <a:srgbClr val="E6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5480" y="436168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129784"/>
            <a:ext cx="1188720" cy="65836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20293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RQ4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129784"/>
            <a:ext cx="7589520" cy="658368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11680" y="520293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0F2B44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55480" y="5129784"/>
            <a:ext cx="2240280" cy="658368"/>
          </a:xfrm>
          <a:prstGeom prst="roundRect">
            <a:avLst>
              <a:gd name="adj" fmla="val 6000"/>
            </a:avLst>
          </a:prstGeom>
          <a:solidFill>
            <a:srgbClr val="E6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5480" y="520293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17456B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F2B44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91840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33375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291840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383280"/>
            <a:ext cx="33375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3291840"/>
            <a:ext cx="3611880" cy="1600200"/>
          </a:xfrm>
          <a:prstGeom prst="roundRect">
            <a:avLst>
              <a:gd name="adj" fmla="val 6000"/>
            </a:avLst>
          </a:prstGeom>
          <a:solidFill>
            <a:srgbClr val="FBF0EE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383280"/>
            <a:ext cx="333756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옆 도시 병원이라도 60분 안이면 "이용됨" — 본 연구 지정 감사의 핵심 열쇠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79"/>
            <a:ext cx="1101851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9319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66928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325880"/>
            <a:ext cx="480060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3749039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C0392B"/>
                </a:solidFill>
                <a:latin typeface="맑은 고딕"/>
                <a:ea typeface="맑은 고딕"/>
              </a:rPr>
              <a:t>병목은 "한 지역에 몇 개"가 아니라 "올해 누구 차례인가"이며, 그 줄을 세우는 규칙이 없다.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5321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337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3017520"/>
            <a:ext cx="3337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017520"/>
            <a:ext cx="3337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11018519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57800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914400"/>
                <a:gridCol w="297180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1018519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555F6B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555F6B"/>
                </a:solidFill>
                <a:latin typeface="맑은 고딕"/>
                <a:ea typeface="맑은 고딕"/>
              </a:rPr>
              <a:t>판정식은 우리가 캐낸 가설이 아니라 고시에 공표된 기준 — 본 연구는 그것을 검산했다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>
                <a:solidFill>
                  <a:srgbClr val="D8E2EC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737360"/>
            <a:ext cx="74523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40479"/>
            <a:ext cx="11018519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846320"/>
                <a:gridCol w="315468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257800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257800" cy="2148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101851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0F2B44"/>
                </a:solidFill>
                <a:latin typeface="맑은 고딕"/>
                <a:ea typeface="맑은 고딕"/>
              </a:rPr>
              <a:t>• 현행 정의(도달 가능성) 안에서 이 반론은 옳다 — 본 연구는 정의를 부정하지 않고, 정의가 한 축만 잰다고 주장한다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33375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560320"/>
            <a:ext cx="33375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문제라고 쓰고 판정식으로는 못 잡는 틈 — 본 연구가 겨누는 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560320"/>
            <a:ext cx="33375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555F6B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48463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4846320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pic>
        <p:nvPicPr>
          <p:cNvPr id="10" name="Picture 9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22795"/>
            <a:ext cx="5943600" cy="48067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555F6B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4206240"/>
                <a:gridCol w="31546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T="27432" marB="27432" marL="64008" marR="64008" anchor="ctr">
                    <a:solidFill>
                      <a:srgbClr val="FBF0E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1018519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48463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pic>
        <p:nvPicPr>
          <p:cNvPr id="10" name="Picture 9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718" y="1280160"/>
            <a:ext cx="582848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48463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40479"/>
            <a:ext cx="484632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pic>
        <p:nvPicPr>
          <p:cNvPr id="10" name="Picture 9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13063"/>
            <a:ext cx="5943600" cy="387195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pic>
        <p:nvPicPr>
          <p:cNvPr id="6" name="Picture 5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587" y="1051560"/>
            <a:ext cx="4468584" cy="5394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FBF0EE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3200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3200400" cy="19202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337560" cy="2468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337560" cy="2468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371600"/>
            <a:ext cx="3337560" cy="2468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F2B44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97679"/>
            <a:ext cx="1101851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임계값 차용 공개 2건 — 지침에 없는 본 연구의 가정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577840"/>
                <a:gridCol w="3840480"/>
                <a:gridCol w="1371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T="27432" marB="27432" marL="64008" marR="64008" anchor="ctr">
                    <a:solidFill>
                      <a:srgbClr val="1745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64008" marR="64008" anchor="ctr"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0F2B44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64008" marR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0F2B44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555F6B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6000"/>
            </a:avLst>
          </a:prstGeom>
          <a:solidFill>
            <a:srgbClr val="17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182880"/>
            <a:ext cx="731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9FB8CC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9AA5B1"/>
                </a:solidFill>
                <a:latin typeface="맑은 고딕"/>
                <a:ea typeface="맑은 고딕"/>
              </a:rPr>
              <a:t>2026 제5회 명지대학교 창의적 SW프로그램 경진대회 · 빅데이터 분석 부문 — 데이터 분석 결과보고서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257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연구의 한계 (보고서 §9, 10개 중 핵심)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257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0F2B44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0F2B44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0F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1920240"/>
            <a:ext cx="12191695" cy="4572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0B4A8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B9C8D6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B9C8D6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심도와 부담 중 무엇을 우선할지는 사회의 선택이다 — 본 연구의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